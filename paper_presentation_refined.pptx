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95" r:id="rId47"/>
    <p:sldId id="275" r:id="rId27"/>
    <p:sldId id="276" r:id="rId28"/>
    <p:sldId id="277" r:id="rId29"/>
    <p:sldId id="278" r:id="rId30"/>
    <p:sldId id="279" r:id="rId31"/>
    <p:sldId id="280" r:id="rId32"/>
    <p:sldId id="281" r:id="rId33"/>
    <p:sldId id="283" r:id="rId35"/>
    <p:sldId id="285" r:id="rId37"/>
    <p:sldId id="282" r:id="rId34"/>
    <p:sldId id="286" r:id="rId38"/>
    <p:sldId id="284" r:id="rId36"/>
    <p:sldId id="287" r:id="rId39"/>
    <p:sldId id="296" r:id="rId48"/>
    <p:sldId id="288" r:id="rId40"/>
    <p:sldId id="289" r:id="rId41"/>
    <p:sldId id="290" r:id="rId42"/>
    <p:sldId id="291" r:id="rId43"/>
    <p:sldId id="297" r:id="rId49"/>
    <p:sldId id="298" r:id="rId50"/>
    <p:sldId id="299" r:id="rId51"/>
    <p:sldId id="292" r:id="rId44"/>
    <p:sldId id="293" r:id="rId4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61EEF9-22CB-4A57-9C2E-771D6B58F8FB}">
  <a:tblStyle styleId="{CF61EEF9-22CB-4A57-9C2E-771D6B58F8F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No defense</c:v>
                </c:pt>
              </c:strCache>
            </c:strRef>
          </c:tx>
          <c:spPr>
            <a:ln w="28575">
              <a:solidFill>
                <a:srgbClr val="9E9E9E"/>
              </a:solidFill>
            </a:ln>
          </c:spPr>
          <c:marker>
            <c:spPr>
              <a:solidFill>
                <a:srgbClr val="9E9E9E"/>
              </a:solidFill>
              <a:ln>
                <a:solidFill>
                  <a:srgbClr val="9E9E9E"/>
                </a:solidFill>
              </a:ln>
            </c:spPr>
          </c:marker>
          <c:cat>
            <c:strRef>
              <c:f>Sheet1!$A$2:$A$11</c:f>
              <c:strCache>
                <c:ptCount val="10"/>
                <c:pt idx="0">
                  <c:v>0</c:v>
                </c:pt>
                <c:pt idx="1">
                  <c:v>2</c:v>
                </c:pt>
                <c:pt idx="2">
                  <c:v>4</c:v>
                </c:pt>
                <c:pt idx="3">
                  <c:v>6</c:v>
                </c:pt>
                <c:pt idx="4">
                  <c:v>8</c:v>
                </c:pt>
                <c:pt idx="5">
                  <c:v>10</c:v>
                </c:pt>
                <c:pt idx="6">
                  <c:v>12</c:v>
                </c:pt>
                <c:pt idx="7">
                  <c:v>14</c:v>
                </c:pt>
                <c:pt idx="8">
                  <c:v>16</c:v>
                </c:pt>
                <c:pt idx="9">
                  <c:v>18</c:v>
                </c:pt>
              </c:strCache>
            </c:strRef>
          </c:cat>
          <c:val>
            <c:numRef>
              <c:f>Sheet1!$B$2:$B$11</c:f>
              <c:numCache>
                <c:formatCode>General</c:formatCode>
                <c:ptCount val="10"/>
                <c:pt idx="0">
                  <c:v>17.7</c:v>
                </c:pt>
                <c:pt idx="1">
                  <c:v>22.5</c:v>
                </c:pt>
                <c:pt idx="2">
                  <c:v>27.5</c:v>
                </c:pt>
                <c:pt idx="3">
                  <c:v>32.2</c:v>
                </c:pt>
                <c:pt idx="4">
                  <c:v>35.4</c:v>
                </c:pt>
                <c:pt idx="5">
                  <c:v>41.5</c:v>
                </c:pt>
                <c:pt idx="6">
                  <c:v>43.6</c:v>
                </c:pt>
                <c:pt idx="7">
                  <c:v>43.8</c:v>
                </c:pt>
                <c:pt idx="8">
                  <c:v>45.2</c:v>
                </c:pt>
                <c:pt idx="9">
                  <c:v>44.7</c:v>
                </c:pt>
              </c:numCache>
            </c:numRef>
          </c:val>
          <c:smooth val="0"/>
        </c:ser>
        <c:ser>
          <c:idx val="1"/>
          <c:order val="1"/>
          <c:tx>
            <c:strRef>
              <c:f>Sheet1!$C$1</c:f>
              <c:strCache>
                <c:ptCount val="1"/>
                <c:pt idx="0">
                  <c:v>Knee-only K</c:v>
                </c:pt>
              </c:strCache>
            </c:strRef>
          </c:tx>
          <c:spPr>
            <a:ln w="28575">
              <a:solidFill>
                <a:srgbClr val="5B8DB8"/>
              </a:solidFill>
            </a:ln>
          </c:spPr>
          <c:marker>
            <c:spPr>
              <a:solidFill>
                <a:srgbClr val="5B8DB8"/>
              </a:solidFill>
              <a:ln>
                <a:solidFill>
                  <a:srgbClr val="5B8DB8"/>
                </a:solidFill>
              </a:ln>
            </c:spPr>
          </c:marker>
          <c:cat>
            <c:strRef>
              <c:f>Sheet1!$A$2:$A$11</c:f>
              <c:strCache>
                <c:ptCount val="10"/>
                <c:pt idx="0">
                  <c:v>0</c:v>
                </c:pt>
                <c:pt idx="1">
                  <c:v>2</c:v>
                </c:pt>
                <c:pt idx="2">
                  <c:v>4</c:v>
                </c:pt>
                <c:pt idx="3">
                  <c:v>6</c:v>
                </c:pt>
                <c:pt idx="4">
                  <c:v>8</c:v>
                </c:pt>
                <c:pt idx="5">
                  <c:v>10</c:v>
                </c:pt>
                <c:pt idx="6">
                  <c:v>12</c:v>
                </c:pt>
                <c:pt idx="7">
                  <c:v>14</c:v>
                </c:pt>
                <c:pt idx="8">
                  <c:v>16</c:v>
                </c:pt>
                <c:pt idx="9">
                  <c:v>18</c:v>
                </c:pt>
              </c:strCache>
            </c:strRef>
          </c:cat>
          <c:val>
            <c:numRef>
              <c:f>Sheet1!$C$2:$C$11</c:f>
              <c:numCache>
                <c:formatCode>General</c:formatCode>
                <c:ptCount val="10"/>
                <c:pt idx="0">
                  <c:v>45.7</c:v>
                </c:pt>
                <c:pt idx="1">
                  <c:v>55.8</c:v>
                </c:pt>
                <c:pt idx="2">
                  <c:v>64.5</c:v>
                </c:pt>
                <c:pt idx="3">
                  <c:v>67.9</c:v>
                </c:pt>
                <c:pt idx="4">
                  <c:v>68.9</c:v>
                </c:pt>
                <c:pt idx="5">
                  <c:v>72.5</c:v>
                </c:pt>
                <c:pt idx="6">
                  <c:v>71.6</c:v>
                </c:pt>
                <c:pt idx="7">
                  <c:v>72.1</c:v>
                </c:pt>
                <c:pt idx="8">
                  <c:v>74.5</c:v>
                </c:pt>
                <c:pt idx="9">
                  <c:v>72.8</c:v>
                </c:pt>
              </c:numCache>
            </c:numRef>
          </c:val>
          <c:smooth val="0"/>
        </c:ser>
        <c:ser>
          <c:idx val="2"/>
          <c:order val="2"/>
          <c:tx>
            <c:strRef>
              <c:f>Sheet1!$D$1</c:f>
              <c:strCache>
                <c:ptCount val="1"/>
                <c:pt idx="0">
                  <c:v>SNR-bounded K (ours)</c:v>
                </c:pt>
              </c:strCache>
            </c:strRef>
          </c:tx>
          <c:spPr>
            <a:ln w="28575">
              <a:solidFill>
                <a:srgbClr val="C0392B"/>
              </a:solidFill>
            </a:ln>
          </c:spPr>
          <c:marker>
            <c:spPr>
              <a:solidFill>
                <a:srgbClr val="C0392B"/>
              </a:solidFill>
              <a:ln>
                <a:solidFill>
                  <a:srgbClr val="C0392B"/>
                </a:solidFill>
              </a:ln>
            </c:spPr>
          </c:marker>
          <c:cat>
            <c:strRef>
              <c:f>Sheet1!$A$2:$A$11</c:f>
              <c:strCache>
                <c:ptCount val="10"/>
                <c:pt idx="0">
                  <c:v>0</c:v>
                </c:pt>
                <c:pt idx="1">
                  <c:v>2</c:v>
                </c:pt>
                <c:pt idx="2">
                  <c:v>4</c:v>
                </c:pt>
                <c:pt idx="3">
                  <c:v>6</c:v>
                </c:pt>
                <c:pt idx="4">
                  <c:v>8</c:v>
                </c:pt>
                <c:pt idx="5">
                  <c:v>10</c:v>
                </c:pt>
                <c:pt idx="6">
                  <c:v>12</c:v>
                </c:pt>
                <c:pt idx="7">
                  <c:v>14</c:v>
                </c:pt>
                <c:pt idx="8">
                  <c:v>16</c:v>
                </c:pt>
                <c:pt idx="9">
                  <c:v>18</c:v>
                </c:pt>
              </c:strCache>
            </c:strRef>
          </c:cat>
          <c:val>
            <c:numRef>
              <c:f>Sheet1!$D$2:$D$11</c:f>
              <c:numCache>
                <c:formatCode>General</c:formatCode>
                <c:ptCount val="10"/>
                <c:pt idx="0">
                  <c:v>56.5</c:v>
                </c:pt>
                <c:pt idx="1">
                  <c:v>61.5</c:v>
                </c:pt>
                <c:pt idx="2">
                  <c:v>67.2</c:v>
                </c:pt>
                <c:pt idx="3">
                  <c:v>71.0</c:v>
                </c:pt>
                <c:pt idx="4">
                  <c:v>73.1</c:v>
                </c:pt>
                <c:pt idx="5">
                  <c:v>77.0</c:v>
                </c:pt>
                <c:pt idx="6">
                  <c:v>76.0</c:v>
                </c:pt>
                <c:pt idx="7">
                  <c:v>76.3</c:v>
                </c:pt>
                <c:pt idx="8">
                  <c:v>77.6</c:v>
                </c:pt>
                <c:pt idx="9">
                  <c:v>77.2</c:v>
                </c:pt>
              </c:numCache>
            </c:numRef>
          </c:val>
          <c:smooth val="0"/>
        </c:ser>
        <c:marker val="1"/>
        <c:smooth val="0"/>
        <c:axId val="2118791784"/>
        <c:axId val="2140495176"/>
      </c:lineChart>
      <c:catAx>
        <c:axId val="2118791784"/>
        <c:scaling>
          <c:orientation val="minMax"/>
        </c:scaling>
        <c:delete val="0"/>
        <c:axPos val="b"/>
        <c:title>
          <c:tx>
            <c:rich>
              <a:bodyPr/>
              <a:lstStyle/>
              <a:p>
                <a:r>
                  <a:rPr sz="1100"/>
                  <a:t>SNR (dB)</a:t>
                </a:r>
              </a:p>
            </c:rich>
          </c:tx>
          <c:layout/>
          <c:overlay val="0"/>
        </c:title>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100.0"/>
          <c:min val="0.0"/>
        </c:scaling>
        <c:delete val="0"/>
        <c:axPos val="l"/>
        <c:majorGridlines>
          <c:spPr>
            <a:ln>
              <a:solidFill>
                <a:srgbClr val="DDDDDD"/>
              </a:solidFill>
            </a:ln>
          </c:spPr>
        </c:majorGridlines>
        <c:title>
          <c:tx>
            <c:rich>
              <a:bodyPr/>
              <a:lstStyle/>
              <a:p>
                <a:r>
                  <a:rPr sz="1100"/>
                  <a:t>Accuracy (%)</a:t>
                </a:r>
              </a:p>
            </c:rich>
          </c:tx>
          <c:layout/>
          <c:overlay val="0"/>
        </c:title>
        <c:majorTickMark val="out"/>
        <c:minorTickMark val="none"/>
        <c:tickLblPos val="nextTo"/>
        <c:txPr>
          <a:bodyPr/>
          <a:lstStyle/>
          <a:p>
            <a:pPr>
              <a:defRPr sz="10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7a09d4ea4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g37a09d4ea4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8" name="Google Shape;68;g37a09d4ea4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TW"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7a09d4ea4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37a09d4ea4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db3441d4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edb3441d4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20f45cd99_1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20f45cd99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sz="1050">
                <a:solidFill>
                  <a:srgbClr val="5D5D5D"/>
                </a:solidFill>
                <a:highlight>
                  <a:srgbClr val="FFFFFF"/>
                </a:highlight>
              </a:rPr>
              <a:t>I/Q 不是兩個不同訊號，而是同一個 RF signal 投影到兩個互相正交的 carrier。I 是 cosine 同相分量，Q 是 sine 正交分量。這兩個值合起來就是星座圖上的一個點</a:t>
            </a:r>
            <a:r>
              <a:rPr lang="zh-TW">
                <a:solidFill>
                  <a:schemeClr val="dk1"/>
                </a:solidFill>
              </a:rPr>
              <a:t> </a:t>
            </a:r>
            <a:endParaRPr>
              <a:solidFill>
                <a:schemeClr val="dk1"/>
              </a:solidFill>
            </a:endParaRPr>
          </a:p>
          <a:p>
            <a:pPr indent="0" lvl="0" marL="0" rtl="0" algn="l">
              <a:spcBef>
                <a:spcPts val="0"/>
              </a:spcBef>
              <a:spcAft>
                <a:spcPts val="0"/>
              </a:spcAft>
              <a:buNone/>
            </a:pPr>
            <a:r>
              <a:rPr lang="zh-TW" sz="1050">
                <a:solidFill>
                  <a:srgbClr val="5D5D5D"/>
                </a:solidFill>
                <a:highlight>
                  <a:srgbClr val="FFFFFF"/>
                </a:highlight>
              </a:rPr>
              <a:t>把 I 當 x 軸、Q 當 y 軸，就可以得到 constellation diagram。BPSK 只有兩個點，QPSK 有四個點，16QAM 有十六個點。AMC 的核心就是從 I/Q samples 學出這些 pattern，進而判斷 modulation type。</a:t>
            </a:r>
            <a:r>
              <a:rPr lang="zh-TW">
                <a:solidFill>
                  <a:schemeClr val="dk1"/>
                </a:solidFill>
              </a:rPr>
              <a:t>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238e86f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238e86f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ee78041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ee78041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40a159389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40a159389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db3441d46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db3441d46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db3441d46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db3441d46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db3441d46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db3441d46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bec93ebc6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bec93ebc6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a7cbdb41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225" name="Google Shape;225;g3ea7cbdb41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238e86f09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f238e86f09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bec93ebc6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246" name="Google Shape;246;g3ebec93ebc6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29b72bf3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29b72bf3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29b72bf3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29b72bf3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bec93ebc6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290" name="Google Shape;290;g3ebec93ebc6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ee48997cf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298" name="Google Shape;298;g3ee48997cf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ee48997cf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306" name="Google Shape;306;g3ee48997cf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238e86f09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f238e86f09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ea38b0331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321" name="Google Shape;321;g3ea38b0331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238e86f09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f238e86f09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f238e86f09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f238e86f09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238e86f09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f238e86f09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f238e86f09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f238e86f09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f29b72bf3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f29b72bf3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29b72bf3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f29b72bf3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f29b72bf3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f29b72bf32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2a77fbd9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f2a77fbd9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2a77fbd9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f2a77fbd9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f2cd9c9e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f2cd9c9e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f238e86f09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f238e86f09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067d930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f067d930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f067d9305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f067d9305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f067d9305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f067d9305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067d9305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f067d9305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a38b03312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541" name="Google Shape;541;g3ea38b03312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7ae45f43c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g37ae45f43ce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rtl="0" algn="ctr">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4" name="Google Shape;14;p2"/>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15" name="Google Shape;15;p2"/>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內容" type="obj">
  <p:cSld name="OBJECT">
    <p:spTree>
      <p:nvGrpSpPr>
        <p:cNvPr id="16" name="Shape 16"/>
        <p:cNvGrpSpPr/>
        <p:nvPr/>
      </p:nvGrpSpPr>
      <p:grpSpPr>
        <a:xfrm>
          <a:off x="0" y="0"/>
          <a:ext cx="0" cy="0"/>
          <a:chOff x="0" y="0"/>
          <a:chExt cx="0" cy="0"/>
        </a:xfrm>
      </p:grpSpPr>
      <p:sp>
        <p:nvSpPr>
          <p:cNvPr id="17" name="Google Shape;17;p3"/>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8" name="Google Shape;18;p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9" name="Google Shape;19;p3"/>
          <p:cNvSpPr txBox="1"/>
          <p:nvPr>
            <p:ph idx="12" type="sldNum"/>
          </p:nvPr>
        </p:nvSpPr>
        <p:spPr>
          <a:xfrm>
            <a:off x="6995278" y="4843389"/>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20" name="Shape 20"/>
        <p:cNvGrpSpPr/>
        <p:nvPr/>
      </p:nvGrpSpPr>
      <p:grpSpPr>
        <a:xfrm>
          <a:off x="0" y="0"/>
          <a:ext cx="0" cy="0"/>
          <a:chOff x="0" y="0"/>
          <a:chExt cx="0" cy="0"/>
        </a:xfrm>
      </p:grpSpPr>
      <p:sp>
        <p:nvSpPr>
          <p:cNvPr id="21" name="Google Shape;21;p4"/>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2" name="Google Shape;22;p4"/>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23" name="Google Shape;23;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24" name="Shape 24"/>
        <p:cNvGrpSpPr/>
        <p:nvPr/>
      </p:nvGrpSpPr>
      <p:grpSpPr>
        <a:xfrm>
          <a:off x="0" y="0"/>
          <a:ext cx="0" cy="0"/>
          <a:chOff x="0" y="0"/>
          <a:chExt cx="0" cy="0"/>
        </a:xfrm>
      </p:grpSpPr>
      <p:sp>
        <p:nvSpPr>
          <p:cNvPr id="25" name="Google Shape;25;p5"/>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6" name="Google Shape;26;p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7" name="Google Shape;27;p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8" name="Google Shape;28;p5"/>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29" name="Shape 29"/>
        <p:cNvGrpSpPr/>
        <p:nvPr/>
      </p:nvGrpSpPr>
      <p:grpSpPr>
        <a:xfrm>
          <a:off x="0" y="0"/>
          <a:ext cx="0" cy="0"/>
          <a:chOff x="0" y="0"/>
          <a:chExt cx="0" cy="0"/>
        </a:xfrm>
      </p:grpSpPr>
      <p:sp>
        <p:nvSpPr>
          <p:cNvPr id="30" name="Google Shape;30;p6"/>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1" name="Google Shape;31;p6"/>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32" name="Google Shape;32;p6"/>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3" name="Google Shape;33;p6"/>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34" name="Google Shape;34;p6"/>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5" name="Google Shape;35;p6"/>
          <p:cNvSpPr txBox="1"/>
          <p:nvPr>
            <p:ph idx="12" type="sldNum"/>
          </p:nvPr>
        </p:nvSpPr>
        <p:spPr>
          <a:xfrm>
            <a:off x="7086600" y="4869779"/>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36" name="Shape 36"/>
        <p:cNvGrpSpPr/>
        <p:nvPr/>
      </p:nvGrpSpPr>
      <p:grpSpPr>
        <a:xfrm>
          <a:off x="0" y="0"/>
          <a:ext cx="0" cy="0"/>
          <a:chOff x="0" y="0"/>
          <a:chExt cx="0" cy="0"/>
        </a:xfrm>
      </p:grpSpPr>
      <p:sp>
        <p:nvSpPr>
          <p:cNvPr id="37" name="Google Shape;37;p7"/>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8" name="Google Shape;38;p7"/>
          <p:cNvSpPr txBox="1"/>
          <p:nvPr>
            <p:ph idx="12" type="sldNum"/>
          </p:nvPr>
        </p:nvSpPr>
        <p:spPr>
          <a:xfrm>
            <a:off x="7086600" y="4914090"/>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46" name="Shape 46"/>
        <p:cNvGrpSpPr/>
        <p:nvPr/>
      </p:nvGrpSpPr>
      <p:grpSpPr>
        <a:xfrm>
          <a:off x="0" y="0"/>
          <a:ext cx="0" cy="0"/>
          <a:chOff x="0" y="0"/>
          <a:chExt cx="0" cy="0"/>
        </a:xfrm>
      </p:grpSpPr>
      <p:sp>
        <p:nvSpPr>
          <p:cNvPr id="47" name="Google Shape;47;p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9"/>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49" name="Google Shape;49;p9"/>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50" name="Shape 50"/>
        <p:cNvGrpSpPr/>
        <p:nvPr/>
      </p:nvGrpSpPr>
      <p:grpSpPr>
        <a:xfrm>
          <a:off x="0" y="0"/>
          <a:ext cx="0" cy="0"/>
          <a:chOff x="0" y="0"/>
          <a:chExt cx="0" cy="0"/>
        </a:xfrm>
      </p:grpSpPr>
      <p:sp>
        <p:nvSpPr>
          <p:cNvPr id="51" name="Google Shape;51;p10"/>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10"/>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p10"/>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 name="Google Shape;54;p10"/>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55" name="Shape 55"/>
        <p:cNvGrpSpPr/>
        <p:nvPr/>
      </p:nvGrpSpPr>
      <p:grpSpPr>
        <a:xfrm>
          <a:off x="0" y="0"/>
          <a:ext cx="0" cy="0"/>
          <a:chOff x="0" y="0"/>
          <a:chExt cx="0" cy="0"/>
        </a:xfrm>
      </p:grpSpPr>
      <p:sp>
        <p:nvSpPr>
          <p:cNvPr id="56" name="Google Shape;56;p11"/>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p11"/>
          <p:cNvSpPr txBox="1"/>
          <p:nvPr>
            <p:ph idx="12" type="sldNum"/>
          </p:nvPr>
        </p:nvSpPr>
        <p:spPr>
          <a:xfrm>
            <a:off x="7086600" y="4914090"/>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58" name="Shape 58"/>
        <p:cNvGrpSpPr/>
        <p:nvPr/>
      </p:nvGrpSpPr>
      <p:grpSpPr>
        <a:xfrm>
          <a:off x="0" y="0"/>
          <a:ext cx="0" cy="0"/>
          <a:chOff x="0" y="0"/>
          <a:chExt cx="0" cy="0"/>
        </a:xfrm>
      </p:grpSpPr>
      <p:sp>
        <p:nvSpPr>
          <p:cNvPr id="59" name="Google Shape;59;p12"/>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2"/>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1" name="Google Shape;61;p12"/>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 name="Google Shape;62;p12"/>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3" name="Google Shape;63;p12"/>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 name="Google Shape;64;p12"/>
          <p:cNvSpPr txBox="1"/>
          <p:nvPr>
            <p:ph idx="12" type="sldNum"/>
          </p:nvPr>
        </p:nvSpPr>
        <p:spPr>
          <a:xfrm>
            <a:off x="7086600" y="486977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chemeClr val="dk1"/>
                </a:solidFill>
                <a:latin typeface="Calibri"/>
                <a:ea typeface="Calibri"/>
                <a:cs typeface="Calibri"/>
                <a:sym typeface="Calibri"/>
              </a:defRPr>
            </a:lvl1pPr>
            <a:lvl2pPr indent="0" lvl="1" marL="0" marR="0" rtl="0" algn="r">
              <a:spcBef>
                <a:spcPts val="0"/>
              </a:spcBef>
              <a:buNone/>
              <a:defRPr b="0" i="0" sz="900" u="none" cap="none" strike="noStrike">
                <a:solidFill>
                  <a:schemeClr val="dk1"/>
                </a:solidFill>
                <a:latin typeface="Calibri"/>
                <a:ea typeface="Calibri"/>
                <a:cs typeface="Calibri"/>
                <a:sym typeface="Calibri"/>
              </a:defRPr>
            </a:lvl2pPr>
            <a:lvl3pPr indent="0" lvl="2" marL="0" marR="0" rtl="0" algn="r">
              <a:spcBef>
                <a:spcPts val="0"/>
              </a:spcBef>
              <a:buNone/>
              <a:defRPr b="0" i="0" sz="900" u="none" cap="none" strike="noStrike">
                <a:solidFill>
                  <a:schemeClr val="dk1"/>
                </a:solidFill>
                <a:latin typeface="Calibri"/>
                <a:ea typeface="Calibri"/>
                <a:cs typeface="Calibri"/>
                <a:sym typeface="Calibri"/>
              </a:defRPr>
            </a:lvl3pPr>
            <a:lvl4pPr indent="0" lvl="3" marL="0" marR="0" rtl="0" algn="r">
              <a:spcBef>
                <a:spcPts val="0"/>
              </a:spcBef>
              <a:buNone/>
              <a:defRPr b="0" i="0" sz="900" u="none" cap="none" strike="noStrike">
                <a:solidFill>
                  <a:schemeClr val="dk1"/>
                </a:solidFill>
                <a:latin typeface="Calibri"/>
                <a:ea typeface="Calibri"/>
                <a:cs typeface="Calibri"/>
                <a:sym typeface="Calibri"/>
              </a:defRPr>
            </a:lvl4pPr>
            <a:lvl5pPr indent="0" lvl="4" marL="0" marR="0" rtl="0" algn="r">
              <a:spcBef>
                <a:spcPts val="0"/>
              </a:spcBef>
              <a:buNone/>
              <a:defRPr b="0" i="0" sz="900" u="none" cap="none" strike="noStrike">
                <a:solidFill>
                  <a:schemeClr val="dk1"/>
                </a:solidFill>
                <a:latin typeface="Calibri"/>
                <a:ea typeface="Calibri"/>
                <a:cs typeface="Calibri"/>
                <a:sym typeface="Calibri"/>
              </a:defRPr>
            </a:lvl5pPr>
            <a:lvl6pPr indent="0" lvl="5" marL="0" marR="0" rtl="0" algn="r">
              <a:spcBef>
                <a:spcPts val="0"/>
              </a:spcBef>
              <a:buNone/>
              <a:defRPr b="0" i="0" sz="900" u="none" cap="none" strike="noStrike">
                <a:solidFill>
                  <a:schemeClr val="dk1"/>
                </a:solidFill>
                <a:latin typeface="Calibri"/>
                <a:ea typeface="Calibri"/>
                <a:cs typeface="Calibri"/>
                <a:sym typeface="Calibri"/>
              </a:defRPr>
            </a:lvl6pPr>
            <a:lvl7pPr indent="0" lvl="6" marL="0" marR="0" rtl="0" algn="r">
              <a:spcBef>
                <a:spcPts val="0"/>
              </a:spcBef>
              <a:buNone/>
              <a:defRPr b="0" i="0" sz="900" u="none" cap="none" strike="noStrike">
                <a:solidFill>
                  <a:schemeClr val="dk1"/>
                </a:solidFill>
                <a:latin typeface="Calibri"/>
                <a:ea typeface="Calibri"/>
                <a:cs typeface="Calibri"/>
                <a:sym typeface="Calibri"/>
              </a:defRPr>
            </a:lvl7pPr>
            <a:lvl8pPr indent="0" lvl="7" marL="0" marR="0" rtl="0" algn="r">
              <a:spcBef>
                <a:spcPts val="0"/>
              </a:spcBef>
              <a:buNone/>
              <a:defRPr b="0" i="0" sz="900" u="none" cap="none" strike="noStrike">
                <a:solidFill>
                  <a:schemeClr val="dk1"/>
                </a:solidFill>
                <a:latin typeface="Calibri"/>
                <a:ea typeface="Calibri"/>
                <a:cs typeface="Calibri"/>
                <a:sym typeface="Calibri"/>
              </a:defRPr>
            </a:lvl8pPr>
            <a:lvl9pPr indent="0" lvl="8" marL="0" marR="0" rtl="0" algn="r">
              <a:spcBef>
                <a:spcPts val="0"/>
              </a:spcBef>
              <a:buNone/>
              <a:defRPr b="0" i="0" sz="9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pic>
        <p:nvPicPr>
          <p:cNvPr descr="https://lh5.googleusercontent.com/wHOrzVGjXwKBH8LEgYbO7wgAuccCAl6_jX7qH0L-ozP37fTjKipjN8nRcjfgunP1_N-tnnMiwrCqJQoYHo51iY36h1HBbmfAWn5l7czXY1d2q7T8j0wnduEd0Tn9M7IH2BZZxC2LX45U6U_XzBarH-by8Q=s2048" id="11" name="Google Shape;11;p1"/>
          <p:cNvPicPr preferRelativeResize="0"/>
          <p:nvPr/>
        </p:nvPicPr>
        <p:blipFill rotWithShape="1">
          <a:blip r:embed="rId1">
            <a:alphaModFix/>
          </a:blip>
          <a:srcRect b="0" l="0" r="0" t="0"/>
          <a:stretch/>
        </p:blipFill>
        <p:spPr>
          <a:xfrm>
            <a:off x="0" y="0"/>
            <a:ext cx="3261148" cy="82080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 name="Shape 39"/>
        <p:cNvGrpSpPr/>
        <p:nvPr/>
      </p:nvGrpSpPr>
      <p:grpSpPr>
        <a:xfrm>
          <a:off x="0" y="0"/>
          <a:ext cx="0" cy="0"/>
          <a:chOff x="0" y="0"/>
          <a:chExt cx="0" cy="0"/>
        </a:xfrm>
      </p:grpSpPr>
      <p:sp>
        <p:nvSpPr>
          <p:cNvPr id="40" name="Google Shape;40;p8"/>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marR="0" algn="l">
              <a:lnSpc>
                <a:spcPct val="100000"/>
              </a:lnSpc>
              <a:spcBef>
                <a:spcPts val="900"/>
              </a:spcBef>
              <a:spcAft>
                <a:spcPts val="0"/>
              </a:spcAft>
              <a:buClr>
                <a:schemeClr val="dk1"/>
              </a:buClr>
              <a:buSzPts val="3300"/>
              <a:buNone/>
              <a:defRPr i="0" sz="3300" u="none" cap="none" strike="noStrike">
                <a:solidFill>
                  <a:schemeClr val="dk1"/>
                </a:solidFill>
              </a:defRPr>
            </a:lvl1pPr>
            <a:lvl2pPr lvl="1" marR="0" algn="l">
              <a:lnSpc>
                <a:spcPct val="100000"/>
              </a:lnSpc>
              <a:spcBef>
                <a:spcPts val="900"/>
              </a:spcBef>
              <a:spcAft>
                <a:spcPts val="0"/>
              </a:spcAft>
              <a:buClr>
                <a:srgbClr val="000000"/>
              </a:buClr>
              <a:buSzPts val="1100"/>
              <a:buNone/>
              <a:defRPr i="0" sz="1400" u="none" cap="none" strike="noStrike">
                <a:solidFill>
                  <a:srgbClr val="000000"/>
                </a:solidFill>
              </a:defRPr>
            </a:lvl2pPr>
            <a:lvl3pPr lvl="2" marR="0" algn="l">
              <a:lnSpc>
                <a:spcPct val="100000"/>
              </a:lnSpc>
              <a:spcBef>
                <a:spcPts val="900"/>
              </a:spcBef>
              <a:spcAft>
                <a:spcPts val="0"/>
              </a:spcAft>
              <a:buClr>
                <a:srgbClr val="000000"/>
              </a:buClr>
              <a:buSzPts val="1100"/>
              <a:buNone/>
              <a:defRPr i="0" sz="1400" u="none" cap="none" strike="noStrike">
                <a:solidFill>
                  <a:srgbClr val="000000"/>
                </a:solidFill>
              </a:defRPr>
            </a:lvl3pPr>
            <a:lvl4pPr lvl="3" marR="0" algn="l">
              <a:lnSpc>
                <a:spcPct val="100000"/>
              </a:lnSpc>
              <a:spcBef>
                <a:spcPts val="900"/>
              </a:spcBef>
              <a:spcAft>
                <a:spcPts val="0"/>
              </a:spcAft>
              <a:buClr>
                <a:srgbClr val="000000"/>
              </a:buClr>
              <a:buSzPts val="1100"/>
              <a:buNone/>
              <a:defRPr i="0" sz="1400" u="none" cap="none" strike="noStrike">
                <a:solidFill>
                  <a:srgbClr val="000000"/>
                </a:solidFill>
              </a:defRPr>
            </a:lvl4pPr>
            <a:lvl5pPr lvl="4" marR="0" algn="l">
              <a:lnSpc>
                <a:spcPct val="100000"/>
              </a:lnSpc>
              <a:spcBef>
                <a:spcPts val="900"/>
              </a:spcBef>
              <a:spcAft>
                <a:spcPts val="0"/>
              </a:spcAft>
              <a:buClr>
                <a:srgbClr val="000000"/>
              </a:buClr>
              <a:buSzPts val="1100"/>
              <a:buNone/>
              <a:defRPr i="0" sz="1400" u="none" cap="none" strike="noStrike">
                <a:solidFill>
                  <a:srgbClr val="000000"/>
                </a:solidFill>
              </a:defRPr>
            </a:lvl5pPr>
            <a:lvl6pPr lvl="5" marR="0" algn="l">
              <a:lnSpc>
                <a:spcPct val="100000"/>
              </a:lnSpc>
              <a:spcBef>
                <a:spcPts val="900"/>
              </a:spcBef>
              <a:spcAft>
                <a:spcPts val="0"/>
              </a:spcAft>
              <a:buClr>
                <a:srgbClr val="000000"/>
              </a:buClr>
              <a:buSzPts val="1100"/>
              <a:buNone/>
              <a:defRPr i="0" sz="1400" u="none" cap="none" strike="noStrike">
                <a:solidFill>
                  <a:srgbClr val="000000"/>
                </a:solidFill>
              </a:defRPr>
            </a:lvl6pPr>
            <a:lvl7pPr lvl="6" marR="0" algn="l">
              <a:lnSpc>
                <a:spcPct val="100000"/>
              </a:lnSpc>
              <a:spcBef>
                <a:spcPts val="900"/>
              </a:spcBef>
              <a:spcAft>
                <a:spcPts val="0"/>
              </a:spcAft>
              <a:buClr>
                <a:srgbClr val="000000"/>
              </a:buClr>
              <a:buSzPts val="1100"/>
              <a:buNone/>
              <a:defRPr i="0" sz="1400" u="none" cap="none" strike="noStrike">
                <a:solidFill>
                  <a:srgbClr val="000000"/>
                </a:solidFill>
              </a:defRPr>
            </a:lvl7pPr>
            <a:lvl8pPr lvl="7" marR="0" algn="l">
              <a:lnSpc>
                <a:spcPct val="100000"/>
              </a:lnSpc>
              <a:spcBef>
                <a:spcPts val="900"/>
              </a:spcBef>
              <a:spcAft>
                <a:spcPts val="0"/>
              </a:spcAft>
              <a:buClr>
                <a:srgbClr val="000000"/>
              </a:buClr>
              <a:buSzPts val="1100"/>
              <a:buNone/>
              <a:defRPr i="0" sz="1400" u="none" cap="none" strike="noStrike">
                <a:solidFill>
                  <a:srgbClr val="000000"/>
                </a:solidFill>
              </a:defRPr>
            </a:lvl8pPr>
            <a:lvl9pPr lvl="8" marR="0" algn="l">
              <a:lnSpc>
                <a:spcPct val="100000"/>
              </a:lnSpc>
              <a:spcBef>
                <a:spcPts val="900"/>
              </a:spcBef>
              <a:spcAft>
                <a:spcPts val="0"/>
              </a:spcAft>
              <a:buClr>
                <a:srgbClr val="000000"/>
              </a:buClr>
              <a:buSzPts val="1100"/>
              <a:buNone/>
              <a:defRPr i="0" sz="1400" u="none" cap="none" strike="noStrike">
                <a:solidFill>
                  <a:srgbClr val="000000"/>
                </a:solidFill>
              </a:defRPr>
            </a:lvl9pPr>
          </a:lstStyle>
          <a:p/>
        </p:txBody>
      </p:sp>
      <p:sp>
        <p:nvSpPr>
          <p:cNvPr id="41" name="Google Shape;41;p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100000"/>
              </a:lnSpc>
              <a:spcBef>
                <a:spcPts val="900"/>
              </a:spcBef>
              <a:spcAft>
                <a:spcPts val="0"/>
              </a:spcAft>
              <a:buClr>
                <a:schemeClr val="dk1"/>
              </a:buClr>
              <a:buSzPts val="2100"/>
              <a:buChar char="•"/>
              <a:defRPr i="0" sz="2100" u="none" cap="none" strike="noStrike">
                <a:solidFill>
                  <a:schemeClr val="dk1"/>
                </a:solidFill>
              </a:defRPr>
            </a:lvl1pPr>
            <a:lvl2pPr indent="-342900" lvl="1" marL="914400" marR="0" algn="l">
              <a:lnSpc>
                <a:spcPct val="100000"/>
              </a:lnSpc>
              <a:spcBef>
                <a:spcPts val="900"/>
              </a:spcBef>
              <a:spcAft>
                <a:spcPts val="0"/>
              </a:spcAft>
              <a:buClr>
                <a:schemeClr val="dk1"/>
              </a:buClr>
              <a:buSzPts val="1800"/>
              <a:buChar char="•"/>
              <a:defRPr i="0" sz="1800" u="none" cap="none" strike="noStrike">
                <a:solidFill>
                  <a:schemeClr val="dk1"/>
                </a:solidFill>
              </a:defRPr>
            </a:lvl2pPr>
            <a:lvl3pPr indent="-323850" lvl="2" marL="1371600" marR="0" algn="l">
              <a:lnSpc>
                <a:spcPct val="100000"/>
              </a:lnSpc>
              <a:spcBef>
                <a:spcPts val="900"/>
              </a:spcBef>
              <a:spcAft>
                <a:spcPts val="0"/>
              </a:spcAft>
              <a:buClr>
                <a:schemeClr val="dk1"/>
              </a:buClr>
              <a:buSzPts val="1500"/>
              <a:buChar char="•"/>
              <a:defRPr i="0" sz="1500" u="none" cap="none" strike="noStrike">
                <a:solidFill>
                  <a:schemeClr val="dk1"/>
                </a:solidFill>
              </a:defRPr>
            </a:lvl3pPr>
            <a:lvl4pPr indent="-317500" lvl="3" marL="1828800" marR="0" algn="l">
              <a:lnSpc>
                <a:spcPct val="100000"/>
              </a:lnSpc>
              <a:spcBef>
                <a:spcPts val="900"/>
              </a:spcBef>
              <a:spcAft>
                <a:spcPts val="0"/>
              </a:spcAft>
              <a:buClr>
                <a:schemeClr val="dk1"/>
              </a:buClr>
              <a:buSzPts val="1400"/>
              <a:buChar char="•"/>
              <a:defRPr i="0" sz="1400" u="none" cap="none" strike="noStrike">
                <a:solidFill>
                  <a:schemeClr val="dk1"/>
                </a:solidFill>
              </a:defRPr>
            </a:lvl4pPr>
            <a:lvl5pPr indent="-317500" lvl="4" marL="2286000" marR="0" algn="l">
              <a:lnSpc>
                <a:spcPct val="100000"/>
              </a:lnSpc>
              <a:spcBef>
                <a:spcPts val="900"/>
              </a:spcBef>
              <a:spcAft>
                <a:spcPts val="0"/>
              </a:spcAft>
              <a:buClr>
                <a:schemeClr val="dk1"/>
              </a:buClr>
              <a:buSzPts val="1400"/>
              <a:buChar char="•"/>
              <a:defRPr i="0" sz="1400" u="none" cap="none" strike="noStrike">
                <a:solidFill>
                  <a:schemeClr val="dk1"/>
                </a:solidFill>
              </a:defRPr>
            </a:lvl5pPr>
            <a:lvl6pPr indent="-317500" lvl="5" marL="2743200" marR="0" algn="l">
              <a:lnSpc>
                <a:spcPct val="100000"/>
              </a:lnSpc>
              <a:spcBef>
                <a:spcPts val="900"/>
              </a:spcBef>
              <a:spcAft>
                <a:spcPts val="0"/>
              </a:spcAft>
              <a:buClr>
                <a:schemeClr val="dk1"/>
              </a:buClr>
              <a:buSzPts val="1400"/>
              <a:buChar char="•"/>
              <a:defRPr i="0" sz="1400" u="none" cap="none" strike="noStrike">
                <a:solidFill>
                  <a:schemeClr val="dk1"/>
                </a:solidFill>
              </a:defRPr>
            </a:lvl6pPr>
            <a:lvl7pPr indent="-317500" lvl="6" marL="3200400" marR="0" algn="l">
              <a:lnSpc>
                <a:spcPct val="100000"/>
              </a:lnSpc>
              <a:spcBef>
                <a:spcPts val="900"/>
              </a:spcBef>
              <a:spcAft>
                <a:spcPts val="0"/>
              </a:spcAft>
              <a:buClr>
                <a:schemeClr val="dk1"/>
              </a:buClr>
              <a:buSzPts val="1400"/>
              <a:buChar char="•"/>
              <a:defRPr i="0" sz="1400" u="none" cap="none" strike="noStrike">
                <a:solidFill>
                  <a:schemeClr val="dk1"/>
                </a:solidFill>
              </a:defRPr>
            </a:lvl7pPr>
            <a:lvl8pPr indent="-317500" lvl="7" marL="3657600" marR="0" algn="l">
              <a:lnSpc>
                <a:spcPct val="100000"/>
              </a:lnSpc>
              <a:spcBef>
                <a:spcPts val="900"/>
              </a:spcBef>
              <a:spcAft>
                <a:spcPts val="0"/>
              </a:spcAft>
              <a:buClr>
                <a:schemeClr val="dk1"/>
              </a:buClr>
              <a:buSzPts val="1400"/>
              <a:buChar char="•"/>
              <a:defRPr i="0" sz="1400" u="none" cap="none" strike="noStrike">
                <a:solidFill>
                  <a:schemeClr val="dk1"/>
                </a:solidFill>
              </a:defRPr>
            </a:lvl8pPr>
            <a:lvl9pPr indent="-317500" lvl="8" marL="4114800" marR="0" algn="l">
              <a:lnSpc>
                <a:spcPct val="100000"/>
              </a:lnSpc>
              <a:spcBef>
                <a:spcPts val="900"/>
              </a:spcBef>
              <a:spcAft>
                <a:spcPts val="0"/>
              </a:spcAft>
              <a:buClr>
                <a:schemeClr val="dk1"/>
              </a:buClr>
              <a:buSzPts val="1400"/>
              <a:buChar char="•"/>
              <a:defRPr i="0" sz="1400" u="none" cap="none" strike="noStrike">
                <a:solidFill>
                  <a:schemeClr val="dk1"/>
                </a:solidFill>
              </a:defRPr>
            </a:lvl9pPr>
          </a:lstStyle>
          <a:p/>
        </p:txBody>
      </p:sp>
      <p:sp>
        <p:nvSpPr>
          <p:cNvPr id="42" name="Google Shape;42;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None/>
              <a:defRPr i="0" sz="900" u="none" cap="none" strike="noStrike">
                <a:solidFill>
                  <a:srgbClr val="888888"/>
                </a:solidFill>
              </a:defRPr>
            </a:lvl1pPr>
            <a:lvl2pPr lvl="1" marR="0" algn="l">
              <a:lnSpc>
                <a:spcPct val="100000"/>
              </a:lnSpc>
              <a:spcBef>
                <a:spcPts val="0"/>
              </a:spcBef>
              <a:spcAft>
                <a:spcPts val="0"/>
              </a:spcAft>
              <a:buClr>
                <a:srgbClr val="000000"/>
              </a:buClr>
              <a:buSzPts val="1100"/>
              <a:buNone/>
              <a:defRPr i="0" sz="1400" u="none" cap="none" strike="noStrike">
                <a:solidFill>
                  <a:schemeClr val="dk1"/>
                </a:solidFill>
              </a:defRPr>
            </a:lvl2pPr>
            <a:lvl3pPr lvl="2" marR="0" algn="l">
              <a:lnSpc>
                <a:spcPct val="100000"/>
              </a:lnSpc>
              <a:spcBef>
                <a:spcPts val="0"/>
              </a:spcBef>
              <a:spcAft>
                <a:spcPts val="0"/>
              </a:spcAft>
              <a:buClr>
                <a:srgbClr val="000000"/>
              </a:buClr>
              <a:buSzPts val="1100"/>
              <a:buNone/>
              <a:defRPr i="0" sz="1400" u="none" cap="none" strike="noStrike">
                <a:solidFill>
                  <a:schemeClr val="dk1"/>
                </a:solidFill>
              </a:defRPr>
            </a:lvl3pPr>
            <a:lvl4pPr lvl="3" marR="0" algn="l">
              <a:lnSpc>
                <a:spcPct val="100000"/>
              </a:lnSpc>
              <a:spcBef>
                <a:spcPts val="0"/>
              </a:spcBef>
              <a:spcAft>
                <a:spcPts val="0"/>
              </a:spcAft>
              <a:buClr>
                <a:srgbClr val="000000"/>
              </a:buClr>
              <a:buSzPts val="1100"/>
              <a:buNone/>
              <a:defRPr i="0" sz="1400" u="none" cap="none" strike="noStrike">
                <a:solidFill>
                  <a:schemeClr val="dk1"/>
                </a:solidFill>
              </a:defRPr>
            </a:lvl4pPr>
            <a:lvl5pPr lvl="4" marR="0" algn="l">
              <a:lnSpc>
                <a:spcPct val="100000"/>
              </a:lnSpc>
              <a:spcBef>
                <a:spcPts val="0"/>
              </a:spcBef>
              <a:spcAft>
                <a:spcPts val="0"/>
              </a:spcAft>
              <a:buClr>
                <a:srgbClr val="000000"/>
              </a:buClr>
              <a:buSzPts val="1100"/>
              <a:buNone/>
              <a:defRPr i="0" sz="1400" u="none" cap="none" strike="noStrike">
                <a:solidFill>
                  <a:schemeClr val="dk1"/>
                </a:solidFill>
              </a:defRPr>
            </a:lvl5pPr>
            <a:lvl6pPr lvl="5" marR="0" algn="l">
              <a:lnSpc>
                <a:spcPct val="100000"/>
              </a:lnSpc>
              <a:spcBef>
                <a:spcPts val="0"/>
              </a:spcBef>
              <a:spcAft>
                <a:spcPts val="0"/>
              </a:spcAft>
              <a:buClr>
                <a:srgbClr val="000000"/>
              </a:buClr>
              <a:buSzPts val="1100"/>
              <a:buNone/>
              <a:defRPr i="0" sz="1400" u="none" cap="none" strike="noStrike">
                <a:solidFill>
                  <a:schemeClr val="dk1"/>
                </a:solidFill>
              </a:defRPr>
            </a:lvl6pPr>
            <a:lvl7pPr lvl="6" marR="0" algn="l">
              <a:lnSpc>
                <a:spcPct val="100000"/>
              </a:lnSpc>
              <a:spcBef>
                <a:spcPts val="0"/>
              </a:spcBef>
              <a:spcAft>
                <a:spcPts val="0"/>
              </a:spcAft>
              <a:buClr>
                <a:srgbClr val="000000"/>
              </a:buClr>
              <a:buSzPts val="1100"/>
              <a:buNone/>
              <a:defRPr i="0" sz="1400" u="none" cap="none" strike="noStrike">
                <a:solidFill>
                  <a:schemeClr val="dk1"/>
                </a:solidFill>
              </a:defRPr>
            </a:lvl7pPr>
            <a:lvl8pPr lvl="7" marR="0" algn="l">
              <a:lnSpc>
                <a:spcPct val="100000"/>
              </a:lnSpc>
              <a:spcBef>
                <a:spcPts val="0"/>
              </a:spcBef>
              <a:spcAft>
                <a:spcPts val="0"/>
              </a:spcAft>
              <a:buClr>
                <a:srgbClr val="000000"/>
              </a:buClr>
              <a:buSzPts val="1100"/>
              <a:buNone/>
              <a:defRPr i="0" sz="1400" u="none" cap="none" strike="noStrike">
                <a:solidFill>
                  <a:schemeClr val="dk1"/>
                </a:solidFill>
              </a:defRPr>
            </a:lvl8pPr>
            <a:lvl9pPr lvl="8" marR="0" algn="l">
              <a:lnSpc>
                <a:spcPct val="100000"/>
              </a:lnSpc>
              <a:spcBef>
                <a:spcPts val="0"/>
              </a:spcBef>
              <a:spcAft>
                <a:spcPts val="0"/>
              </a:spcAft>
              <a:buClr>
                <a:srgbClr val="000000"/>
              </a:buClr>
              <a:buSzPts val="1100"/>
              <a:buNone/>
              <a:defRPr i="0" sz="1400" u="none" cap="none" strike="noStrike">
                <a:solidFill>
                  <a:schemeClr val="dk1"/>
                </a:solidFill>
              </a:defRPr>
            </a:lvl9pPr>
          </a:lstStyle>
          <a:p/>
        </p:txBody>
      </p:sp>
      <p:sp>
        <p:nvSpPr>
          <p:cNvPr id="43" name="Google Shape;43;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None/>
              <a:defRPr i="0" sz="900" u="none" cap="none" strike="noStrike">
                <a:solidFill>
                  <a:srgbClr val="888888"/>
                </a:solidFill>
              </a:defRPr>
            </a:lvl1pPr>
            <a:lvl2pPr lvl="1" marR="0" algn="l">
              <a:lnSpc>
                <a:spcPct val="100000"/>
              </a:lnSpc>
              <a:spcBef>
                <a:spcPts val="0"/>
              </a:spcBef>
              <a:spcAft>
                <a:spcPts val="0"/>
              </a:spcAft>
              <a:buClr>
                <a:srgbClr val="000000"/>
              </a:buClr>
              <a:buSzPts val="1100"/>
              <a:buNone/>
              <a:defRPr i="0" sz="1400" u="none" cap="none" strike="noStrike">
                <a:solidFill>
                  <a:schemeClr val="dk1"/>
                </a:solidFill>
              </a:defRPr>
            </a:lvl2pPr>
            <a:lvl3pPr lvl="2" marR="0" algn="l">
              <a:lnSpc>
                <a:spcPct val="100000"/>
              </a:lnSpc>
              <a:spcBef>
                <a:spcPts val="0"/>
              </a:spcBef>
              <a:spcAft>
                <a:spcPts val="0"/>
              </a:spcAft>
              <a:buClr>
                <a:srgbClr val="000000"/>
              </a:buClr>
              <a:buSzPts val="1100"/>
              <a:buNone/>
              <a:defRPr i="0" sz="1400" u="none" cap="none" strike="noStrike">
                <a:solidFill>
                  <a:schemeClr val="dk1"/>
                </a:solidFill>
              </a:defRPr>
            </a:lvl3pPr>
            <a:lvl4pPr lvl="3" marR="0" algn="l">
              <a:lnSpc>
                <a:spcPct val="100000"/>
              </a:lnSpc>
              <a:spcBef>
                <a:spcPts val="0"/>
              </a:spcBef>
              <a:spcAft>
                <a:spcPts val="0"/>
              </a:spcAft>
              <a:buClr>
                <a:srgbClr val="000000"/>
              </a:buClr>
              <a:buSzPts val="1100"/>
              <a:buNone/>
              <a:defRPr i="0" sz="1400" u="none" cap="none" strike="noStrike">
                <a:solidFill>
                  <a:schemeClr val="dk1"/>
                </a:solidFill>
              </a:defRPr>
            </a:lvl4pPr>
            <a:lvl5pPr lvl="4" marR="0" algn="l">
              <a:lnSpc>
                <a:spcPct val="100000"/>
              </a:lnSpc>
              <a:spcBef>
                <a:spcPts val="0"/>
              </a:spcBef>
              <a:spcAft>
                <a:spcPts val="0"/>
              </a:spcAft>
              <a:buClr>
                <a:srgbClr val="000000"/>
              </a:buClr>
              <a:buSzPts val="1100"/>
              <a:buNone/>
              <a:defRPr i="0" sz="1400" u="none" cap="none" strike="noStrike">
                <a:solidFill>
                  <a:schemeClr val="dk1"/>
                </a:solidFill>
              </a:defRPr>
            </a:lvl5pPr>
            <a:lvl6pPr lvl="5" marR="0" algn="l">
              <a:lnSpc>
                <a:spcPct val="100000"/>
              </a:lnSpc>
              <a:spcBef>
                <a:spcPts val="0"/>
              </a:spcBef>
              <a:spcAft>
                <a:spcPts val="0"/>
              </a:spcAft>
              <a:buClr>
                <a:srgbClr val="000000"/>
              </a:buClr>
              <a:buSzPts val="1100"/>
              <a:buNone/>
              <a:defRPr i="0" sz="1400" u="none" cap="none" strike="noStrike">
                <a:solidFill>
                  <a:schemeClr val="dk1"/>
                </a:solidFill>
              </a:defRPr>
            </a:lvl6pPr>
            <a:lvl7pPr lvl="6" marR="0" algn="l">
              <a:lnSpc>
                <a:spcPct val="100000"/>
              </a:lnSpc>
              <a:spcBef>
                <a:spcPts val="0"/>
              </a:spcBef>
              <a:spcAft>
                <a:spcPts val="0"/>
              </a:spcAft>
              <a:buClr>
                <a:srgbClr val="000000"/>
              </a:buClr>
              <a:buSzPts val="1100"/>
              <a:buNone/>
              <a:defRPr i="0" sz="1400" u="none" cap="none" strike="noStrike">
                <a:solidFill>
                  <a:schemeClr val="dk1"/>
                </a:solidFill>
              </a:defRPr>
            </a:lvl7pPr>
            <a:lvl8pPr lvl="7" marR="0" algn="l">
              <a:lnSpc>
                <a:spcPct val="100000"/>
              </a:lnSpc>
              <a:spcBef>
                <a:spcPts val="0"/>
              </a:spcBef>
              <a:spcAft>
                <a:spcPts val="0"/>
              </a:spcAft>
              <a:buClr>
                <a:srgbClr val="000000"/>
              </a:buClr>
              <a:buSzPts val="1100"/>
              <a:buNone/>
              <a:defRPr i="0" sz="1400" u="none" cap="none" strike="noStrike">
                <a:solidFill>
                  <a:schemeClr val="dk1"/>
                </a:solidFill>
              </a:defRPr>
            </a:lvl8pPr>
            <a:lvl9pPr lvl="8" marR="0" algn="l">
              <a:lnSpc>
                <a:spcPct val="100000"/>
              </a:lnSpc>
              <a:spcBef>
                <a:spcPts val="0"/>
              </a:spcBef>
              <a:spcAft>
                <a:spcPts val="0"/>
              </a:spcAft>
              <a:buClr>
                <a:srgbClr val="000000"/>
              </a:buClr>
              <a:buSzPts val="1100"/>
              <a:buNone/>
              <a:defRPr i="0" sz="1400" u="none" cap="none" strike="noStrike">
                <a:solidFill>
                  <a:schemeClr val="dk1"/>
                </a:solidFill>
              </a:defRPr>
            </a:lvl9pPr>
          </a:lstStyle>
          <a:p/>
        </p:txBody>
      </p:sp>
      <p:sp>
        <p:nvSpPr>
          <p:cNvPr id="44" name="Google Shape;44;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1pPr>
            <a:lvl2pPr indent="0" lvl="1"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2pPr>
            <a:lvl3pPr indent="0" lvl="2"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3pPr>
            <a:lvl4pPr indent="0" lvl="3"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4pPr>
            <a:lvl5pPr indent="0" lvl="4"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5pPr>
            <a:lvl6pPr indent="0" lvl="5"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6pPr>
            <a:lvl7pPr indent="0" lvl="6"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7pPr>
            <a:lvl8pPr indent="0" lvl="7"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8pPr>
            <a:lvl9pPr indent="0" lvl="8"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9pPr>
          </a:lstStyle>
          <a:p>
            <a:pPr indent="0" lvl="0" marL="0" rtl="0" algn="r">
              <a:spcBef>
                <a:spcPts val="0"/>
              </a:spcBef>
              <a:spcAft>
                <a:spcPts val="0"/>
              </a:spcAft>
              <a:buNone/>
            </a:pPr>
            <a:fld id="{00000000-1234-1234-1234-123412341234}" type="slidenum">
              <a:rPr lang="zh-TW"/>
              <a:t>‹#›</a:t>
            </a:fld>
            <a:endParaRPr/>
          </a:p>
        </p:txBody>
      </p:sp>
      <p:pic>
        <p:nvPicPr>
          <p:cNvPr descr="https://lh5.googleusercontent.com/wHOrzVGjXwKBH8LEgYbO7wgAuccCAl6_jX7qH0L-ozP37fTjKipjN8nRcjfgunP1_N-tnnMiwrCqJQoYHo51iY36h1HBbmfAWn5l7czXY1d2q7T8j0wnduEd0Tn9M7IH2BZZxC2LX45U6U_XzBarH-by8Q=s2048" id="45" name="Google Shape;45;p8"/>
          <p:cNvPicPr preferRelativeResize="0"/>
          <p:nvPr/>
        </p:nvPicPr>
        <p:blipFill rotWithShape="1">
          <a:blip r:embed="rId1">
            <a:alphaModFix/>
          </a:blip>
          <a:srcRect b="0" l="0" r="0" t="0"/>
          <a:stretch/>
        </p:blipFill>
        <p:spPr>
          <a:xfrm>
            <a:off x="0" y="0"/>
            <a:ext cx="3261148" cy="82080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20.jpg"/><Relationship Id="rId4" Type="http://schemas.openxmlformats.org/officeDocument/2006/relationships/image" Target="../media/image48.png"/><Relationship Id="rId5"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20.jpg"/><Relationship Id="rId4" Type="http://schemas.openxmlformats.org/officeDocument/2006/relationships/image" Target="../media/image48.png"/><Relationship Id="rId5"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20.jpg"/><Relationship Id="rId4" Type="http://schemas.openxmlformats.org/officeDocument/2006/relationships/image" Target="../media/image10.png"/><Relationship Id="rId5" Type="http://schemas.openxmlformats.org/officeDocument/2006/relationships/image" Target="../media/image48.png"/><Relationship Id="rId6" Type="http://schemas.openxmlformats.org/officeDocument/2006/relationships/image" Target="../media/image47.png"/><Relationship Id="rId7" Type="http://schemas.openxmlformats.org/officeDocument/2006/relationships/image" Target="../media/image3.jpg"/><Relationship Id="rId8" Type="http://schemas.openxmlformats.org/officeDocument/2006/relationships/image" Target="../media/image21.png"/><Relationship Id="rId9" Type="http://schemas.openxmlformats.org/officeDocument/2006/relationships/image" Target="../media/image23.jpg"/><Relationship Id="rId10"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15.png"/><Relationship Id="rId5" Type="http://schemas.openxmlformats.org/officeDocument/2006/relationships/image" Target="../media/image25.png"/><Relationship Id="rId6" Type="http://schemas.openxmlformats.org/officeDocument/2006/relationships/image" Target="../media/image11.png"/><Relationship Id="rId7"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16.png"/><Relationship Id="rId5" Type="http://schemas.openxmlformats.org/officeDocument/2006/relationships/image" Target="../media/image36.png"/><Relationship Id="rId6" Type="http://schemas.openxmlformats.org/officeDocument/2006/relationships/image" Target="../media/image22.png"/><Relationship Id="rId7" Type="http://schemas.openxmlformats.org/officeDocument/2006/relationships/image" Target="../media/image19.png"/><Relationship Id="rId8" Type="http://schemas.openxmlformats.org/officeDocument/2006/relationships/image" Target="../media/image26.png"/><Relationship Id="rId9" Type="http://schemas.openxmlformats.org/officeDocument/2006/relationships/image" Target="../media/image37.png"/><Relationship Id="rId10" Type="http://schemas.openxmlformats.org/officeDocument/2006/relationships/image" Target="../media/image28.png"/><Relationship Id="rId11" Type="http://schemas.openxmlformats.org/officeDocument/2006/relationships/image" Target="../media/image38.png"/><Relationship Id="rId12" Type="http://schemas.openxmlformats.org/officeDocument/2006/relationships/image" Target="../media/image44.png"/><Relationship Id="rId1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39.png"/><Relationship Id="rId6" Type="http://schemas.openxmlformats.org/officeDocument/2006/relationships/image" Target="../media/image33.png"/><Relationship Id="rId7"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41.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46.png"/><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3"/>
          <p:cNvSpPr txBox="1"/>
          <p:nvPr>
            <p:ph type="ctrTitle"/>
          </p:nvPr>
        </p:nvSpPr>
        <p:spPr>
          <a:xfrm>
            <a:off x="1068900" y="865850"/>
            <a:ext cx="7006200" cy="17907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chemeClr val="dk1"/>
              </a:buClr>
              <a:buSzPts val="4500"/>
              <a:buFont typeface="Calibri"/>
              <a:buNone/>
            </a:pPr>
            <a:r>
              <a:rPr b="1" lang="zh-TW" sz="3600"/>
              <a:t>Adaptive-FFT-K: A Real-Time Recover-then-Classify Defense Against Adversarial Attacks on RF Modulation Classification</a:t>
            </a:r>
            <a:endParaRPr b="1" sz="3600"/>
          </a:p>
        </p:txBody>
      </p:sp>
      <p:sp>
        <p:nvSpPr>
          <p:cNvPr id="71" name="Google Shape;71;p13"/>
          <p:cNvSpPr txBox="1"/>
          <p:nvPr>
            <p:ph idx="1" type="subTitle"/>
          </p:nvPr>
        </p:nvSpPr>
        <p:spPr>
          <a:xfrm>
            <a:off x="905850" y="2656550"/>
            <a:ext cx="7332300" cy="2067300"/>
          </a:xfrm>
          <a:prstGeom prst="rect">
            <a:avLst/>
          </a:prstGeom>
          <a:noFill/>
          <a:ln>
            <a:noFill/>
          </a:ln>
        </p:spPr>
        <p:txBody>
          <a:bodyPr anchorCtr="0" anchor="ctr" bIns="34275" lIns="68575" spcFirstLastPara="1" rIns="68575" wrap="square" tIns="34275">
            <a:noAutofit/>
          </a:bodyPr>
          <a:lstStyle/>
          <a:p>
            <a:pPr indent="-361950" lvl="0" marL="457200" rtl="0" algn="ctr">
              <a:lnSpc>
                <a:spcPct val="100000"/>
              </a:lnSpc>
              <a:spcBef>
                <a:spcPts val="800"/>
              </a:spcBef>
              <a:spcAft>
                <a:spcPts val="0"/>
              </a:spcAft>
              <a:buClr>
                <a:schemeClr val="dk1"/>
              </a:buClr>
              <a:buSzPts val="1100"/>
              <a:buFont typeface="Arial"/>
              <a:buNone/>
            </a:pPr>
            <a:r>
              <a:rPr lang="zh-TW">
                <a:latin typeface="Arial"/>
                <a:ea typeface="Arial"/>
                <a:cs typeface="Arial"/>
                <a:sym typeface="Arial"/>
              </a:rPr>
              <a:t>Presenter:  </a:t>
            </a:r>
            <a:r>
              <a:rPr lang="zh-TW">
                <a:solidFill>
                  <a:srgbClr val="1F1F1F"/>
                </a:solidFill>
                <a:highlight>
                  <a:srgbClr val="FFFFFF"/>
                </a:highlight>
                <a:latin typeface="Arial"/>
                <a:ea typeface="Arial"/>
                <a:cs typeface="Arial"/>
                <a:sym typeface="Arial"/>
              </a:rPr>
              <a:t>王彥凱</a:t>
            </a:r>
            <a:r>
              <a:rPr lang="zh-TW">
                <a:latin typeface="Arial"/>
                <a:ea typeface="Arial"/>
                <a:cs typeface="Arial"/>
                <a:sym typeface="Arial"/>
              </a:rPr>
              <a:t> </a:t>
            </a:r>
            <a:r>
              <a:rPr lang="zh-TW">
                <a:latin typeface="Arial"/>
                <a:ea typeface="Arial"/>
                <a:cs typeface="Arial"/>
                <a:sym typeface="Arial"/>
              </a:rPr>
              <a:t>(Yan-Kai Wang)</a:t>
            </a:r>
            <a:endParaRPr>
              <a:latin typeface="Arial"/>
              <a:ea typeface="Arial"/>
              <a:cs typeface="Arial"/>
              <a:sym typeface="Arial"/>
            </a:endParaRPr>
          </a:p>
          <a:p>
            <a:pPr indent="-361950" lvl="0" marL="457200" rtl="0" algn="ctr">
              <a:lnSpc>
                <a:spcPct val="100000"/>
              </a:lnSpc>
              <a:spcBef>
                <a:spcPts val="800"/>
              </a:spcBef>
              <a:spcAft>
                <a:spcPts val="0"/>
              </a:spcAft>
              <a:buClr>
                <a:schemeClr val="dk1"/>
              </a:buClr>
              <a:buSzPts val="1100"/>
              <a:buFont typeface="Arial"/>
              <a:buNone/>
            </a:pPr>
            <a:r>
              <a:rPr lang="zh-TW">
                <a:latin typeface="Arial"/>
                <a:ea typeface="Arial"/>
                <a:cs typeface="Arial"/>
                <a:sym typeface="Arial"/>
              </a:rPr>
              <a:t>Advisor: 葉宗泰 (Tsung-Tai Yeh)</a:t>
            </a:r>
            <a:endParaRPr>
              <a:latin typeface="Arial"/>
              <a:ea typeface="Arial"/>
              <a:cs typeface="Arial"/>
              <a:sym typeface="Arial"/>
            </a:endParaRPr>
          </a:p>
          <a:p>
            <a:pPr indent="-361950" lvl="0" marL="457200" rtl="0" algn="ctr">
              <a:lnSpc>
                <a:spcPct val="100000"/>
              </a:lnSpc>
              <a:spcBef>
                <a:spcPts val="800"/>
              </a:spcBef>
              <a:spcAft>
                <a:spcPts val="0"/>
              </a:spcAft>
              <a:buClr>
                <a:schemeClr val="dk1"/>
              </a:buClr>
              <a:buSzPts val="1100"/>
              <a:buFont typeface="Arial"/>
              <a:buNone/>
            </a:pPr>
            <a:r>
              <a:t/>
            </a:r>
            <a:endParaRPr>
              <a:latin typeface="Arial"/>
              <a:ea typeface="Arial"/>
              <a:cs typeface="Arial"/>
              <a:sym typeface="Arial"/>
            </a:endParaRPr>
          </a:p>
          <a:p>
            <a:pPr indent="-361950" lvl="0" marL="457200" rtl="0" algn="ctr">
              <a:lnSpc>
                <a:spcPct val="50000"/>
              </a:lnSpc>
              <a:spcBef>
                <a:spcPts val="800"/>
              </a:spcBef>
              <a:spcAft>
                <a:spcPts val="0"/>
              </a:spcAft>
              <a:buClr>
                <a:schemeClr val="dk1"/>
              </a:buClr>
              <a:buSzPts val="1100"/>
              <a:buFont typeface="Arial"/>
              <a:buNone/>
            </a:pPr>
            <a:r>
              <a:rPr lang="zh-TW">
                <a:latin typeface="Arial"/>
                <a:ea typeface="Arial"/>
                <a:cs typeface="Arial"/>
                <a:sym typeface="Arial"/>
              </a:rPr>
              <a:t>Computer Architecture and System (CAS) Lab</a:t>
            </a:r>
            <a:endParaRPr>
              <a:latin typeface="Arial"/>
              <a:ea typeface="Arial"/>
              <a:cs typeface="Arial"/>
              <a:sym typeface="Arial"/>
            </a:endParaRPr>
          </a:p>
          <a:p>
            <a:pPr indent="-361950" lvl="0" marL="457200" rtl="0" algn="ctr">
              <a:lnSpc>
                <a:spcPct val="50000"/>
              </a:lnSpc>
              <a:spcBef>
                <a:spcPts val="800"/>
              </a:spcBef>
              <a:spcAft>
                <a:spcPts val="0"/>
              </a:spcAft>
              <a:buClr>
                <a:schemeClr val="dk1"/>
              </a:buClr>
              <a:buSzPts val="1100"/>
              <a:buFont typeface="Arial"/>
              <a:buNone/>
            </a:pPr>
            <a:r>
              <a:rPr lang="zh-TW">
                <a:latin typeface="Arial"/>
                <a:ea typeface="Arial"/>
                <a:cs typeface="Arial"/>
                <a:sym typeface="Arial"/>
              </a:rPr>
              <a:t>Institute of Multi-Media Engineering</a:t>
            </a:r>
            <a:endParaRPr>
              <a:latin typeface="Arial"/>
              <a:ea typeface="Arial"/>
              <a:cs typeface="Arial"/>
              <a:sym typeface="Arial"/>
            </a:endParaRPr>
          </a:p>
          <a:p>
            <a:pPr indent="-361950" lvl="0" marL="457200" rtl="0" algn="ctr">
              <a:lnSpc>
                <a:spcPct val="50000"/>
              </a:lnSpc>
              <a:spcBef>
                <a:spcPts val="800"/>
              </a:spcBef>
              <a:spcAft>
                <a:spcPts val="0"/>
              </a:spcAft>
              <a:buClr>
                <a:schemeClr val="dk1"/>
              </a:buClr>
              <a:buSzPts val="1100"/>
              <a:buFont typeface="Arial"/>
              <a:buNone/>
            </a:pPr>
            <a:r>
              <a:rPr lang="zh-TW">
                <a:latin typeface="Arial"/>
                <a:ea typeface="Arial"/>
                <a:cs typeface="Arial"/>
                <a:sym typeface="Arial"/>
              </a:rPr>
              <a:t>National Yang Ming Chiao Tung University</a:t>
            </a:r>
            <a:endParaRPr>
              <a:latin typeface="Arial"/>
              <a:ea typeface="Arial"/>
              <a:cs typeface="Arial"/>
              <a:sym typeface="Arial"/>
            </a:endParaRPr>
          </a:p>
          <a:p>
            <a:pPr indent="-361950" lvl="0" marL="457200" rtl="0" algn="ctr">
              <a:lnSpc>
                <a:spcPct val="50000"/>
              </a:lnSpc>
              <a:spcBef>
                <a:spcPts val="800"/>
              </a:spcBef>
              <a:spcAft>
                <a:spcPts val="0"/>
              </a:spcAft>
              <a:buClr>
                <a:schemeClr val="dk1"/>
              </a:buClr>
              <a:buSzPts val="1100"/>
              <a:buFont typeface="Arial"/>
              <a:buNone/>
            </a:pPr>
            <a:r>
              <a:rPr lang="zh-TW">
                <a:latin typeface="Arial"/>
                <a:ea typeface="Arial"/>
                <a:cs typeface="Arial"/>
                <a:sym typeface="Arial"/>
              </a:rPr>
              <a:t>Hsinchu, Taiwan</a:t>
            </a:r>
            <a:endParaRPr>
              <a:latin typeface="Arial"/>
              <a:ea typeface="Arial"/>
              <a:cs typeface="Arial"/>
              <a:sym typeface="Arial"/>
            </a:endParaRPr>
          </a:p>
        </p:txBody>
      </p:sp>
      <p:sp>
        <p:nvSpPr>
          <p:cNvPr id="72" name="Google Shape;72;p13"/>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78" name="Google Shape;78;p14"/>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SzPts val="2400"/>
              <a:buChar char="•"/>
            </a:pPr>
            <a:r>
              <a:rPr lang="zh-TW" sz="2400">
                <a:latin typeface="Arial"/>
                <a:ea typeface="Arial"/>
                <a:cs typeface="Arial"/>
                <a:sym typeface="Arial"/>
              </a:rPr>
              <a:t>Motivation</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Related Work</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Contributions</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System Overview</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Methodology</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Evaluation</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Conclusion</a:t>
            </a:r>
            <a:endParaRPr sz="2400">
              <a:latin typeface="Arial"/>
              <a:ea typeface="Arial"/>
              <a:cs typeface="Arial"/>
              <a:sym typeface="Arial"/>
            </a:endParaRPr>
          </a:p>
        </p:txBody>
      </p:sp>
      <p:sp>
        <p:nvSpPr>
          <p:cNvPr id="79" name="Google Shape;79;p14"/>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85" name="Google Shape;85;p15"/>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SzPts val="2400"/>
              <a:buChar char="•"/>
            </a:pPr>
            <a:r>
              <a:rPr lang="zh-TW" sz="2400">
                <a:latin typeface="Arial"/>
                <a:ea typeface="Arial"/>
                <a:cs typeface="Arial"/>
                <a:sym typeface="Arial"/>
              </a:rPr>
              <a:t>Motivation</a:t>
            </a:r>
            <a:endParaRPr sz="2400">
              <a:latin typeface="Arial"/>
              <a:ea typeface="Arial"/>
              <a:cs typeface="Arial"/>
              <a:sym typeface="Arial"/>
            </a:endParaRPr>
          </a:p>
          <a:p>
            <a:pPr indent="-381000" lvl="0" marL="457200" rtl="0" algn="l">
              <a:spcBef>
                <a:spcPts val="800"/>
              </a:spcBef>
              <a:spcAft>
                <a:spcPts val="0"/>
              </a:spcAft>
              <a:buClr>
                <a:srgbClr val="D9D9D9"/>
              </a:buClr>
              <a:buSzPts val="2400"/>
              <a:buFont typeface="Arial"/>
              <a:buChar char="•"/>
            </a:pPr>
            <a:r>
              <a:rPr lang="zh-TW" sz="2400">
                <a:solidFill>
                  <a:srgbClr val="D9D9D9"/>
                </a:solidFill>
                <a:latin typeface="Arial"/>
                <a:ea typeface="Arial"/>
                <a:cs typeface="Arial"/>
                <a:sym typeface="Arial"/>
              </a:rPr>
              <a:t>Related Work</a:t>
            </a:r>
            <a:endParaRPr sz="2400">
              <a:solidFill>
                <a:srgbClr val="D9D9D9"/>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Contributions</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System Overview</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Methodology</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Evaluation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86" name="Google Shape;86;p15"/>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I/Q Signal Representation for Modulation Recognition</a:t>
            </a:r>
            <a:endParaRPr/>
          </a:p>
        </p:txBody>
      </p:sp>
      <p:sp>
        <p:nvSpPr>
          <p:cNvPr id="92" name="Google Shape;92;p16"/>
          <p:cNvSpPr txBox="1"/>
          <p:nvPr>
            <p:ph idx="1" type="body"/>
          </p:nvPr>
        </p:nvSpPr>
        <p:spPr>
          <a:xfrm>
            <a:off x="628650" y="3339875"/>
            <a:ext cx="4125300" cy="1292700"/>
          </a:xfrm>
          <a:prstGeom prst="rect">
            <a:avLst/>
          </a:prstGeom>
        </p:spPr>
        <p:txBody>
          <a:bodyPr anchorCtr="0" anchor="t" bIns="34275" lIns="68575" spcFirstLastPara="1" rIns="68575" wrap="square" tIns="34275">
            <a:normAutofit/>
          </a:bodyPr>
          <a:lstStyle/>
          <a:p>
            <a:pPr indent="-349250" lvl="0" marL="457200" rtl="0" algn="l">
              <a:spcBef>
                <a:spcPts val="800"/>
              </a:spcBef>
              <a:spcAft>
                <a:spcPts val="0"/>
              </a:spcAft>
              <a:buSzPts val="1900"/>
              <a:buChar char="-"/>
            </a:pPr>
            <a:r>
              <a:rPr lang="zh-TW" sz="1900"/>
              <a:t>I = projection on cosine carrier</a:t>
            </a:r>
            <a:endParaRPr sz="1900"/>
          </a:p>
          <a:p>
            <a:pPr indent="-349250" lvl="0" marL="457200" rtl="0" algn="l">
              <a:spcBef>
                <a:spcPts val="0"/>
              </a:spcBef>
              <a:spcAft>
                <a:spcPts val="0"/>
              </a:spcAft>
              <a:buSzPts val="1900"/>
              <a:buChar char="-"/>
            </a:pPr>
            <a:r>
              <a:rPr lang="zh-TW" sz="1900"/>
              <a:t>Q = projection on sine carrier</a:t>
            </a:r>
            <a:endParaRPr sz="1900"/>
          </a:p>
          <a:p>
            <a:pPr indent="-349250" lvl="0" marL="457200" rtl="0" algn="l">
              <a:spcBef>
                <a:spcPts val="0"/>
              </a:spcBef>
              <a:spcAft>
                <a:spcPts val="0"/>
              </a:spcAft>
              <a:buSzPts val="1900"/>
              <a:buChar char="-"/>
            </a:pPr>
            <a:r>
              <a:rPr lang="zh-TW" sz="1900"/>
              <a:t>An I/Q pair becomes one point in a plane</a:t>
            </a:r>
            <a:endParaRPr sz="1900"/>
          </a:p>
        </p:txBody>
      </p:sp>
      <p:sp>
        <p:nvSpPr>
          <p:cNvPr id="93" name="Google Shape;93;p16"/>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id="94" name="Google Shape;94;p16"/>
          <p:cNvPicPr preferRelativeResize="0"/>
          <p:nvPr/>
        </p:nvPicPr>
        <p:blipFill>
          <a:blip r:embed="rId3">
            <a:alphaModFix/>
          </a:blip>
          <a:stretch>
            <a:fillRect/>
          </a:stretch>
        </p:blipFill>
        <p:spPr>
          <a:xfrm>
            <a:off x="6826275" y="1340174"/>
            <a:ext cx="1305425" cy="1165261"/>
          </a:xfrm>
          <a:prstGeom prst="rect">
            <a:avLst/>
          </a:prstGeom>
          <a:noFill/>
          <a:ln cap="flat" cmpd="sng" w="9525">
            <a:solidFill>
              <a:srgbClr val="333333"/>
            </a:solidFill>
            <a:prstDash val="solid"/>
            <a:round/>
            <a:headEnd len="sm" w="sm" type="none"/>
            <a:tailEnd len="sm" w="sm" type="none"/>
          </a:ln>
        </p:spPr>
      </p:pic>
      <p:pic>
        <p:nvPicPr>
          <p:cNvPr id="95" name="Google Shape;95;p16"/>
          <p:cNvPicPr preferRelativeResize="0"/>
          <p:nvPr/>
        </p:nvPicPr>
        <p:blipFill>
          <a:blip r:embed="rId4">
            <a:alphaModFix/>
          </a:blip>
          <a:stretch>
            <a:fillRect/>
          </a:stretch>
        </p:blipFill>
        <p:spPr>
          <a:xfrm>
            <a:off x="4753850" y="1340172"/>
            <a:ext cx="1305425" cy="1154004"/>
          </a:xfrm>
          <a:prstGeom prst="rect">
            <a:avLst/>
          </a:prstGeom>
          <a:noFill/>
          <a:ln cap="flat" cmpd="sng" w="9525">
            <a:solidFill>
              <a:srgbClr val="333333"/>
            </a:solidFill>
            <a:prstDash val="solid"/>
            <a:round/>
            <a:headEnd len="sm" w="sm" type="none"/>
            <a:tailEnd len="sm" w="sm" type="none"/>
          </a:ln>
        </p:spPr>
      </p:pic>
      <p:pic>
        <p:nvPicPr>
          <p:cNvPr id="96" name="Google Shape;96;p16"/>
          <p:cNvPicPr preferRelativeResize="0"/>
          <p:nvPr/>
        </p:nvPicPr>
        <p:blipFill>
          <a:blip r:embed="rId5">
            <a:alphaModFix/>
          </a:blip>
          <a:stretch>
            <a:fillRect/>
          </a:stretch>
        </p:blipFill>
        <p:spPr>
          <a:xfrm>
            <a:off x="4753850" y="3012175"/>
            <a:ext cx="1305425" cy="1292747"/>
          </a:xfrm>
          <a:prstGeom prst="rect">
            <a:avLst/>
          </a:prstGeom>
          <a:noFill/>
          <a:ln cap="flat" cmpd="sng" w="9525">
            <a:solidFill>
              <a:srgbClr val="333333"/>
            </a:solidFill>
            <a:prstDash val="solid"/>
            <a:round/>
            <a:headEnd len="sm" w="sm" type="none"/>
            <a:tailEnd len="sm" w="sm" type="none"/>
          </a:ln>
        </p:spPr>
      </p:pic>
      <p:pic>
        <p:nvPicPr>
          <p:cNvPr id="97" name="Google Shape;97;p16"/>
          <p:cNvPicPr preferRelativeResize="0"/>
          <p:nvPr/>
        </p:nvPicPr>
        <p:blipFill>
          <a:blip r:embed="rId6">
            <a:alphaModFix/>
          </a:blip>
          <a:stretch>
            <a:fillRect/>
          </a:stretch>
        </p:blipFill>
        <p:spPr>
          <a:xfrm>
            <a:off x="6847200" y="3022400"/>
            <a:ext cx="1284511" cy="1272025"/>
          </a:xfrm>
          <a:prstGeom prst="rect">
            <a:avLst/>
          </a:prstGeom>
          <a:noFill/>
          <a:ln cap="flat" cmpd="sng" w="9525">
            <a:solidFill>
              <a:srgbClr val="333333"/>
            </a:solidFill>
            <a:prstDash val="solid"/>
            <a:round/>
            <a:headEnd len="sm" w="sm" type="none"/>
            <a:tailEnd len="sm" w="sm" type="none"/>
          </a:ln>
        </p:spPr>
      </p:pic>
      <p:pic>
        <p:nvPicPr>
          <p:cNvPr id="98" name="Google Shape;98;p16"/>
          <p:cNvPicPr preferRelativeResize="0"/>
          <p:nvPr/>
        </p:nvPicPr>
        <p:blipFill>
          <a:blip r:embed="rId7">
            <a:alphaModFix/>
          </a:blip>
          <a:stretch>
            <a:fillRect/>
          </a:stretch>
        </p:blipFill>
        <p:spPr>
          <a:xfrm>
            <a:off x="1489511" y="1704137"/>
            <a:ext cx="2403578" cy="1505450"/>
          </a:xfrm>
          <a:prstGeom prst="rect">
            <a:avLst/>
          </a:prstGeom>
          <a:noFill/>
          <a:ln>
            <a:noFill/>
          </a:ln>
        </p:spPr>
      </p:pic>
      <p:sp>
        <p:nvSpPr>
          <p:cNvPr id="99" name="Google Shape;99;p16"/>
          <p:cNvSpPr txBox="1"/>
          <p:nvPr/>
        </p:nvSpPr>
        <p:spPr>
          <a:xfrm>
            <a:off x="4694438" y="2494175"/>
            <a:ext cx="11784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BPSK 1bit</a:t>
            </a:r>
            <a:endParaRPr>
              <a:solidFill>
                <a:schemeClr val="dk1"/>
              </a:solidFill>
            </a:endParaRPr>
          </a:p>
        </p:txBody>
      </p:sp>
      <p:sp>
        <p:nvSpPr>
          <p:cNvPr id="100" name="Google Shape;100;p16"/>
          <p:cNvSpPr txBox="1"/>
          <p:nvPr/>
        </p:nvSpPr>
        <p:spPr>
          <a:xfrm>
            <a:off x="6810738" y="2494175"/>
            <a:ext cx="11784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QP</a:t>
            </a:r>
            <a:r>
              <a:rPr lang="zh-TW">
                <a:solidFill>
                  <a:schemeClr val="dk1"/>
                </a:solidFill>
              </a:rPr>
              <a:t>SK 2bit</a:t>
            </a:r>
            <a:endParaRPr>
              <a:solidFill>
                <a:schemeClr val="dk1"/>
              </a:solidFill>
            </a:endParaRPr>
          </a:p>
        </p:txBody>
      </p:sp>
      <p:sp>
        <p:nvSpPr>
          <p:cNvPr id="101" name="Google Shape;101;p16"/>
          <p:cNvSpPr txBox="1"/>
          <p:nvPr/>
        </p:nvSpPr>
        <p:spPr>
          <a:xfrm>
            <a:off x="4817363" y="4549025"/>
            <a:ext cx="11784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8</a:t>
            </a:r>
            <a:r>
              <a:rPr lang="zh-TW">
                <a:solidFill>
                  <a:schemeClr val="dk1"/>
                </a:solidFill>
              </a:rPr>
              <a:t>PSK 3bit</a:t>
            </a:r>
            <a:endParaRPr>
              <a:solidFill>
                <a:schemeClr val="dk1"/>
              </a:solidFill>
            </a:endParaRPr>
          </a:p>
        </p:txBody>
      </p:sp>
      <p:sp>
        <p:nvSpPr>
          <p:cNvPr id="102" name="Google Shape;102;p16"/>
          <p:cNvSpPr txBox="1"/>
          <p:nvPr/>
        </p:nvSpPr>
        <p:spPr>
          <a:xfrm>
            <a:off x="6826279" y="4548750"/>
            <a:ext cx="15504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16QAM 4</a:t>
            </a:r>
            <a:r>
              <a:rPr lang="zh-TW">
                <a:solidFill>
                  <a:schemeClr val="dk1"/>
                </a:solidFill>
              </a:rPr>
              <a:t>bit</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603500" y="5724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What Is Automatic Modulation Classification (AMC)?</a:t>
            </a:r>
            <a:endParaRPr/>
          </a:p>
        </p:txBody>
      </p:sp>
      <p:sp>
        <p:nvSpPr>
          <p:cNvPr id="108" name="Google Shape;108;p17"/>
          <p:cNvSpPr txBox="1"/>
          <p:nvPr>
            <p:ph idx="1" type="body"/>
          </p:nvPr>
        </p:nvSpPr>
        <p:spPr>
          <a:xfrm>
            <a:off x="715500" y="3459650"/>
            <a:ext cx="5527200" cy="14100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zh-TW" sz="2000"/>
              <a:t>What AMC does</a:t>
            </a:r>
            <a:endParaRPr b="1" sz="2000"/>
          </a:p>
          <a:p>
            <a:pPr indent="-278885" lvl="0" marL="457200" rtl="0" algn="l">
              <a:spcBef>
                <a:spcPts val="800"/>
              </a:spcBef>
              <a:spcAft>
                <a:spcPts val="0"/>
              </a:spcAft>
              <a:buSzPts val="792"/>
              <a:buChar char="-"/>
            </a:pPr>
            <a:r>
              <a:rPr lang="zh-TW" sz="1492"/>
              <a:t>Recognizes modulation patterns from I / Q samples.</a:t>
            </a:r>
            <a:endParaRPr sz="1492"/>
          </a:p>
          <a:p>
            <a:pPr indent="-323335" lvl="0" marL="457200" rtl="0" algn="l">
              <a:spcBef>
                <a:spcPts val="0"/>
              </a:spcBef>
              <a:spcAft>
                <a:spcPts val="0"/>
              </a:spcAft>
              <a:buSzPts val="1492"/>
              <a:buChar char="-"/>
            </a:pPr>
            <a:r>
              <a:rPr lang="zh-TW" sz="1492"/>
              <a:t>Can be used before full frame decoding is available</a:t>
            </a:r>
            <a:endParaRPr sz="1492"/>
          </a:p>
          <a:p>
            <a:pPr indent="0" lvl="0" marL="0" rtl="0" algn="l">
              <a:spcBef>
                <a:spcPts val="800"/>
              </a:spcBef>
              <a:spcAft>
                <a:spcPts val="0"/>
              </a:spcAft>
              <a:buNone/>
            </a:pPr>
            <a:r>
              <a:t/>
            </a:r>
            <a:endParaRPr/>
          </a:p>
        </p:txBody>
      </p:sp>
      <p:sp>
        <p:nvSpPr>
          <p:cNvPr id="109" name="Google Shape;109;p1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id="110" name="Google Shape;110;p17"/>
          <p:cNvPicPr preferRelativeResize="0"/>
          <p:nvPr/>
        </p:nvPicPr>
        <p:blipFill>
          <a:blip r:embed="rId3">
            <a:alphaModFix/>
          </a:blip>
          <a:stretch>
            <a:fillRect/>
          </a:stretch>
        </p:blipFill>
        <p:spPr>
          <a:xfrm flipH="1">
            <a:off x="852392" y="2348600"/>
            <a:ext cx="912125" cy="903225"/>
          </a:xfrm>
          <a:prstGeom prst="rect">
            <a:avLst/>
          </a:prstGeom>
          <a:noFill/>
          <a:ln cap="flat" cmpd="sng" w="9525">
            <a:solidFill>
              <a:srgbClr val="333333"/>
            </a:solidFill>
            <a:prstDash val="solid"/>
            <a:round/>
            <a:headEnd len="sm" w="sm" type="none"/>
            <a:tailEnd len="sm" w="sm" type="none"/>
          </a:ln>
        </p:spPr>
      </p:pic>
      <p:sp>
        <p:nvSpPr>
          <p:cNvPr id="111" name="Google Shape;111;p17"/>
          <p:cNvSpPr/>
          <p:nvPr/>
        </p:nvSpPr>
        <p:spPr>
          <a:xfrm>
            <a:off x="715500" y="1573850"/>
            <a:ext cx="1185900" cy="626100"/>
          </a:xfrm>
          <a:prstGeom prst="rect">
            <a:avLst/>
          </a:prstGeom>
          <a:solidFill>
            <a:srgbClr val="EEEEE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Raw I / Q Samples</a:t>
            </a:r>
            <a:endParaRPr/>
          </a:p>
        </p:txBody>
      </p:sp>
      <p:sp>
        <p:nvSpPr>
          <p:cNvPr id="112" name="Google Shape;112;p17"/>
          <p:cNvSpPr/>
          <p:nvPr/>
        </p:nvSpPr>
        <p:spPr>
          <a:xfrm>
            <a:off x="2642275" y="1566650"/>
            <a:ext cx="2137800" cy="626100"/>
          </a:xfrm>
          <a:prstGeom prst="rect">
            <a:avLst/>
          </a:prstGeom>
          <a:solidFill>
            <a:srgbClr val="EEEEE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AMC Classifier feature extractor + model</a:t>
            </a:r>
            <a:endParaRPr/>
          </a:p>
        </p:txBody>
      </p:sp>
      <p:cxnSp>
        <p:nvCxnSpPr>
          <p:cNvPr id="113" name="Google Shape;113;p17"/>
          <p:cNvCxnSpPr>
            <a:stCxn id="111" idx="3"/>
            <a:endCxn id="112" idx="1"/>
          </p:cNvCxnSpPr>
          <p:nvPr/>
        </p:nvCxnSpPr>
        <p:spPr>
          <a:xfrm flipH="1" rot="10800000">
            <a:off x="1901400" y="1879700"/>
            <a:ext cx="741000" cy="7200"/>
          </a:xfrm>
          <a:prstGeom prst="straightConnector1">
            <a:avLst/>
          </a:prstGeom>
          <a:noFill/>
          <a:ln cap="flat" cmpd="sng" w="28575">
            <a:solidFill>
              <a:schemeClr val="dk2"/>
            </a:solidFill>
            <a:prstDash val="solid"/>
            <a:round/>
            <a:headEnd len="med" w="med" type="none"/>
            <a:tailEnd len="med" w="med" type="triangle"/>
          </a:ln>
        </p:spPr>
      </p:cxnSp>
      <p:sp>
        <p:nvSpPr>
          <p:cNvPr id="114" name="Google Shape;114;p17"/>
          <p:cNvSpPr/>
          <p:nvPr/>
        </p:nvSpPr>
        <p:spPr>
          <a:xfrm>
            <a:off x="5935875" y="1573850"/>
            <a:ext cx="2137800" cy="626100"/>
          </a:xfrm>
          <a:prstGeom prst="rect">
            <a:avLst/>
          </a:prstGeom>
          <a:solidFill>
            <a:srgbClr val="EEEEE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Output Modulation class</a:t>
            </a:r>
            <a:endParaRPr/>
          </a:p>
        </p:txBody>
      </p:sp>
      <p:cxnSp>
        <p:nvCxnSpPr>
          <p:cNvPr id="115" name="Google Shape;115;p17"/>
          <p:cNvCxnSpPr>
            <a:stCxn id="112" idx="3"/>
            <a:endCxn id="114" idx="1"/>
          </p:cNvCxnSpPr>
          <p:nvPr/>
        </p:nvCxnSpPr>
        <p:spPr>
          <a:xfrm>
            <a:off x="4780075" y="1879700"/>
            <a:ext cx="1155900" cy="7200"/>
          </a:xfrm>
          <a:prstGeom prst="straightConnector1">
            <a:avLst/>
          </a:prstGeom>
          <a:noFill/>
          <a:ln cap="flat" cmpd="sng" w="28575">
            <a:solidFill>
              <a:schemeClr val="dk2"/>
            </a:solidFill>
            <a:prstDash val="solid"/>
            <a:round/>
            <a:headEnd len="med" w="med" type="none"/>
            <a:tailEnd len="med" w="med" type="triangle"/>
          </a:ln>
        </p:spPr>
      </p:cxnSp>
      <p:sp>
        <p:nvSpPr>
          <p:cNvPr id="116" name="Google Shape;116;p17"/>
          <p:cNvSpPr/>
          <p:nvPr/>
        </p:nvSpPr>
        <p:spPr>
          <a:xfrm>
            <a:off x="7161675" y="2207150"/>
            <a:ext cx="912000" cy="3225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BPSK</a:t>
            </a:r>
            <a:endParaRPr/>
          </a:p>
        </p:txBody>
      </p:sp>
      <p:sp>
        <p:nvSpPr>
          <p:cNvPr id="117" name="Google Shape;117;p17"/>
          <p:cNvSpPr/>
          <p:nvPr/>
        </p:nvSpPr>
        <p:spPr>
          <a:xfrm>
            <a:off x="7161675" y="2529650"/>
            <a:ext cx="9120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QPSK</a:t>
            </a:r>
            <a:endParaRPr/>
          </a:p>
        </p:txBody>
      </p:sp>
      <p:sp>
        <p:nvSpPr>
          <p:cNvPr id="118" name="Google Shape;118;p17"/>
          <p:cNvSpPr/>
          <p:nvPr/>
        </p:nvSpPr>
        <p:spPr>
          <a:xfrm>
            <a:off x="7161675" y="2852150"/>
            <a:ext cx="9120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a:t>
            </a:r>
            <a:endParaRPr/>
          </a:p>
        </p:txBody>
      </p:sp>
      <p:pic>
        <p:nvPicPr>
          <p:cNvPr id="119" name="Google Shape;119;p17"/>
          <p:cNvPicPr preferRelativeResize="0"/>
          <p:nvPr/>
        </p:nvPicPr>
        <p:blipFill>
          <a:blip r:embed="rId4">
            <a:alphaModFix/>
          </a:blip>
          <a:stretch>
            <a:fillRect/>
          </a:stretch>
        </p:blipFill>
        <p:spPr>
          <a:xfrm>
            <a:off x="2864355" y="2309205"/>
            <a:ext cx="1693625" cy="1033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Motivation: Spectrum Sensing</a:t>
            </a:r>
            <a:endParaRPr/>
          </a:p>
        </p:txBody>
      </p:sp>
      <p:sp>
        <p:nvSpPr>
          <p:cNvPr id="125" name="Google Shape;125;p18"/>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descr="Hand drawn 5g mobile tower station spreading signals over city (來源：Getty Images)" id="126" name="Google Shape;126;p18"/>
          <p:cNvPicPr preferRelativeResize="0"/>
          <p:nvPr/>
        </p:nvPicPr>
        <p:blipFill>
          <a:blip r:embed="rId3">
            <a:alphaModFix/>
          </a:blip>
          <a:stretch>
            <a:fillRect/>
          </a:stretch>
        </p:blipFill>
        <p:spPr>
          <a:xfrm>
            <a:off x="387400" y="1766438"/>
            <a:ext cx="847724" cy="847724"/>
          </a:xfrm>
          <a:prstGeom prst="rect">
            <a:avLst/>
          </a:prstGeom>
          <a:noFill/>
          <a:ln>
            <a:noFill/>
          </a:ln>
        </p:spPr>
      </p:pic>
      <p:cxnSp>
        <p:nvCxnSpPr>
          <p:cNvPr id="127" name="Google Shape;127;p18"/>
          <p:cNvCxnSpPr>
            <a:stCxn id="126" idx="3"/>
            <a:endCxn id="128" idx="1"/>
          </p:cNvCxnSpPr>
          <p:nvPr/>
        </p:nvCxnSpPr>
        <p:spPr>
          <a:xfrm>
            <a:off x="1235124" y="2190300"/>
            <a:ext cx="1663800" cy="0"/>
          </a:xfrm>
          <a:prstGeom prst="straightConnector1">
            <a:avLst/>
          </a:prstGeom>
          <a:noFill/>
          <a:ln cap="flat" cmpd="sng" w="28575">
            <a:solidFill>
              <a:schemeClr val="dk2"/>
            </a:solidFill>
            <a:prstDash val="solid"/>
            <a:round/>
            <a:headEnd len="med" w="med" type="none"/>
            <a:tailEnd len="med" w="med" type="triangle"/>
          </a:ln>
        </p:spPr>
      </p:cxnSp>
      <p:pic>
        <p:nvPicPr>
          <p:cNvPr descr="Sound acoustics icon vector. Isolated contour symbol illustration (來源：Getty Images)" id="128" name="Google Shape;128;p18"/>
          <p:cNvPicPr preferRelativeResize="0"/>
          <p:nvPr/>
        </p:nvPicPr>
        <p:blipFill>
          <a:blip r:embed="rId4">
            <a:alphaModFix/>
          </a:blip>
          <a:stretch>
            <a:fillRect/>
          </a:stretch>
        </p:blipFill>
        <p:spPr>
          <a:xfrm>
            <a:off x="2898925" y="1874326"/>
            <a:ext cx="631951" cy="631951"/>
          </a:xfrm>
          <a:prstGeom prst="rect">
            <a:avLst/>
          </a:prstGeom>
          <a:noFill/>
          <a:ln>
            <a:noFill/>
          </a:ln>
        </p:spPr>
      </p:pic>
      <p:pic>
        <p:nvPicPr>
          <p:cNvPr descr="satellite land and house icon vector. Isolated contour symbol illustration (來源：Getty Images)" id="129" name="Google Shape;129;p18"/>
          <p:cNvPicPr preferRelativeResize="0"/>
          <p:nvPr/>
        </p:nvPicPr>
        <p:blipFill>
          <a:blip r:embed="rId5">
            <a:alphaModFix/>
          </a:blip>
          <a:stretch>
            <a:fillRect/>
          </a:stretch>
        </p:blipFill>
        <p:spPr>
          <a:xfrm>
            <a:off x="5443575" y="1808850"/>
            <a:ext cx="762900" cy="762900"/>
          </a:xfrm>
          <a:prstGeom prst="rect">
            <a:avLst/>
          </a:prstGeom>
          <a:noFill/>
          <a:ln>
            <a:noFill/>
          </a:ln>
          <a:effectLst>
            <a:outerShdw blurRad="57150" rotWithShape="0" algn="bl" dir="5400000" dist="19050">
              <a:srgbClr val="000000">
                <a:alpha val="40000"/>
              </a:srgbClr>
            </a:outerShdw>
          </a:effectLst>
        </p:spPr>
      </p:pic>
      <p:cxnSp>
        <p:nvCxnSpPr>
          <p:cNvPr id="130" name="Google Shape;130;p18"/>
          <p:cNvCxnSpPr>
            <a:stCxn id="128" idx="3"/>
            <a:endCxn id="129" idx="1"/>
          </p:cNvCxnSpPr>
          <p:nvPr/>
        </p:nvCxnSpPr>
        <p:spPr>
          <a:xfrm>
            <a:off x="3530877" y="2190302"/>
            <a:ext cx="1912800" cy="0"/>
          </a:xfrm>
          <a:prstGeom prst="straightConnector1">
            <a:avLst/>
          </a:prstGeom>
          <a:noFill/>
          <a:ln cap="flat" cmpd="sng" w="28575">
            <a:solidFill>
              <a:schemeClr val="dk2"/>
            </a:solidFill>
            <a:prstDash val="solid"/>
            <a:round/>
            <a:headEnd len="med" w="med" type="none"/>
            <a:tailEnd len="med" w="med" type="triangle"/>
          </a:ln>
        </p:spPr>
      </p:cxnSp>
      <p:sp>
        <p:nvSpPr>
          <p:cNvPr id="131" name="Google Shape;131;p18"/>
          <p:cNvSpPr txBox="1"/>
          <p:nvPr/>
        </p:nvSpPr>
        <p:spPr>
          <a:xfrm>
            <a:off x="2229700" y="1451650"/>
            <a:ext cx="2197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a:solidFill>
                  <a:schemeClr val="dk1"/>
                </a:solidFill>
              </a:rPr>
              <a:t>wireless channel</a:t>
            </a:r>
            <a:endParaRPr b="1">
              <a:solidFill>
                <a:schemeClr val="dk1"/>
              </a:solidFill>
            </a:endParaRPr>
          </a:p>
        </p:txBody>
      </p:sp>
      <p:sp>
        <p:nvSpPr>
          <p:cNvPr id="132" name="Google Shape;132;p18"/>
          <p:cNvSpPr txBox="1"/>
          <p:nvPr/>
        </p:nvSpPr>
        <p:spPr>
          <a:xfrm>
            <a:off x="4521850" y="1365725"/>
            <a:ext cx="2718600" cy="34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a:solidFill>
                  <a:schemeClr val="dk1"/>
                </a:solidFill>
              </a:rPr>
              <a:t>Spectrum sensing system</a:t>
            </a:r>
            <a:endParaRPr b="1">
              <a:solidFill>
                <a:schemeClr val="dk1"/>
              </a:solidFill>
            </a:endParaRPr>
          </a:p>
        </p:txBody>
      </p:sp>
      <p:sp>
        <p:nvSpPr>
          <p:cNvPr id="133" name="Google Shape;133;p18"/>
          <p:cNvSpPr txBox="1"/>
          <p:nvPr/>
        </p:nvSpPr>
        <p:spPr>
          <a:xfrm>
            <a:off x="3029750" y="2723813"/>
            <a:ext cx="27186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get occupied segment [2, 128]</a:t>
            </a:r>
            <a:endParaRPr>
              <a:solidFill>
                <a:schemeClr val="dk1"/>
              </a:solidFill>
            </a:endParaRPr>
          </a:p>
        </p:txBody>
      </p:sp>
      <p:sp>
        <p:nvSpPr>
          <p:cNvPr id="134" name="Google Shape;134;p18"/>
          <p:cNvSpPr txBox="1"/>
          <p:nvPr/>
        </p:nvSpPr>
        <p:spPr>
          <a:xfrm>
            <a:off x="5426025" y="3257250"/>
            <a:ext cx="798000" cy="381600"/>
          </a:xfrm>
          <a:prstGeom prst="rect">
            <a:avLst/>
          </a:prstGeom>
          <a:solidFill>
            <a:srgbClr val="E0E0E0"/>
          </a:solidFill>
          <a:ln cap="flat" cmpd="sng" w="9525">
            <a:solidFill>
              <a:srgbClr val="E0E0E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   AMC</a:t>
            </a:r>
            <a:endParaRPr sz="1200">
              <a:solidFill>
                <a:schemeClr val="dk1"/>
              </a:solidFill>
            </a:endParaRPr>
          </a:p>
        </p:txBody>
      </p:sp>
      <p:cxnSp>
        <p:nvCxnSpPr>
          <p:cNvPr id="135" name="Google Shape;135;p18"/>
          <p:cNvCxnSpPr>
            <a:stCxn id="129" idx="2"/>
            <a:endCxn id="134" idx="0"/>
          </p:cNvCxnSpPr>
          <p:nvPr/>
        </p:nvCxnSpPr>
        <p:spPr>
          <a:xfrm>
            <a:off x="5825025" y="2571751"/>
            <a:ext cx="0" cy="685500"/>
          </a:xfrm>
          <a:prstGeom prst="straightConnector1">
            <a:avLst/>
          </a:prstGeom>
          <a:noFill/>
          <a:ln cap="flat" cmpd="sng" w="28575">
            <a:solidFill>
              <a:schemeClr val="dk2"/>
            </a:solidFill>
            <a:prstDash val="solid"/>
            <a:round/>
            <a:headEnd len="med" w="med" type="none"/>
            <a:tailEnd len="med" w="med" type="triangle"/>
          </a:ln>
        </p:spPr>
      </p:cxnSp>
      <p:sp>
        <p:nvSpPr>
          <p:cNvPr id="136" name="Google Shape;136;p18"/>
          <p:cNvSpPr txBox="1"/>
          <p:nvPr/>
        </p:nvSpPr>
        <p:spPr>
          <a:xfrm>
            <a:off x="443800" y="3907550"/>
            <a:ext cx="3983100" cy="9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rPr>
              <a:t>SENSING = WHERE / WHEN</a:t>
            </a:r>
            <a:endParaRPr sz="2100">
              <a:solidFill>
                <a:schemeClr val="dk1"/>
              </a:solidFill>
            </a:endParaRPr>
          </a:p>
          <a:p>
            <a:pPr indent="0" lvl="0" marL="0" rtl="0" algn="l">
              <a:spcBef>
                <a:spcPts val="0"/>
              </a:spcBef>
              <a:spcAft>
                <a:spcPts val="0"/>
              </a:spcAft>
              <a:buNone/>
            </a:pPr>
            <a:r>
              <a:rPr lang="zh-TW">
                <a:solidFill>
                  <a:schemeClr val="dk1"/>
                </a:solidFill>
              </a:rPr>
              <a:t>Detect occupancy in time (and band), is there a signal, and where? e.g., energy detection</a:t>
            </a:r>
            <a:endParaRPr>
              <a:solidFill>
                <a:schemeClr val="dk1"/>
              </a:solidFill>
            </a:endParaRPr>
          </a:p>
        </p:txBody>
      </p:sp>
      <p:sp>
        <p:nvSpPr>
          <p:cNvPr id="137" name="Google Shape;137;p18"/>
          <p:cNvSpPr txBox="1"/>
          <p:nvPr/>
        </p:nvSpPr>
        <p:spPr>
          <a:xfrm>
            <a:off x="4763400" y="3907550"/>
            <a:ext cx="3983100" cy="9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rPr>
              <a:t>AMC = WHAT</a:t>
            </a:r>
            <a:endParaRPr sz="2100">
              <a:solidFill>
                <a:schemeClr val="dk1"/>
              </a:solidFill>
            </a:endParaRPr>
          </a:p>
          <a:p>
            <a:pPr indent="0" lvl="0" marL="0" rtl="0" algn="l">
              <a:spcBef>
                <a:spcPts val="0"/>
              </a:spcBef>
              <a:spcAft>
                <a:spcPts val="0"/>
              </a:spcAft>
              <a:buNone/>
            </a:pPr>
            <a:r>
              <a:rPr lang="zh-TW">
                <a:solidFill>
                  <a:schemeClr val="dk1"/>
                </a:solidFill>
              </a:rPr>
              <a:t>Classifies the modulation of the isolated segment</a:t>
            </a:r>
            <a:endParaRPr>
              <a:solidFill>
                <a:schemeClr val="dk1"/>
              </a:solidFill>
            </a:endParaRPr>
          </a:p>
        </p:txBody>
      </p:sp>
      <p:sp>
        <p:nvSpPr>
          <p:cNvPr id="138" name="Google Shape;138;p18"/>
          <p:cNvSpPr txBox="1"/>
          <p:nvPr/>
        </p:nvSpPr>
        <p:spPr>
          <a:xfrm>
            <a:off x="6408875" y="1913250"/>
            <a:ext cx="176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a:solidFill>
                  <a:schemeClr val="dk1"/>
                </a:solidFill>
              </a:rPr>
              <a:t>energy detection</a:t>
            </a:r>
            <a:endParaRPr sz="1200">
              <a:solidFill>
                <a:schemeClr val="dk1"/>
              </a:solidFill>
            </a:endParaRPr>
          </a:p>
          <a:p>
            <a:pPr indent="0" lvl="0" marL="0" rtl="0" algn="l">
              <a:spcBef>
                <a:spcPts val="0"/>
              </a:spcBef>
              <a:spcAft>
                <a:spcPts val="0"/>
              </a:spcAft>
              <a:buNone/>
            </a:pPr>
            <a:r>
              <a:rPr lang="zh-TW" sz="1200">
                <a:solidFill>
                  <a:schemeClr val="dk1"/>
                </a:solidFill>
              </a:rPr>
              <a:t>find occupied region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p:nvPr/>
        </p:nvSpPr>
        <p:spPr>
          <a:xfrm>
            <a:off x="1794300" y="2809800"/>
            <a:ext cx="5296200" cy="1927500"/>
          </a:xfrm>
          <a:prstGeom prst="roundRect">
            <a:avLst>
              <a:gd fmla="val 16667" name="adj"/>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9"/>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RF Receiver Pipeline</a:t>
            </a:r>
            <a:endParaRPr/>
          </a:p>
        </p:txBody>
      </p:sp>
      <p:sp>
        <p:nvSpPr>
          <p:cNvPr id="145" name="Google Shape;145;p19"/>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descr="Hand drawn 5g mobile tower station spreading signals over city (來源：Getty Images)" id="146" name="Google Shape;146;p19"/>
          <p:cNvPicPr preferRelativeResize="0"/>
          <p:nvPr/>
        </p:nvPicPr>
        <p:blipFill>
          <a:blip r:embed="rId3">
            <a:alphaModFix/>
          </a:blip>
          <a:stretch>
            <a:fillRect/>
          </a:stretch>
        </p:blipFill>
        <p:spPr>
          <a:xfrm>
            <a:off x="441700" y="1464050"/>
            <a:ext cx="847724" cy="847724"/>
          </a:xfrm>
          <a:prstGeom prst="rect">
            <a:avLst/>
          </a:prstGeom>
          <a:noFill/>
          <a:ln>
            <a:noFill/>
          </a:ln>
        </p:spPr>
      </p:pic>
      <p:cxnSp>
        <p:nvCxnSpPr>
          <p:cNvPr id="147" name="Google Shape;147;p19"/>
          <p:cNvCxnSpPr>
            <a:stCxn id="146" idx="3"/>
            <a:endCxn id="148" idx="1"/>
          </p:cNvCxnSpPr>
          <p:nvPr/>
        </p:nvCxnSpPr>
        <p:spPr>
          <a:xfrm>
            <a:off x="1289424" y="1887912"/>
            <a:ext cx="1826100" cy="0"/>
          </a:xfrm>
          <a:prstGeom prst="straightConnector1">
            <a:avLst/>
          </a:prstGeom>
          <a:noFill/>
          <a:ln cap="flat" cmpd="sng" w="28575">
            <a:solidFill>
              <a:schemeClr val="dk2"/>
            </a:solidFill>
            <a:prstDash val="solid"/>
            <a:round/>
            <a:headEnd len="med" w="med" type="none"/>
            <a:tailEnd len="med" w="med" type="triangle"/>
          </a:ln>
        </p:spPr>
      </p:cxnSp>
      <p:pic>
        <p:nvPicPr>
          <p:cNvPr descr="Sound acoustics icon vector. Isolated contour symbol illustration (來源：Getty Images)" id="148" name="Google Shape;148;p19"/>
          <p:cNvPicPr preferRelativeResize="0"/>
          <p:nvPr/>
        </p:nvPicPr>
        <p:blipFill>
          <a:blip r:embed="rId4">
            <a:alphaModFix/>
          </a:blip>
          <a:stretch>
            <a:fillRect/>
          </a:stretch>
        </p:blipFill>
        <p:spPr>
          <a:xfrm>
            <a:off x="3115400" y="1571926"/>
            <a:ext cx="631951" cy="631951"/>
          </a:xfrm>
          <a:prstGeom prst="rect">
            <a:avLst/>
          </a:prstGeom>
          <a:noFill/>
          <a:ln>
            <a:noFill/>
          </a:ln>
        </p:spPr>
      </p:pic>
      <p:pic>
        <p:nvPicPr>
          <p:cNvPr descr="satellite land and house icon vector. Isolated contour symbol illustration (來源：Getty Images)" id="149" name="Google Shape;149;p19"/>
          <p:cNvPicPr preferRelativeResize="0"/>
          <p:nvPr/>
        </p:nvPicPr>
        <p:blipFill>
          <a:blip r:embed="rId5">
            <a:alphaModFix/>
          </a:blip>
          <a:stretch>
            <a:fillRect/>
          </a:stretch>
        </p:blipFill>
        <p:spPr>
          <a:xfrm>
            <a:off x="6807750" y="1506463"/>
            <a:ext cx="762900" cy="762900"/>
          </a:xfrm>
          <a:prstGeom prst="rect">
            <a:avLst/>
          </a:prstGeom>
          <a:noFill/>
          <a:ln>
            <a:noFill/>
          </a:ln>
          <a:effectLst>
            <a:outerShdw blurRad="57150" rotWithShape="0" algn="bl" dir="5400000" dist="19050">
              <a:srgbClr val="000000">
                <a:alpha val="40000"/>
              </a:srgbClr>
            </a:outerShdw>
          </a:effectLst>
        </p:spPr>
      </p:pic>
      <p:cxnSp>
        <p:nvCxnSpPr>
          <p:cNvPr id="150" name="Google Shape;150;p19"/>
          <p:cNvCxnSpPr>
            <a:stCxn id="148" idx="3"/>
            <a:endCxn id="149" idx="1"/>
          </p:cNvCxnSpPr>
          <p:nvPr/>
        </p:nvCxnSpPr>
        <p:spPr>
          <a:xfrm>
            <a:off x="3747352" y="1887902"/>
            <a:ext cx="3060300" cy="0"/>
          </a:xfrm>
          <a:prstGeom prst="straightConnector1">
            <a:avLst/>
          </a:prstGeom>
          <a:noFill/>
          <a:ln cap="flat" cmpd="sng" w="28575">
            <a:solidFill>
              <a:schemeClr val="dk2"/>
            </a:solidFill>
            <a:prstDash val="solid"/>
            <a:round/>
            <a:headEnd len="med" w="med" type="none"/>
            <a:tailEnd len="med" w="med" type="triangle"/>
          </a:ln>
        </p:spPr>
      </p:cxnSp>
      <p:sp>
        <p:nvSpPr>
          <p:cNvPr id="151" name="Google Shape;151;p19"/>
          <p:cNvSpPr txBox="1"/>
          <p:nvPr/>
        </p:nvSpPr>
        <p:spPr>
          <a:xfrm>
            <a:off x="2592575" y="1398200"/>
            <a:ext cx="16776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a:solidFill>
                  <a:schemeClr val="dk1"/>
                </a:solidFill>
              </a:rPr>
              <a:t>wireless channel</a:t>
            </a:r>
            <a:endParaRPr b="1">
              <a:solidFill>
                <a:schemeClr val="dk1"/>
              </a:solidFill>
            </a:endParaRPr>
          </a:p>
        </p:txBody>
      </p:sp>
      <p:sp>
        <p:nvSpPr>
          <p:cNvPr id="152" name="Google Shape;152;p19"/>
          <p:cNvSpPr txBox="1"/>
          <p:nvPr/>
        </p:nvSpPr>
        <p:spPr>
          <a:xfrm>
            <a:off x="5844875" y="1117850"/>
            <a:ext cx="2703000" cy="34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a:solidFill>
                  <a:schemeClr val="dk1"/>
                </a:solidFill>
              </a:rPr>
              <a:t>Receiver spectrum sensing</a:t>
            </a:r>
            <a:endParaRPr b="1">
              <a:solidFill>
                <a:schemeClr val="dk1"/>
              </a:solidFill>
            </a:endParaRPr>
          </a:p>
        </p:txBody>
      </p:sp>
      <p:sp>
        <p:nvSpPr>
          <p:cNvPr id="153" name="Google Shape;153;p19"/>
          <p:cNvSpPr txBox="1"/>
          <p:nvPr/>
        </p:nvSpPr>
        <p:spPr>
          <a:xfrm>
            <a:off x="2033125" y="3048200"/>
            <a:ext cx="1129500" cy="5136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Antenna / RF Front-End</a:t>
            </a:r>
            <a:endParaRPr sz="1200">
              <a:solidFill>
                <a:schemeClr val="dk1"/>
              </a:solidFill>
            </a:endParaRPr>
          </a:p>
        </p:txBody>
      </p:sp>
      <p:sp>
        <p:nvSpPr>
          <p:cNvPr id="154" name="Google Shape;154;p19"/>
          <p:cNvSpPr txBox="1"/>
          <p:nvPr/>
        </p:nvSpPr>
        <p:spPr>
          <a:xfrm>
            <a:off x="3573813" y="3006000"/>
            <a:ext cx="1522800" cy="577800"/>
          </a:xfrm>
          <a:prstGeom prst="rect">
            <a:avLst/>
          </a:prstGeom>
          <a:solidFill>
            <a:srgbClr val="E0E0E0"/>
          </a:solidFill>
          <a:ln cap="flat" cmpd="sng" w="9525">
            <a:solidFill>
              <a:srgbClr val="E0E0E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zh-TW" sz="1200">
                <a:solidFill>
                  <a:schemeClr val="dk1"/>
                </a:solidFill>
              </a:rPr>
              <a:t>AGC</a:t>
            </a:r>
            <a:endParaRPr sz="1200">
              <a:solidFill>
                <a:schemeClr val="dk1"/>
              </a:solidFill>
            </a:endParaRPr>
          </a:p>
          <a:p>
            <a:pPr indent="0" lvl="0" marL="0" rtl="0" algn="l">
              <a:spcBef>
                <a:spcPts val="0"/>
              </a:spcBef>
              <a:spcAft>
                <a:spcPts val="0"/>
              </a:spcAft>
              <a:buNone/>
            </a:pPr>
            <a:r>
              <a:rPr lang="zh-TW" sz="1200">
                <a:solidFill>
                  <a:schemeClr val="dk1"/>
                </a:solidFill>
              </a:rPr>
              <a:t>(gain normalization)</a:t>
            </a:r>
            <a:endParaRPr sz="1200">
              <a:solidFill>
                <a:schemeClr val="dk1"/>
              </a:solidFill>
            </a:endParaRPr>
          </a:p>
        </p:txBody>
      </p:sp>
      <p:sp>
        <p:nvSpPr>
          <p:cNvPr id="155" name="Google Shape;155;p19"/>
          <p:cNvSpPr txBox="1"/>
          <p:nvPr/>
        </p:nvSpPr>
        <p:spPr>
          <a:xfrm>
            <a:off x="5597125" y="3016100"/>
            <a:ext cx="1129500" cy="5778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Energy / PSD monitor</a:t>
            </a:r>
            <a:endParaRPr sz="1200">
              <a:solidFill>
                <a:schemeClr val="dk1"/>
              </a:solidFill>
            </a:endParaRPr>
          </a:p>
        </p:txBody>
      </p:sp>
      <p:sp>
        <p:nvSpPr>
          <p:cNvPr id="156" name="Google Shape;156;p19"/>
          <p:cNvSpPr txBox="1"/>
          <p:nvPr/>
        </p:nvSpPr>
        <p:spPr>
          <a:xfrm>
            <a:off x="2033125" y="4122475"/>
            <a:ext cx="1395600" cy="346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Sketch / Blanker</a:t>
            </a:r>
            <a:endParaRPr sz="1200">
              <a:solidFill>
                <a:schemeClr val="dk1"/>
              </a:solidFill>
            </a:endParaRPr>
          </a:p>
        </p:txBody>
      </p:sp>
      <p:sp>
        <p:nvSpPr>
          <p:cNvPr id="157" name="Google Shape;157;p19"/>
          <p:cNvSpPr txBox="1"/>
          <p:nvPr/>
        </p:nvSpPr>
        <p:spPr>
          <a:xfrm>
            <a:off x="5203800" y="4107500"/>
            <a:ext cx="1522800" cy="346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DDC / Channelizer</a:t>
            </a:r>
            <a:endParaRPr sz="1200">
              <a:solidFill>
                <a:schemeClr val="dk1"/>
              </a:solidFill>
            </a:endParaRPr>
          </a:p>
        </p:txBody>
      </p:sp>
      <p:cxnSp>
        <p:nvCxnSpPr>
          <p:cNvPr id="158" name="Google Shape;158;p19"/>
          <p:cNvCxnSpPr>
            <a:stCxn id="153" idx="3"/>
            <a:endCxn id="154" idx="1"/>
          </p:cNvCxnSpPr>
          <p:nvPr/>
        </p:nvCxnSpPr>
        <p:spPr>
          <a:xfrm flipH="1" rot="10800000">
            <a:off x="3162625" y="3294800"/>
            <a:ext cx="411300" cy="10200"/>
          </a:xfrm>
          <a:prstGeom prst="straightConnector1">
            <a:avLst/>
          </a:prstGeom>
          <a:noFill/>
          <a:ln cap="flat" cmpd="sng" w="28575">
            <a:solidFill>
              <a:schemeClr val="dk2"/>
            </a:solidFill>
            <a:prstDash val="solid"/>
            <a:round/>
            <a:headEnd len="med" w="med" type="none"/>
            <a:tailEnd len="med" w="med" type="triangle"/>
          </a:ln>
        </p:spPr>
      </p:cxnSp>
      <p:cxnSp>
        <p:nvCxnSpPr>
          <p:cNvPr id="159" name="Google Shape;159;p19"/>
          <p:cNvCxnSpPr>
            <a:stCxn id="154" idx="3"/>
            <a:endCxn id="155" idx="1"/>
          </p:cNvCxnSpPr>
          <p:nvPr/>
        </p:nvCxnSpPr>
        <p:spPr>
          <a:xfrm>
            <a:off x="5096613" y="3294900"/>
            <a:ext cx="500400" cy="10200"/>
          </a:xfrm>
          <a:prstGeom prst="straightConnector1">
            <a:avLst/>
          </a:prstGeom>
          <a:noFill/>
          <a:ln cap="flat" cmpd="sng" w="28575">
            <a:solidFill>
              <a:schemeClr val="dk2"/>
            </a:solidFill>
            <a:prstDash val="solid"/>
            <a:round/>
            <a:headEnd len="med" w="med" type="none"/>
            <a:tailEnd len="med" w="med" type="triangle"/>
          </a:ln>
        </p:spPr>
      </p:cxnSp>
      <p:cxnSp>
        <p:nvCxnSpPr>
          <p:cNvPr id="160" name="Google Shape;160;p19"/>
          <p:cNvCxnSpPr>
            <a:stCxn id="155" idx="2"/>
            <a:endCxn id="156" idx="0"/>
          </p:cNvCxnSpPr>
          <p:nvPr/>
        </p:nvCxnSpPr>
        <p:spPr>
          <a:xfrm rot="5400000">
            <a:off x="4182175" y="2142800"/>
            <a:ext cx="528600" cy="3430800"/>
          </a:xfrm>
          <a:prstGeom prst="curvedConnector3">
            <a:avLst>
              <a:gd fmla="val 49998" name="adj1"/>
            </a:avLst>
          </a:prstGeom>
          <a:noFill/>
          <a:ln cap="flat" cmpd="sng" w="28575">
            <a:solidFill>
              <a:schemeClr val="dk2"/>
            </a:solidFill>
            <a:prstDash val="solid"/>
            <a:round/>
            <a:headEnd len="med" w="med" type="none"/>
            <a:tailEnd len="med" w="med" type="none"/>
          </a:ln>
        </p:spPr>
      </p:cxnSp>
      <p:cxnSp>
        <p:nvCxnSpPr>
          <p:cNvPr id="161" name="Google Shape;161;p19"/>
          <p:cNvCxnSpPr>
            <a:stCxn id="156" idx="3"/>
            <a:endCxn id="157" idx="1"/>
          </p:cNvCxnSpPr>
          <p:nvPr/>
        </p:nvCxnSpPr>
        <p:spPr>
          <a:xfrm flipH="1" rot="10800000">
            <a:off x="3428725" y="4280575"/>
            <a:ext cx="1775100" cy="15000"/>
          </a:xfrm>
          <a:prstGeom prst="straightConnector1">
            <a:avLst/>
          </a:prstGeom>
          <a:noFill/>
          <a:ln cap="flat" cmpd="sng" w="28575">
            <a:solidFill>
              <a:schemeClr val="dk2"/>
            </a:solidFill>
            <a:prstDash val="solid"/>
            <a:round/>
            <a:headEnd len="med" w="med" type="none"/>
            <a:tailEnd len="med" w="med" type="triangle"/>
          </a:ln>
        </p:spPr>
      </p:cxnSp>
      <p:cxnSp>
        <p:nvCxnSpPr>
          <p:cNvPr id="162" name="Google Shape;162;p19"/>
          <p:cNvCxnSpPr>
            <a:stCxn id="157" idx="3"/>
            <a:endCxn id="163" idx="1"/>
          </p:cNvCxnSpPr>
          <p:nvPr/>
        </p:nvCxnSpPr>
        <p:spPr>
          <a:xfrm flipH="1" rot="10800000">
            <a:off x="6726600" y="3743900"/>
            <a:ext cx="1425600" cy="536700"/>
          </a:xfrm>
          <a:prstGeom prst="straightConnector1">
            <a:avLst/>
          </a:prstGeom>
          <a:noFill/>
          <a:ln cap="flat" cmpd="sng" w="28575">
            <a:solidFill>
              <a:schemeClr val="dk2"/>
            </a:solidFill>
            <a:prstDash val="solid"/>
            <a:round/>
            <a:headEnd len="med" w="med" type="none"/>
            <a:tailEnd len="med" w="med" type="triangle"/>
          </a:ln>
        </p:spPr>
      </p:cxnSp>
      <p:sp>
        <p:nvSpPr>
          <p:cNvPr id="164" name="Google Shape;164;p19"/>
          <p:cNvSpPr txBox="1"/>
          <p:nvPr/>
        </p:nvSpPr>
        <p:spPr>
          <a:xfrm>
            <a:off x="4386950" y="2373000"/>
            <a:ext cx="9762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000">
                <a:solidFill>
                  <a:schemeClr val="dk1"/>
                </a:solidFill>
              </a:rPr>
              <a:t>RF RX pipeline</a:t>
            </a:r>
            <a:endParaRPr b="1" sz="1000">
              <a:solidFill>
                <a:schemeClr val="dk1"/>
              </a:solidFill>
            </a:endParaRPr>
          </a:p>
        </p:txBody>
      </p:sp>
      <p:sp>
        <p:nvSpPr>
          <p:cNvPr id="163" name="Google Shape;163;p19"/>
          <p:cNvSpPr txBox="1"/>
          <p:nvPr/>
        </p:nvSpPr>
        <p:spPr>
          <a:xfrm>
            <a:off x="8152250" y="3552950"/>
            <a:ext cx="798000" cy="381600"/>
          </a:xfrm>
          <a:prstGeom prst="rect">
            <a:avLst/>
          </a:prstGeom>
          <a:solidFill>
            <a:srgbClr val="E0E0E0"/>
          </a:solidFill>
          <a:ln cap="flat" cmpd="sng" w="9525">
            <a:solidFill>
              <a:srgbClr val="E0E0E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   AMC</a:t>
            </a:r>
            <a:endParaRPr sz="1200">
              <a:solidFill>
                <a:schemeClr val="dk1"/>
              </a:solidFill>
            </a:endParaRPr>
          </a:p>
        </p:txBody>
      </p:sp>
      <p:cxnSp>
        <p:nvCxnSpPr>
          <p:cNvPr id="165" name="Google Shape;165;p19"/>
          <p:cNvCxnSpPr>
            <a:endCxn id="153" idx="0"/>
          </p:cNvCxnSpPr>
          <p:nvPr/>
        </p:nvCxnSpPr>
        <p:spPr>
          <a:xfrm flipH="1">
            <a:off x="2597875" y="2175500"/>
            <a:ext cx="4177800" cy="872700"/>
          </a:xfrm>
          <a:prstGeom prst="curvedConnector2">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Motivation: Where AMC Fits</a:t>
            </a:r>
            <a:endParaRPr/>
          </a:p>
        </p:txBody>
      </p:sp>
      <p:sp>
        <p:nvSpPr>
          <p:cNvPr id="171" name="Google Shape;171;p20"/>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317500" lvl="0" marL="457200" rtl="0" algn="l">
              <a:spcBef>
                <a:spcPts val="800"/>
              </a:spcBef>
              <a:spcAft>
                <a:spcPts val="0"/>
              </a:spcAft>
              <a:buSzPts val="1400"/>
              <a:buChar char="-"/>
            </a:pPr>
            <a:r>
              <a:rPr lang="zh-TW"/>
              <a:t>Traditional RF receivers already include </a:t>
            </a:r>
            <a:r>
              <a:rPr b="1" lang="zh-TW"/>
              <a:t>synchronization, header decoding, lock detection, SNR estimation, EVM, and CRC checks</a:t>
            </a:r>
            <a:r>
              <a:rPr lang="zh-TW"/>
              <a:t>. Therefore, AMC is not intended to replace a standard receiver pipeline.</a:t>
            </a:r>
            <a:endParaRPr/>
          </a:p>
          <a:p>
            <a:pPr indent="0" lvl="0" marL="457200" rtl="0" algn="l">
              <a:spcBef>
                <a:spcPts val="800"/>
              </a:spcBef>
              <a:spcAft>
                <a:spcPts val="0"/>
              </a:spcAft>
              <a:buNone/>
            </a:pPr>
            <a:r>
              <a:t/>
            </a:r>
            <a:endParaRPr/>
          </a:p>
          <a:p>
            <a:pPr indent="-317500" lvl="0" marL="457200" rtl="0" algn="l">
              <a:spcBef>
                <a:spcPts val="800"/>
              </a:spcBef>
              <a:spcAft>
                <a:spcPts val="0"/>
              </a:spcAft>
              <a:buSzPts val="1400"/>
              <a:buChar char="-"/>
            </a:pPr>
            <a:r>
              <a:rPr lang="zh-TW"/>
              <a:t>In this work, AMC is considered as a pre-demodulation RF sensing task for </a:t>
            </a:r>
            <a:r>
              <a:rPr b="1" lang="zh-TW"/>
              <a:t>unknown or partially known signals.</a:t>
            </a:r>
            <a:r>
              <a:rPr lang="zh-TW"/>
              <a:t> It provides a coarse modulation-family estimate from raw I/Q samples, which can help </a:t>
            </a:r>
            <a:r>
              <a:rPr b="1" lang="zh-TW"/>
              <a:t>signal classifier, decoder routing, and robustness evaluation</a:t>
            </a:r>
            <a:r>
              <a:rPr lang="zh-TW"/>
              <a:t> under interference or adversarial perturbation. </a:t>
            </a:r>
            <a:endParaRPr/>
          </a:p>
        </p:txBody>
      </p:sp>
      <p:sp>
        <p:nvSpPr>
          <p:cNvPr id="172" name="Google Shape;172;p20"/>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Motivation</a:t>
            </a:r>
            <a:endParaRPr/>
          </a:p>
        </p:txBody>
      </p:sp>
      <p:sp>
        <p:nvSpPr>
          <p:cNvPr id="178" name="Google Shape;178;p21"/>
          <p:cNvSpPr txBox="1"/>
          <p:nvPr>
            <p:ph idx="1" type="body"/>
          </p:nvPr>
        </p:nvSpPr>
        <p:spPr>
          <a:xfrm>
            <a:off x="628650" y="2680450"/>
            <a:ext cx="7886700" cy="1952100"/>
          </a:xfrm>
          <a:prstGeom prst="rect">
            <a:avLst/>
          </a:prstGeom>
        </p:spPr>
        <p:txBody>
          <a:bodyPr anchorCtr="0" anchor="t" bIns="34275" lIns="68575" spcFirstLastPara="1" rIns="68575" wrap="square" tIns="34275">
            <a:normAutofit lnSpcReduction="10000"/>
          </a:bodyPr>
          <a:lstStyle/>
          <a:p>
            <a:pPr indent="-317500" lvl="0" marL="457200" rtl="0" algn="l">
              <a:spcBef>
                <a:spcPts val="800"/>
              </a:spcBef>
              <a:spcAft>
                <a:spcPts val="0"/>
              </a:spcAft>
              <a:buSzPts val="1400"/>
              <a:buChar char="-"/>
            </a:pPr>
            <a:r>
              <a:rPr b="1" lang="zh-TW"/>
              <a:t>Goal</a:t>
            </a:r>
            <a:r>
              <a:rPr lang="zh-TW"/>
              <a:t>: using AMC for cognitive satellite communication</a:t>
            </a:r>
            <a:endParaRPr/>
          </a:p>
          <a:p>
            <a:pPr indent="-317500" lvl="0" marL="457200" rtl="0" algn="l">
              <a:spcBef>
                <a:spcPts val="0"/>
              </a:spcBef>
              <a:spcAft>
                <a:spcPts val="0"/>
              </a:spcAft>
              <a:buSzPts val="1400"/>
              <a:buChar char="-"/>
            </a:pPr>
            <a:r>
              <a:rPr b="1" lang="zh-TW"/>
              <a:t>Why does modulation classification help?</a:t>
            </a:r>
            <a:endParaRPr b="1"/>
          </a:p>
          <a:p>
            <a:pPr indent="-317500" lvl="1" marL="914400" rtl="0" algn="l">
              <a:spcBef>
                <a:spcPts val="0"/>
              </a:spcBef>
              <a:spcAft>
                <a:spcPts val="0"/>
              </a:spcAft>
              <a:buSzPts val="1400"/>
              <a:buChar char="-"/>
            </a:pPr>
            <a:r>
              <a:rPr b="1" lang="zh-TW"/>
              <a:t>Receiver path selection: </a:t>
            </a:r>
            <a:r>
              <a:rPr lang="zh-TW"/>
              <a:t>Estimate PSK / APSK / QAM family before choosing a candidate demodulation chain.</a:t>
            </a:r>
            <a:endParaRPr/>
          </a:p>
          <a:p>
            <a:pPr indent="-317500" lvl="1" marL="914400" rtl="0" algn="l">
              <a:spcBef>
                <a:spcPts val="0"/>
              </a:spcBef>
              <a:spcAft>
                <a:spcPts val="0"/>
              </a:spcAft>
              <a:buSzPts val="1400"/>
              <a:buChar char="-"/>
            </a:pPr>
            <a:r>
              <a:rPr b="1" lang="zh-TW"/>
              <a:t>Interference / anomaly flagging:</a:t>
            </a:r>
            <a:r>
              <a:rPr lang="zh-TW"/>
              <a:t> Low confidence or unstable predictions can indicate interference-like or abnormal RF behavior.</a:t>
            </a:r>
            <a:endParaRPr/>
          </a:p>
          <a:p>
            <a:pPr indent="-317500" lvl="1" marL="914400" rtl="0" algn="l">
              <a:spcBef>
                <a:spcPts val="0"/>
              </a:spcBef>
              <a:spcAft>
                <a:spcPts val="0"/>
              </a:spcAft>
              <a:buSzPts val="1400"/>
              <a:buChar char="-"/>
            </a:pPr>
            <a:r>
              <a:rPr b="1" lang="zh-TW"/>
              <a:t>Spectrum monitoring support:</a:t>
            </a:r>
            <a:r>
              <a:rPr lang="zh-TW"/>
              <a:t> Convert raw I/Q observations into modulation-level metadata for logging and RF spectrum management. </a:t>
            </a:r>
            <a:endParaRPr/>
          </a:p>
        </p:txBody>
      </p:sp>
      <p:sp>
        <p:nvSpPr>
          <p:cNvPr id="179" name="Google Shape;179;p21"/>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180" name="Google Shape;180;p21"/>
          <p:cNvSpPr txBox="1"/>
          <p:nvPr/>
        </p:nvSpPr>
        <p:spPr>
          <a:xfrm>
            <a:off x="5937813" y="1527250"/>
            <a:ext cx="2474400" cy="733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600">
                <a:solidFill>
                  <a:srgbClr val="9E9E9E"/>
                </a:solidFill>
                <a:latin typeface="Calibri"/>
                <a:ea typeface="Calibri"/>
                <a:cs typeface="Calibri"/>
                <a:sym typeface="Calibri"/>
              </a:rPr>
              <a:t>Satellite AMR AMC/AMR is active in SatCom (2020)</a:t>
            </a:r>
            <a:endParaRPr b="1" sz="1600">
              <a:solidFill>
                <a:srgbClr val="9E9E9E"/>
              </a:solidFill>
              <a:latin typeface="Calibri"/>
              <a:ea typeface="Calibri"/>
              <a:cs typeface="Calibri"/>
              <a:sym typeface="Calibri"/>
            </a:endParaRPr>
          </a:p>
        </p:txBody>
      </p:sp>
      <p:sp>
        <p:nvSpPr>
          <p:cNvPr id="181" name="Google Shape;181;p21"/>
          <p:cNvSpPr txBox="1"/>
          <p:nvPr/>
        </p:nvSpPr>
        <p:spPr>
          <a:xfrm>
            <a:off x="587225" y="1527250"/>
            <a:ext cx="2275800" cy="733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600">
                <a:solidFill>
                  <a:schemeClr val="dk1"/>
                </a:solidFill>
                <a:latin typeface="Calibri"/>
                <a:ea typeface="Calibri"/>
                <a:cs typeface="Calibri"/>
                <a:sym typeface="Calibri"/>
              </a:rPr>
              <a:t>NASA Glenn: Why AMC </a:t>
            </a:r>
            <a:endParaRPr b="1" sz="1600">
              <a:solidFill>
                <a:schemeClr val="dk1"/>
              </a:solidFill>
              <a:latin typeface="Calibri"/>
              <a:ea typeface="Calibri"/>
              <a:cs typeface="Calibri"/>
              <a:sym typeface="Calibri"/>
            </a:endParaRPr>
          </a:p>
          <a:p>
            <a:pPr indent="0" lvl="0" marL="0" rtl="0" algn="l">
              <a:spcBef>
                <a:spcPts val="0"/>
              </a:spcBef>
              <a:spcAft>
                <a:spcPts val="0"/>
              </a:spcAft>
              <a:buNone/>
            </a:pPr>
            <a:r>
              <a:rPr b="1" lang="zh-TW" sz="1600">
                <a:solidFill>
                  <a:schemeClr val="dk1"/>
                </a:solidFill>
                <a:latin typeface="Calibri"/>
                <a:ea typeface="Calibri"/>
                <a:cs typeface="Calibri"/>
                <a:sym typeface="Calibri"/>
              </a:rPr>
              <a:t>is useful (2017)</a:t>
            </a:r>
            <a:endParaRPr b="1" sz="1600">
              <a:solidFill>
                <a:schemeClr val="dk1"/>
              </a:solidFill>
              <a:latin typeface="Calibri"/>
              <a:ea typeface="Calibri"/>
              <a:cs typeface="Calibri"/>
              <a:sym typeface="Calibri"/>
            </a:endParaRPr>
          </a:p>
        </p:txBody>
      </p:sp>
      <p:cxnSp>
        <p:nvCxnSpPr>
          <p:cNvPr id="182" name="Google Shape;182;p21"/>
          <p:cNvCxnSpPr>
            <a:stCxn id="181" idx="3"/>
            <a:endCxn id="180" idx="1"/>
          </p:cNvCxnSpPr>
          <p:nvPr/>
        </p:nvCxnSpPr>
        <p:spPr>
          <a:xfrm>
            <a:off x="2863025" y="1893850"/>
            <a:ext cx="3074700" cy="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628650" y="5330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Motivation</a:t>
            </a:r>
            <a:endParaRPr/>
          </a:p>
        </p:txBody>
      </p:sp>
      <p:sp>
        <p:nvSpPr>
          <p:cNvPr id="188" name="Google Shape;188;p22"/>
          <p:cNvSpPr txBox="1"/>
          <p:nvPr>
            <p:ph idx="1" type="body"/>
          </p:nvPr>
        </p:nvSpPr>
        <p:spPr>
          <a:xfrm>
            <a:off x="628650" y="3638250"/>
            <a:ext cx="3822000" cy="994200"/>
          </a:xfrm>
          <a:prstGeom prst="rect">
            <a:avLst/>
          </a:prstGeom>
        </p:spPr>
        <p:txBody>
          <a:bodyPr anchorCtr="0" anchor="t" bIns="34275" lIns="68575" spcFirstLastPara="1" rIns="68575" wrap="square" tIns="34275">
            <a:normAutofit fontScale="25000" lnSpcReduction="20000"/>
          </a:bodyPr>
          <a:lstStyle/>
          <a:p>
            <a:pPr indent="-317500" lvl="0" marL="457200" rtl="0" algn="l">
              <a:spcBef>
                <a:spcPts val="800"/>
              </a:spcBef>
              <a:spcAft>
                <a:spcPts val="0"/>
              </a:spcAft>
              <a:buSzPct val="100000"/>
              <a:buChar char="-"/>
            </a:pPr>
            <a:r>
              <a:rPr lang="zh-TW" sz="5600"/>
              <a:t>How does a standard RX pipeline learn the modulation? </a:t>
            </a:r>
            <a:endParaRPr sz="5600"/>
          </a:p>
          <a:p>
            <a:pPr indent="-317500" lvl="1" marL="914400" rtl="0" algn="l">
              <a:spcBef>
                <a:spcPts val="0"/>
              </a:spcBef>
              <a:spcAft>
                <a:spcPts val="0"/>
              </a:spcAft>
              <a:buSzPct val="116667"/>
              <a:buChar char="-"/>
            </a:pPr>
            <a:r>
              <a:rPr lang="zh-TW" sz="4800"/>
              <a:t>acquisition / synchronization </a:t>
            </a:r>
            <a:endParaRPr sz="4800"/>
          </a:p>
          <a:p>
            <a:pPr indent="-304800" lvl="1" marL="914400" rtl="0" algn="l">
              <a:spcBef>
                <a:spcPts val="0"/>
              </a:spcBef>
              <a:spcAft>
                <a:spcPts val="0"/>
              </a:spcAft>
              <a:buSzPct val="100000"/>
              <a:buChar char="-"/>
            </a:pPr>
            <a:r>
              <a:rPr lang="zh-TW" sz="4800"/>
              <a:t>detect PLHEADER </a:t>
            </a:r>
            <a:endParaRPr sz="4800"/>
          </a:p>
          <a:p>
            <a:pPr indent="-304800" lvl="1" marL="914400" rtl="0" algn="l">
              <a:spcBef>
                <a:spcPts val="0"/>
              </a:spcBef>
              <a:spcAft>
                <a:spcPts val="0"/>
              </a:spcAft>
              <a:buSzPct val="100000"/>
              <a:buChar char="-"/>
            </a:pPr>
            <a:r>
              <a:rPr lang="zh-TW" sz="4800"/>
              <a:t>read PLS code / MODCOD </a:t>
            </a:r>
            <a:endParaRPr sz="4800"/>
          </a:p>
          <a:p>
            <a:pPr indent="-304800" lvl="1" marL="914400" rtl="0" algn="l">
              <a:spcBef>
                <a:spcPts val="0"/>
              </a:spcBef>
              <a:spcAft>
                <a:spcPts val="0"/>
              </a:spcAft>
              <a:buSzPct val="100000"/>
              <a:buChar char="-"/>
            </a:pPr>
            <a:r>
              <a:rPr lang="zh-TW" sz="4800"/>
              <a:t>know modulation + coding rate </a:t>
            </a:r>
            <a:endParaRPr sz="4800"/>
          </a:p>
          <a:p>
            <a:pPr indent="-304800" lvl="1" marL="914400" rtl="0" algn="l">
              <a:spcBef>
                <a:spcPts val="0"/>
              </a:spcBef>
              <a:spcAft>
                <a:spcPts val="0"/>
              </a:spcAft>
              <a:buSzPct val="100000"/>
              <a:buChar char="-"/>
            </a:pPr>
            <a:r>
              <a:rPr lang="zh-TW" sz="4800"/>
              <a:t>configure demodulator + FEC decoder </a:t>
            </a:r>
            <a:endParaRPr sz="4800"/>
          </a:p>
          <a:p>
            <a:pPr indent="0" lvl="0" marL="457200" rtl="0" algn="l">
              <a:spcBef>
                <a:spcPts val="800"/>
              </a:spcBef>
              <a:spcAft>
                <a:spcPts val="0"/>
              </a:spcAft>
              <a:buNone/>
            </a:pPr>
            <a:r>
              <a:t/>
            </a:r>
            <a:endParaRPr/>
          </a:p>
        </p:txBody>
      </p:sp>
      <p:sp>
        <p:nvSpPr>
          <p:cNvPr id="189" name="Google Shape;189;p22"/>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TW"/>
              <a:t>‹#›</a:t>
            </a:fld>
            <a:endParaRPr/>
          </a:p>
        </p:txBody>
      </p:sp>
      <p:sp>
        <p:nvSpPr>
          <p:cNvPr id="190" name="Google Shape;190;p22"/>
          <p:cNvSpPr txBox="1"/>
          <p:nvPr/>
        </p:nvSpPr>
        <p:spPr>
          <a:xfrm>
            <a:off x="6040938" y="1527250"/>
            <a:ext cx="2474400" cy="733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600">
                <a:solidFill>
                  <a:schemeClr val="dk1"/>
                </a:solidFill>
                <a:latin typeface="Calibri"/>
                <a:ea typeface="Calibri"/>
                <a:cs typeface="Calibri"/>
                <a:sym typeface="Calibri"/>
              </a:rPr>
              <a:t>Satellite AMC/AMR is active in SatCom (2020)</a:t>
            </a:r>
            <a:endParaRPr b="1" sz="1600">
              <a:solidFill>
                <a:schemeClr val="dk1"/>
              </a:solidFill>
              <a:latin typeface="Calibri"/>
              <a:ea typeface="Calibri"/>
              <a:cs typeface="Calibri"/>
              <a:sym typeface="Calibri"/>
            </a:endParaRPr>
          </a:p>
        </p:txBody>
      </p:sp>
      <p:sp>
        <p:nvSpPr>
          <p:cNvPr id="191" name="Google Shape;191;p22"/>
          <p:cNvSpPr txBox="1"/>
          <p:nvPr/>
        </p:nvSpPr>
        <p:spPr>
          <a:xfrm>
            <a:off x="587225" y="1527250"/>
            <a:ext cx="2275800" cy="733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600">
                <a:solidFill>
                  <a:srgbClr val="B7B7B7"/>
                </a:solidFill>
                <a:latin typeface="Calibri"/>
                <a:ea typeface="Calibri"/>
                <a:cs typeface="Calibri"/>
                <a:sym typeface="Calibri"/>
              </a:rPr>
              <a:t>NASA Glenn: Why AMC </a:t>
            </a:r>
            <a:endParaRPr b="1" sz="1600">
              <a:solidFill>
                <a:srgbClr val="B7B7B7"/>
              </a:solidFill>
              <a:latin typeface="Calibri"/>
              <a:ea typeface="Calibri"/>
              <a:cs typeface="Calibri"/>
              <a:sym typeface="Calibri"/>
            </a:endParaRPr>
          </a:p>
          <a:p>
            <a:pPr indent="0" lvl="0" marL="0" rtl="0" algn="l">
              <a:spcBef>
                <a:spcPts val="0"/>
              </a:spcBef>
              <a:spcAft>
                <a:spcPts val="0"/>
              </a:spcAft>
              <a:buNone/>
            </a:pPr>
            <a:r>
              <a:rPr b="1" lang="zh-TW" sz="1600">
                <a:solidFill>
                  <a:srgbClr val="B7B7B7"/>
                </a:solidFill>
                <a:latin typeface="Calibri"/>
                <a:ea typeface="Calibri"/>
                <a:cs typeface="Calibri"/>
                <a:sym typeface="Calibri"/>
              </a:rPr>
              <a:t>is useful (2017)</a:t>
            </a:r>
            <a:endParaRPr b="1" sz="1600">
              <a:solidFill>
                <a:srgbClr val="B7B7B7"/>
              </a:solidFill>
              <a:latin typeface="Calibri"/>
              <a:ea typeface="Calibri"/>
              <a:cs typeface="Calibri"/>
              <a:sym typeface="Calibri"/>
            </a:endParaRPr>
          </a:p>
        </p:txBody>
      </p:sp>
      <p:cxnSp>
        <p:nvCxnSpPr>
          <p:cNvPr id="192" name="Google Shape;192;p22"/>
          <p:cNvCxnSpPr>
            <a:stCxn id="191" idx="3"/>
            <a:endCxn id="190" idx="1"/>
          </p:cNvCxnSpPr>
          <p:nvPr/>
        </p:nvCxnSpPr>
        <p:spPr>
          <a:xfrm>
            <a:off x="2863025" y="1893850"/>
            <a:ext cx="3177900" cy="0"/>
          </a:xfrm>
          <a:prstGeom prst="straightConnector1">
            <a:avLst/>
          </a:prstGeom>
          <a:noFill/>
          <a:ln cap="flat" cmpd="sng" w="28575">
            <a:solidFill>
              <a:schemeClr val="dk2"/>
            </a:solidFill>
            <a:prstDash val="solid"/>
            <a:round/>
            <a:headEnd len="med" w="med" type="none"/>
            <a:tailEnd len="med" w="med" type="triangle"/>
          </a:ln>
        </p:spPr>
      </p:cxnSp>
      <p:pic>
        <p:nvPicPr>
          <p:cNvPr id="193" name="Google Shape;193;p22"/>
          <p:cNvPicPr preferRelativeResize="0"/>
          <p:nvPr/>
        </p:nvPicPr>
        <p:blipFill>
          <a:blip r:embed="rId3">
            <a:alphaModFix/>
          </a:blip>
          <a:stretch>
            <a:fillRect/>
          </a:stretch>
        </p:blipFill>
        <p:spPr>
          <a:xfrm>
            <a:off x="1027125" y="2387450"/>
            <a:ext cx="1523550" cy="1052924"/>
          </a:xfrm>
          <a:prstGeom prst="rect">
            <a:avLst/>
          </a:prstGeom>
          <a:noFill/>
          <a:ln>
            <a:noFill/>
          </a:ln>
        </p:spPr>
      </p:pic>
      <p:sp>
        <p:nvSpPr>
          <p:cNvPr id="194" name="Google Shape;194;p22"/>
          <p:cNvSpPr txBox="1"/>
          <p:nvPr/>
        </p:nvSpPr>
        <p:spPr>
          <a:xfrm>
            <a:off x="4450650" y="2651375"/>
            <a:ext cx="4267800" cy="21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300">
                <a:solidFill>
                  <a:schemeClr val="dk1"/>
                </a:solidFill>
                <a:latin typeface="Calibri"/>
                <a:ea typeface="Calibri"/>
                <a:cs typeface="Calibri"/>
                <a:sym typeface="Calibri"/>
              </a:rPr>
              <a:t>Can AMC shortcut this pipeline? e.g., if AMC says QPSK, the receiver can select the QPSK demodulator directly.</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zh-TW" sz="1300">
                <a:solidFill>
                  <a:schemeClr val="dk1"/>
                </a:solidFill>
                <a:latin typeface="Calibri"/>
                <a:ea typeface="Calibri"/>
                <a:cs typeface="Calibri"/>
                <a:sym typeface="Calibri"/>
              </a:rPr>
              <a:t>Alarm system:  </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zh-TW" sz="1300">
                <a:solidFill>
                  <a:schemeClr val="dk1"/>
                </a:solidFill>
                <a:latin typeface="Calibri"/>
                <a:ea typeface="Calibri"/>
                <a:cs typeface="Calibri"/>
                <a:sym typeface="Calibri"/>
              </a:rPr>
              <a:t>QPSK confidence = 0.94 → waveform stable</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zh-TW" sz="1300">
                <a:solidFill>
                  <a:schemeClr val="dk1"/>
                </a:solidFill>
                <a:latin typeface="Calibri"/>
                <a:ea typeface="Calibri"/>
                <a:cs typeface="Calibri"/>
                <a:sym typeface="Calibri"/>
              </a:rPr>
              <a:t>Unknown confidence = 0.35 → suspicious</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zh-TW" sz="1300">
                <a:solidFill>
                  <a:schemeClr val="dk1"/>
                </a:solidFill>
                <a:latin typeface="Calibri"/>
                <a:ea typeface="Calibri"/>
                <a:cs typeface="Calibri"/>
                <a:sym typeface="Calibri"/>
              </a:rPr>
              <a:t>Prediction jumps QPSK → 8PSK → Unknown → unstable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Threat Model</a:t>
            </a:r>
            <a:endParaRPr/>
          </a:p>
        </p:txBody>
      </p:sp>
      <p:sp>
        <p:nvSpPr>
          <p:cNvPr id="200" name="Google Shape;200;p23"/>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descr="Hand drawn 5g mobile tower station spreading signals over city (來源：Getty Images)" id="201" name="Google Shape;201;p23"/>
          <p:cNvPicPr preferRelativeResize="0"/>
          <p:nvPr/>
        </p:nvPicPr>
        <p:blipFill>
          <a:blip r:embed="rId3">
            <a:alphaModFix/>
          </a:blip>
          <a:stretch>
            <a:fillRect/>
          </a:stretch>
        </p:blipFill>
        <p:spPr>
          <a:xfrm>
            <a:off x="808025" y="1381975"/>
            <a:ext cx="847724" cy="847724"/>
          </a:xfrm>
          <a:prstGeom prst="rect">
            <a:avLst/>
          </a:prstGeom>
          <a:noFill/>
          <a:ln>
            <a:noFill/>
          </a:ln>
        </p:spPr>
      </p:pic>
      <p:pic>
        <p:nvPicPr>
          <p:cNvPr id="202" name="Google Shape;202;p23" title="截圖 2026-06-13 上午12.10.47.png"/>
          <p:cNvPicPr preferRelativeResize="0"/>
          <p:nvPr/>
        </p:nvPicPr>
        <p:blipFill>
          <a:blip r:embed="rId4">
            <a:alphaModFix/>
          </a:blip>
          <a:stretch>
            <a:fillRect/>
          </a:stretch>
        </p:blipFill>
        <p:spPr>
          <a:xfrm>
            <a:off x="569188" y="2571750"/>
            <a:ext cx="1184400" cy="569425"/>
          </a:xfrm>
          <a:prstGeom prst="rect">
            <a:avLst/>
          </a:prstGeom>
          <a:noFill/>
          <a:ln>
            <a:noFill/>
          </a:ln>
        </p:spPr>
      </p:pic>
      <p:sp>
        <p:nvSpPr>
          <p:cNvPr id="203" name="Google Shape;203;p23"/>
          <p:cNvSpPr/>
          <p:nvPr/>
        </p:nvSpPr>
        <p:spPr>
          <a:xfrm>
            <a:off x="2516700" y="1873450"/>
            <a:ext cx="888600" cy="11844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4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4" name="Google Shape;204;p23"/>
          <p:cNvCxnSpPr/>
          <p:nvPr/>
        </p:nvCxnSpPr>
        <p:spPr>
          <a:xfrm>
            <a:off x="1742900" y="1876975"/>
            <a:ext cx="716400" cy="199200"/>
          </a:xfrm>
          <a:prstGeom prst="straightConnector1">
            <a:avLst/>
          </a:prstGeom>
          <a:noFill/>
          <a:ln cap="flat" cmpd="sng" w="28575">
            <a:solidFill>
              <a:schemeClr val="dk2"/>
            </a:solidFill>
            <a:prstDash val="solid"/>
            <a:round/>
            <a:headEnd len="med" w="med" type="none"/>
            <a:tailEnd len="med" w="med" type="triangle"/>
          </a:ln>
        </p:spPr>
      </p:cxnSp>
      <p:cxnSp>
        <p:nvCxnSpPr>
          <p:cNvPr id="205" name="Google Shape;205;p23"/>
          <p:cNvCxnSpPr>
            <a:stCxn id="202" idx="3"/>
          </p:cNvCxnSpPr>
          <p:nvPr/>
        </p:nvCxnSpPr>
        <p:spPr>
          <a:xfrm flipH="1" rot="10800000">
            <a:off x="1753587" y="2683963"/>
            <a:ext cx="705900" cy="172500"/>
          </a:xfrm>
          <a:prstGeom prst="straightConnector1">
            <a:avLst/>
          </a:prstGeom>
          <a:noFill/>
          <a:ln cap="flat" cmpd="sng" w="28575">
            <a:solidFill>
              <a:srgbClr val="FF0000"/>
            </a:solidFill>
            <a:prstDash val="solid"/>
            <a:round/>
            <a:headEnd len="med" w="med" type="none"/>
            <a:tailEnd len="med" w="med" type="triangle"/>
          </a:ln>
        </p:spPr>
      </p:cxnSp>
      <p:pic>
        <p:nvPicPr>
          <p:cNvPr descr="Sound acoustics icon vector. Isolated contour symbol illustration (來源：Getty Images)" id="206" name="Google Shape;206;p23"/>
          <p:cNvPicPr preferRelativeResize="0"/>
          <p:nvPr/>
        </p:nvPicPr>
        <p:blipFill>
          <a:blip r:embed="rId5">
            <a:alphaModFix/>
          </a:blip>
          <a:stretch>
            <a:fillRect/>
          </a:stretch>
        </p:blipFill>
        <p:spPr>
          <a:xfrm>
            <a:off x="2625850" y="1981339"/>
            <a:ext cx="631951" cy="631951"/>
          </a:xfrm>
          <a:prstGeom prst="rect">
            <a:avLst/>
          </a:prstGeom>
          <a:noFill/>
          <a:ln>
            <a:noFill/>
          </a:ln>
        </p:spPr>
      </p:pic>
      <p:pic>
        <p:nvPicPr>
          <p:cNvPr id="207" name="Google Shape;207;p23"/>
          <p:cNvPicPr preferRelativeResize="0"/>
          <p:nvPr/>
        </p:nvPicPr>
        <p:blipFill rotWithShape="1">
          <a:blip r:embed="rId6">
            <a:alphaModFix/>
          </a:blip>
          <a:srcRect b="0" l="0" r="0" t="0"/>
          <a:stretch/>
        </p:blipFill>
        <p:spPr>
          <a:xfrm>
            <a:off x="2645025" y="2367264"/>
            <a:ext cx="631951" cy="631951"/>
          </a:xfrm>
          <a:prstGeom prst="rect">
            <a:avLst/>
          </a:prstGeom>
          <a:noFill/>
          <a:ln>
            <a:noFill/>
          </a:ln>
        </p:spPr>
      </p:pic>
      <p:pic>
        <p:nvPicPr>
          <p:cNvPr descr="satellite land and house icon vector. Isolated contour symbol illustration (來源：Getty Images)" id="208" name="Google Shape;208;p23"/>
          <p:cNvPicPr preferRelativeResize="0"/>
          <p:nvPr/>
        </p:nvPicPr>
        <p:blipFill>
          <a:blip r:embed="rId7">
            <a:alphaModFix/>
          </a:blip>
          <a:stretch>
            <a:fillRect/>
          </a:stretch>
        </p:blipFill>
        <p:spPr>
          <a:xfrm>
            <a:off x="3906212" y="1805827"/>
            <a:ext cx="1184374" cy="1184374"/>
          </a:xfrm>
          <a:prstGeom prst="rect">
            <a:avLst/>
          </a:prstGeom>
          <a:noFill/>
          <a:ln>
            <a:noFill/>
          </a:ln>
          <a:effectLst>
            <a:outerShdw blurRad="57150" rotWithShape="0" algn="bl" dir="5400000" dist="19050">
              <a:srgbClr val="000000">
                <a:alpha val="40000"/>
              </a:srgbClr>
            </a:outerShdw>
          </a:effectLst>
        </p:spPr>
      </p:pic>
      <p:pic>
        <p:nvPicPr>
          <p:cNvPr id="209" name="Google Shape;209;p23" title="截圖 2026-06-13 上午12.21.03.png"/>
          <p:cNvPicPr preferRelativeResize="0"/>
          <p:nvPr/>
        </p:nvPicPr>
        <p:blipFill>
          <a:blip r:embed="rId8">
            <a:alphaModFix/>
          </a:blip>
          <a:stretch>
            <a:fillRect/>
          </a:stretch>
        </p:blipFill>
        <p:spPr>
          <a:xfrm>
            <a:off x="5455900" y="1728165"/>
            <a:ext cx="1085850" cy="2343150"/>
          </a:xfrm>
          <a:prstGeom prst="rect">
            <a:avLst/>
          </a:prstGeom>
          <a:noFill/>
          <a:ln>
            <a:noFill/>
          </a:ln>
        </p:spPr>
      </p:pic>
      <p:cxnSp>
        <p:nvCxnSpPr>
          <p:cNvPr id="210" name="Google Shape;210;p23"/>
          <p:cNvCxnSpPr/>
          <p:nvPr/>
        </p:nvCxnSpPr>
        <p:spPr>
          <a:xfrm>
            <a:off x="3422775" y="2066750"/>
            <a:ext cx="458100" cy="93600"/>
          </a:xfrm>
          <a:prstGeom prst="straightConnector1">
            <a:avLst/>
          </a:prstGeom>
          <a:noFill/>
          <a:ln cap="flat" cmpd="sng" w="28575">
            <a:solidFill>
              <a:schemeClr val="dk2"/>
            </a:solidFill>
            <a:prstDash val="solid"/>
            <a:round/>
            <a:headEnd len="med" w="med" type="none"/>
            <a:tailEnd len="med" w="med" type="triangle"/>
          </a:ln>
        </p:spPr>
      </p:cxnSp>
      <p:cxnSp>
        <p:nvCxnSpPr>
          <p:cNvPr id="211" name="Google Shape;211;p23"/>
          <p:cNvCxnSpPr>
            <a:endCxn id="208" idx="1"/>
          </p:cNvCxnSpPr>
          <p:nvPr/>
        </p:nvCxnSpPr>
        <p:spPr>
          <a:xfrm flipH="1" rot="10800000">
            <a:off x="3432212" y="2398014"/>
            <a:ext cx="474000" cy="351600"/>
          </a:xfrm>
          <a:prstGeom prst="straightConnector1">
            <a:avLst/>
          </a:prstGeom>
          <a:noFill/>
          <a:ln cap="flat" cmpd="sng" w="28575">
            <a:solidFill>
              <a:srgbClr val="FF0000"/>
            </a:solidFill>
            <a:prstDash val="solid"/>
            <a:round/>
            <a:headEnd len="med" w="med" type="none"/>
            <a:tailEnd len="med" w="med" type="triangle"/>
          </a:ln>
        </p:spPr>
      </p:cxnSp>
      <p:cxnSp>
        <p:nvCxnSpPr>
          <p:cNvPr id="212" name="Google Shape;212;p23"/>
          <p:cNvCxnSpPr>
            <a:stCxn id="208" idx="3"/>
          </p:cNvCxnSpPr>
          <p:nvPr/>
        </p:nvCxnSpPr>
        <p:spPr>
          <a:xfrm>
            <a:off x="5090586" y="2398014"/>
            <a:ext cx="360300" cy="13200"/>
          </a:xfrm>
          <a:prstGeom prst="straightConnector1">
            <a:avLst/>
          </a:prstGeom>
          <a:noFill/>
          <a:ln cap="flat" cmpd="sng" w="28575">
            <a:solidFill>
              <a:schemeClr val="dk2"/>
            </a:solidFill>
            <a:prstDash val="solid"/>
            <a:round/>
            <a:headEnd len="med" w="med" type="none"/>
            <a:tailEnd len="med" w="med" type="triangle"/>
          </a:ln>
        </p:spPr>
      </p:cxnSp>
      <p:pic>
        <p:nvPicPr>
          <p:cNvPr descr="devil  smiley   face (來源：Getty Images)" id="213" name="Google Shape;213;p23"/>
          <p:cNvPicPr preferRelativeResize="0"/>
          <p:nvPr/>
        </p:nvPicPr>
        <p:blipFill>
          <a:blip r:embed="rId9">
            <a:alphaModFix/>
          </a:blip>
          <a:stretch>
            <a:fillRect/>
          </a:stretch>
        </p:blipFill>
        <p:spPr>
          <a:xfrm>
            <a:off x="101925" y="2593101"/>
            <a:ext cx="526725" cy="526725"/>
          </a:xfrm>
          <a:prstGeom prst="rect">
            <a:avLst/>
          </a:prstGeom>
          <a:noFill/>
          <a:ln>
            <a:noFill/>
          </a:ln>
        </p:spPr>
      </p:pic>
      <p:cxnSp>
        <p:nvCxnSpPr>
          <p:cNvPr id="214" name="Google Shape;214;p23"/>
          <p:cNvCxnSpPr>
            <a:endCxn id="215" idx="1"/>
          </p:cNvCxnSpPr>
          <p:nvPr/>
        </p:nvCxnSpPr>
        <p:spPr>
          <a:xfrm flipH="1" rot="10800000">
            <a:off x="6527525" y="1889900"/>
            <a:ext cx="747300" cy="579600"/>
          </a:xfrm>
          <a:prstGeom prst="straightConnector1">
            <a:avLst/>
          </a:prstGeom>
          <a:noFill/>
          <a:ln cap="flat" cmpd="sng" w="28575">
            <a:solidFill>
              <a:schemeClr val="dk2"/>
            </a:solidFill>
            <a:prstDash val="solid"/>
            <a:round/>
            <a:headEnd len="med" w="med" type="none"/>
            <a:tailEnd len="med" w="med" type="triangle"/>
          </a:ln>
        </p:spPr>
      </p:cxnSp>
      <p:pic>
        <p:nvPicPr>
          <p:cNvPr id="216" name="Google Shape;216;p23"/>
          <p:cNvPicPr preferRelativeResize="0"/>
          <p:nvPr/>
        </p:nvPicPr>
        <p:blipFill>
          <a:blip r:embed="rId10">
            <a:alphaModFix/>
          </a:blip>
          <a:stretch>
            <a:fillRect/>
          </a:stretch>
        </p:blipFill>
        <p:spPr>
          <a:xfrm>
            <a:off x="7733425" y="2957426"/>
            <a:ext cx="631950" cy="1160725"/>
          </a:xfrm>
          <a:prstGeom prst="rect">
            <a:avLst/>
          </a:prstGeom>
          <a:noFill/>
          <a:ln>
            <a:noFill/>
          </a:ln>
        </p:spPr>
      </p:pic>
      <p:cxnSp>
        <p:nvCxnSpPr>
          <p:cNvPr id="217" name="Google Shape;217;p23"/>
          <p:cNvCxnSpPr>
            <a:endCxn id="216" idx="0"/>
          </p:cNvCxnSpPr>
          <p:nvPr/>
        </p:nvCxnSpPr>
        <p:spPr>
          <a:xfrm flipH="1">
            <a:off x="8049400" y="2204726"/>
            <a:ext cx="5100" cy="752700"/>
          </a:xfrm>
          <a:prstGeom prst="straightConnector1">
            <a:avLst/>
          </a:prstGeom>
          <a:noFill/>
          <a:ln cap="flat" cmpd="sng" w="28575">
            <a:solidFill>
              <a:schemeClr val="dk2"/>
            </a:solidFill>
            <a:prstDash val="solid"/>
            <a:round/>
            <a:headEnd len="med" w="med" type="none"/>
            <a:tailEnd len="med" w="med" type="triangle"/>
          </a:ln>
        </p:spPr>
      </p:cxnSp>
      <p:sp>
        <p:nvSpPr>
          <p:cNvPr id="218" name="Google Shape;218;p23"/>
          <p:cNvSpPr txBox="1"/>
          <p:nvPr/>
        </p:nvSpPr>
        <p:spPr>
          <a:xfrm>
            <a:off x="1847850" y="1381975"/>
            <a:ext cx="17619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600">
                <a:solidFill>
                  <a:schemeClr val="dk1"/>
                </a:solidFill>
              </a:rPr>
              <a:t>wireless channel</a:t>
            </a:r>
            <a:endParaRPr sz="1600">
              <a:solidFill>
                <a:schemeClr val="dk1"/>
              </a:solidFill>
            </a:endParaRPr>
          </a:p>
        </p:txBody>
      </p:sp>
      <p:sp>
        <p:nvSpPr>
          <p:cNvPr id="219" name="Google Shape;219;p23"/>
          <p:cNvSpPr txBox="1"/>
          <p:nvPr/>
        </p:nvSpPr>
        <p:spPr>
          <a:xfrm>
            <a:off x="3459891" y="1171025"/>
            <a:ext cx="2224200" cy="34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1600">
                <a:solidFill>
                  <a:schemeClr val="dk1"/>
                </a:solidFill>
              </a:rPr>
              <a:t>Receiver observes superposition</a:t>
            </a:r>
            <a:endParaRPr sz="1600">
              <a:solidFill>
                <a:schemeClr val="dk1"/>
              </a:solidFill>
            </a:endParaRPr>
          </a:p>
        </p:txBody>
      </p:sp>
      <p:sp>
        <p:nvSpPr>
          <p:cNvPr id="215" name="Google Shape;215;p23"/>
          <p:cNvSpPr/>
          <p:nvPr/>
        </p:nvSpPr>
        <p:spPr>
          <a:xfrm>
            <a:off x="7274825" y="1573850"/>
            <a:ext cx="1407900" cy="6321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4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zh-TW"/>
              <a:t>wrong label BPSK → QPSK</a:t>
            </a:r>
            <a:endParaRPr b="1"/>
          </a:p>
        </p:txBody>
      </p:sp>
      <p:sp>
        <p:nvSpPr>
          <p:cNvPr id="220" name="Google Shape;220;p23"/>
          <p:cNvSpPr/>
          <p:nvPr/>
        </p:nvSpPr>
        <p:spPr>
          <a:xfrm>
            <a:off x="7395250" y="4264238"/>
            <a:ext cx="1313400" cy="4593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zh-TW" sz="1100"/>
              <a:t>    false alarm </a:t>
            </a:r>
            <a:endParaRPr sz="1100"/>
          </a:p>
          <a:p>
            <a:pPr indent="0" lvl="0" marL="0" rtl="0" algn="ctr">
              <a:spcBef>
                <a:spcPts val="0"/>
              </a:spcBef>
              <a:spcAft>
                <a:spcPts val="0"/>
              </a:spcAft>
              <a:buNone/>
            </a:pPr>
            <a:r>
              <a:rPr lang="zh-TW" sz="1100"/>
              <a:t>missed detection</a:t>
            </a:r>
            <a:endParaRPr/>
          </a:p>
        </p:txBody>
      </p:sp>
      <p:sp>
        <p:nvSpPr>
          <p:cNvPr id="221" name="Google Shape;221;p23"/>
          <p:cNvSpPr txBox="1"/>
          <p:nvPr/>
        </p:nvSpPr>
        <p:spPr>
          <a:xfrm>
            <a:off x="-84175" y="3334050"/>
            <a:ext cx="2337900" cy="1943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zh-TW" sz="1000">
                <a:solidFill>
                  <a:srgbClr val="333333"/>
                </a:solidFill>
              </a:rPr>
              <a:t>x_adv = h * s + n + </a:t>
            </a:r>
            <a:r>
              <a:rPr b="1" lang="zh-TW" sz="1000">
                <a:solidFill>
                  <a:srgbClr val="C00000"/>
                </a:solidFill>
              </a:rPr>
              <a:t>δ </a:t>
            </a:r>
            <a:endParaRPr b="1" sz="1000">
              <a:solidFill>
                <a:srgbClr val="C00000"/>
              </a:solidFill>
            </a:endParaRPr>
          </a:p>
          <a:p>
            <a:pPr indent="0" lvl="0" marL="457200" rtl="0" algn="l">
              <a:spcBef>
                <a:spcPts val="450"/>
              </a:spcBef>
              <a:spcAft>
                <a:spcPts val="0"/>
              </a:spcAft>
              <a:buNone/>
            </a:pPr>
            <a:r>
              <a:rPr lang="zh-TW" sz="1000">
                <a:solidFill>
                  <a:srgbClr val="333333"/>
                </a:solidFill>
              </a:rPr>
              <a:t>where:</a:t>
            </a:r>
            <a:endParaRPr sz="1000">
              <a:solidFill>
                <a:srgbClr val="333333"/>
              </a:solidFill>
            </a:endParaRPr>
          </a:p>
          <a:p>
            <a:pPr indent="0" lvl="0" marL="457200" rtl="0" algn="l">
              <a:spcBef>
                <a:spcPts val="450"/>
              </a:spcBef>
              <a:spcAft>
                <a:spcPts val="0"/>
              </a:spcAft>
              <a:buNone/>
            </a:pPr>
            <a:r>
              <a:rPr lang="zh-TW" sz="1000">
                <a:solidFill>
                  <a:srgbClr val="333333"/>
                </a:solidFill>
              </a:rPr>
              <a:t>s : transmitted RF signal</a:t>
            </a:r>
            <a:endParaRPr sz="1000">
              <a:solidFill>
                <a:srgbClr val="333333"/>
              </a:solidFill>
            </a:endParaRPr>
          </a:p>
          <a:p>
            <a:pPr indent="0" lvl="0" marL="457200" rtl="0" algn="l">
              <a:spcBef>
                <a:spcPts val="450"/>
              </a:spcBef>
              <a:spcAft>
                <a:spcPts val="0"/>
              </a:spcAft>
              <a:buNone/>
            </a:pPr>
            <a:r>
              <a:rPr lang="zh-TW" sz="1000">
                <a:solidFill>
                  <a:srgbClr val="333333"/>
                </a:solidFill>
              </a:rPr>
              <a:t>h : wireless channel</a:t>
            </a:r>
            <a:endParaRPr sz="1000">
              <a:solidFill>
                <a:srgbClr val="333333"/>
              </a:solidFill>
            </a:endParaRPr>
          </a:p>
          <a:p>
            <a:pPr indent="0" lvl="0" marL="457200" rtl="0" algn="l">
              <a:spcBef>
                <a:spcPts val="450"/>
              </a:spcBef>
              <a:spcAft>
                <a:spcPts val="0"/>
              </a:spcAft>
              <a:buNone/>
            </a:pPr>
            <a:r>
              <a:rPr lang="zh-TW" sz="1000">
                <a:solidFill>
                  <a:srgbClr val="333333"/>
                </a:solidFill>
              </a:rPr>
              <a:t>n : channel noise</a:t>
            </a:r>
            <a:endParaRPr sz="1000">
              <a:solidFill>
                <a:srgbClr val="333333"/>
              </a:solidFill>
            </a:endParaRPr>
          </a:p>
          <a:p>
            <a:pPr indent="0" lvl="0" marL="457200" rtl="0" algn="l">
              <a:spcBef>
                <a:spcPts val="450"/>
              </a:spcBef>
              <a:spcAft>
                <a:spcPts val="0"/>
              </a:spcAft>
              <a:buNone/>
            </a:pPr>
            <a:r>
              <a:rPr b="1" lang="zh-TW" sz="1000">
                <a:solidFill>
                  <a:srgbClr val="FF0000"/>
                </a:solidFill>
              </a:rPr>
              <a:t>δ : adversarial perturbation</a:t>
            </a:r>
            <a:endParaRPr b="1" sz="1000">
              <a:solidFill>
                <a:srgbClr val="FF0000"/>
              </a:solidFill>
            </a:endParaRPr>
          </a:p>
          <a:p>
            <a:pPr indent="0" lvl="0" marL="457200" rtl="0" algn="l">
              <a:spcBef>
                <a:spcPts val="450"/>
              </a:spcBef>
              <a:spcAft>
                <a:spcPts val="0"/>
              </a:spcAft>
              <a:buNone/>
            </a:pPr>
            <a:r>
              <a:t/>
            </a:r>
            <a:endParaRPr>
              <a:solidFill>
                <a:srgbClr val="333333"/>
              </a:solidFill>
            </a:endParaRPr>
          </a:p>
          <a:p>
            <a:pPr indent="0" lvl="0" marL="457200" rtl="0" algn="l">
              <a:spcBef>
                <a:spcPts val="450"/>
              </a:spcBef>
              <a:spcAft>
                <a:spcPts val="450"/>
              </a:spcAft>
              <a:buNone/>
            </a:pPr>
            <a:r>
              <a:t/>
            </a:r>
            <a:endParaRPr>
              <a:solidFill>
                <a:srgbClr val="333333"/>
              </a:solidFill>
            </a:endParaRPr>
          </a:p>
        </p:txBody>
      </p:sp>
      <p:sp>
        <p:nvSpPr>
          <p:cNvPr id="222" name="Google Shape;222;p23"/>
          <p:cNvSpPr txBox="1"/>
          <p:nvPr/>
        </p:nvSpPr>
        <p:spPr>
          <a:xfrm>
            <a:off x="2448800" y="3203125"/>
            <a:ext cx="2847000" cy="1731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b="1" lang="zh-TW" sz="1000">
                <a:solidFill>
                  <a:srgbClr val="333333"/>
                </a:solidFill>
              </a:rPr>
              <a:t>Assumptions</a:t>
            </a:r>
            <a:r>
              <a:rPr lang="zh-TW" sz="1000">
                <a:solidFill>
                  <a:srgbClr val="333333"/>
                </a:solidFill>
              </a:rPr>
              <a:t>:</a:t>
            </a:r>
            <a:endParaRPr sz="1000">
              <a:solidFill>
                <a:srgbClr val="333333"/>
              </a:solidFill>
            </a:endParaRPr>
          </a:p>
          <a:p>
            <a:pPr indent="0" lvl="0" marL="457200" rtl="0" algn="l">
              <a:spcBef>
                <a:spcPts val="450"/>
              </a:spcBef>
              <a:spcAft>
                <a:spcPts val="0"/>
              </a:spcAft>
              <a:buClr>
                <a:schemeClr val="dk1"/>
              </a:buClr>
              <a:buSzPts val="1100"/>
              <a:buFont typeface="Arial"/>
              <a:buNone/>
            </a:pPr>
            <a:r>
              <a:rPr lang="zh-TW" sz="1000">
                <a:solidFill>
                  <a:srgbClr val="333333"/>
                </a:solidFill>
              </a:rPr>
              <a:t>- Perturbation power is bounded.</a:t>
            </a:r>
            <a:endParaRPr sz="1000">
              <a:solidFill>
                <a:srgbClr val="333333"/>
              </a:solidFill>
            </a:endParaRPr>
          </a:p>
          <a:p>
            <a:pPr indent="0" lvl="0" marL="457200" rtl="0" algn="l">
              <a:spcBef>
                <a:spcPts val="450"/>
              </a:spcBef>
              <a:spcAft>
                <a:spcPts val="0"/>
              </a:spcAft>
              <a:buClr>
                <a:schemeClr val="dk1"/>
              </a:buClr>
              <a:buSzPts val="1100"/>
              <a:buFont typeface="Arial"/>
              <a:buNone/>
            </a:pPr>
            <a:r>
              <a:rPr lang="zh-TW" sz="1000">
                <a:solidFill>
                  <a:srgbClr val="333333"/>
                </a:solidFill>
              </a:rPr>
              <a:t>- The perturbation is added over the air or injected into I/Q samples.</a:t>
            </a:r>
            <a:endParaRPr sz="1000">
              <a:solidFill>
                <a:srgbClr val="333333"/>
              </a:solidFill>
            </a:endParaRPr>
          </a:p>
          <a:p>
            <a:pPr indent="0" lvl="0" marL="457200" rtl="0" algn="l">
              <a:spcBef>
                <a:spcPts val="450"/>
              </a:spcBef>
              <a:spcAft>
                <a:spcPts val="0"/>
              </a:spcAft>
              <a:buClr>
                <a:schemeClr val="dk1"/>
              </a:buClr>
              <a:buSzPts val="1100"/>
              <a:buFont typeface="Arial"/>
              <a:buNone/>
            </a:pPr>
            <a:r>
              <a:rPr lang="zh-TW" sz="1000">
                <a:solidFill>
                  <a:srgbClr val="333333"/>
                </a:solidFill>
              </a:rPr>
              <a:t>- The perturbation should remain signal-like and hard to detect.</a:t>
            </a:r>
            <a:endParaRPr sz="1000">
              <a:solidFill>
                <a:srgbClr val="333333"/>
              </a:solidFill>
            </a:endParaRPr>
          </a:p>
          <a:p>
            <a:pPr indent="0" lvl="0" marL="457200" rtl="0" algn="l">
              <a:spcBef>
                <a:spcPts val="450"/>
              </a:spcBef>
              <a:spcAft>
                <a:spcPts val="0"/>
              </a:spcAft>
              <a:buClr>
                <a:schemeClr val="dk1"/>
              </a:buClr>
              <a:buSzPts val="1100"/>
              <a:buFont typeface="Arial"/>
              <a:buNone/>
            </a:pPr>
            <a:r>
              <a:rPr lang="zh-TW" sz="1000">
                <a:solidFill>
                  <a:srgbClr val="333333"/>
                </a:solidFill>
              </a:rPr>
              <a:t>- Goal: cause wrong AMC prediction or unstable confidence.</a:t>
            </a:r>
            <a:r>
              <a:rPr lang="zh-TW">
                <a:solidFill>
                  <a:srgbClr val="333333"/>
                </a:solidFill>
              </a:rPr>
              <a:t> </a:t>
            </a:r>
            <a:endParaRPr>
              <a:solidFill>
                <a:srgbClr val="333333"/>
              </a:solidFill>
            </a:endParaRPr>
          </a:p>
          <a:p>
            <a:pPr indent="0" lvl="0" marL="0" rtl="0" algn="l">
              <a:spcBef>
                <a:spcPts val="450"/>
              </a:spcBef>
              <a:spcAft>
                <a:spcPts val="0"/>
              </a:spcAft>
              <a:buNone/>
            </a:pPr>
            <a:r>
              <a:t/>
            </a:r>
            <a:endParaRPr sz="2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idx="1" type="body"/>
          </p:nvPr>
        </p:nvSpPr>
        <p:spPr>
          <a:xfrm>
            <a:off x="345475" y="1290300"/>
            <a:ext cx="4574100" cy="3368100"/>
          </a:xfrm>
          <a:prstGeom prst="rect">
            <a:avLst/>
          </a:prstGeom>
        </p:spPr>
        <p:txBody>
          <a:bodyPr anchorCtr="0" anchor="t" bIns="34275" lIns="68575" spcFirstLastPara="1" rIns="68575" wrap="square" tIns="34275">
            <a:noAutofit/>
          </a:bodyPr>
          <a:lstStyle/>
          <a:p>
            <a:pPr indent="-361950" lvl="0" marL="457200" rtl="0" algn="l">
              <a:spcBef>
                <a:spcPts val="900"/>
              </a:spcBef>
              <a:spcAft>
                <a:spcPts val="0"/>
              </a:spcAft>
              <a:buSzPts val="2100"/>
              <a:buChar char="•"/>
            </a:pPr>
            <a:r>
              <a:rPr lang="zh-TW"/>
              <a:t>Adversarial perturbation </a:t>
            </a:r>
            <a:endParaRPr/>
          </a:p>
          <a:p>
            <a:pPr indent="-368300" lvl="1" marL="914400" rtl="0" algn="l">
              <a:spcBef>
                <a:spcPts val="900"/>
              </a:spcBef>
              <a:spcAft>
                <a:spcPts val="0"/>
              </a:spcAft>
              <a:buSzPts val="2200"/>
              <a:buChar char="•"/>
            </a:pPr>
            <a:r>
              <a:rPr b="1" lang="zh-TW" sz="2200"/>
              <a:t>Injected over the air or into the received I/Q samples.</a:t>
            </a:r>
            <a:endParaRPr sz="2200"/>
          </a:p>
          <a:p>
            <a:pPr indent="-368300" lvl="1" marL="914400" rtl="0" algn="l">
              <a:spcBef>
                <a:spcPts val="900"/>
              </a:spcBef>
              <a:spcAft>
                <a:spcPts val="0"/>
              </a:spcAft>
              <a:buSzPts val="2200"/>
              <a:buChar char="•"/>
            </a:pPr>
            <a:r>
              <a:rPr b="1" lang="zh-TW" sz="2200"/>
              <a:t>Fools the ML model with subtle, hard-to-detect perturbations</a:t>
            </a:r>
            <a:endParaRPr sz="2200"/>
          </a:p>
          <a:p>
            <a:pPr indent="-368300" lvl="1" marL="914400" rtl="0" algn="l">
              <a:spcBef>
                <a:spcPts val="900"/>
              </a:spcBef>
              <a:spcAft>
                <a:spcPts val="0"/>
              </a:spcAft>
              <a:buSzPts val="2200"/>
              <a:buChar char="•"/>
            </a:pPr>
            <a:r>
              <a:rPr lang="zh-TW" sz="2200"/>
              <a:t>Measured on our AWN model: EAD-L1 drops accuracy to 6.6%</a:t>
            </a:r>
            <a:endParaRPr b="1" sz="2200"/>
          </a:p>
          <a:p>
            <a:pPr indent="0" lvl="0" marL="0" rtl="0" algn="l">
              <a:spcBef>
                <a:spcPts val="900"/>
              </a:spcBef>
              <a:spcAft>
                <a:spcPts val="0"/>
              </a:spcAft>
              <a:buNone/>
            </a:pPr>
            <a:r>
              <a:t/>
            </a:r>
            <a:endParaRPr/>
          </a:p>
        </p:txBody>
      </p:sp>
      <p:sp>
        <p:nvSpPr>
          <p:cNvPr id="228" name="Google Shape;228;p24"/>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Threat Model</a:t>
            </a:r>
            <a:endParaRPr sz="2000">
              <a:latin typeface="Arial"/>
              <a:ea typeface="Arial"/>
              <a:cs typeface="Arial"/>
              <a:sym typeface="Arial"/>
            </a:endParaRPr>
          </a:p>
        </p:txBody>
      </p:sp>
      <p:sp>
        <p:nvSpPr>
          <p:cNvPr id="229" name="Google Shape;229;p24"/>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pic>
        <p:nvPicPr>
          <p:cNvPr id="230" name="Google Shape;230;p24"/>
          <p:cNvPicPr preferRelativeResize="0"/>
          <p:nvPr/>
        </p:nvPicPr>
        <p:blipFill>
          <a:blip r:embed="rId3">
            <a:alphaModFix/>
          </a:blip>
          <a:stretch>
            <a:fillRect/>
          </a:stretch>
        </p:blipFill>
        <p:spPr>
          <a:xfrm>
            <a:off x="4919575" y="680675"/>
            <a:ext cx="1956875" cy="3982675"/>
          </a:xfrm>
          <a:prstGeom prst="rect">
            <a:avLst/>
          </a:prstGeom>
          <a:noFill/>
          <a:ln>
            <a:noFill/>
          </a:ln>
        </p:spPr>
      </p:pic>
      <p:pic>
        <p:nvPicPr>
          <p:cNvPr id="231" name="Google Shape;231;p24"/>
          <p:cNvPicPr preferRelativeResize="0"/>
          <p:nvPr/>
        </p:nvPicPr>
        <p:blipFill>
          <a:blip r:embed="rId4">
            <a:alphaModFix/>
          </a:blip>
          <a:stretch>
            <a:fillRect/>
          </a:stretch>
        </p:blipFill>
        <p:spPr>
          <a:xfrm>
            <a:off x="7437924" y="680668"/>
            <a:ext cx="1092175" cy="1056657"/>
          </a:xfrm>
          <a:prstGeom prst="rect">
            <a:avLst/>
          </a:prstGeom>
          <a:noFill/>
          <a:ln>
            <a:noFill/>
          </a:ln>
        </p:spPr>
      </p:pic>
      <p:pic>
        <p:nvPicPr>
          <p:cNvPr id="232" name="Google Shape;232;p24"/>
          <p:cNvPicPr preferRelativeResize="0"/>
          <p:nvPr/>
        </p:nvPicPr>
        <p:blipFill>
          <a:blip r:embed="rId5">
            <a:alphaModFix/>
          </a:blip>
          <a:stretch>
            <a:fillRect/>
          </a:stretch>
        </p:blipFill>
        <p:spPr>
          <a:xfrm>
            <a:off x="7448651" y="1696983"/>
            <a:ext cx="1092175" cy="1034217"/>
          </a:xfrm>
          <a:prstGeom prst="rect">
            <a:avLst/>
          </a:prstGeom>
          <a:noFill/>
          <a:ln>
            <a:noFill/>
          </a:ln>
        </p:spPr>
      </p:pic>
      <p:pic>
        <p:nvPicPr>
          <p:cNvPr id="233" name="Google Shape;233;p24"/>
          <p:cNvPicPr preferRelativeResize="0"/>
          <p:nvPr/>
        </p:nvPicPr>
        <p:blipFill>
          <a:blip r:embed="rId6">
            <a:alphaModFix/>
          </a:blip>
          <a:stretch>
            <a:fillRect/>
          </a:stretch>
        </p:blipFill>
        <p:spPr>
          <a:xfrm>
            <a:off x="7541500" y="2666648"/>
            <a:ext cx="1010050" cy="972626"/>
          </a:xfrm>
          <a:prstGeom prst="rect">
            <a:avLst/>
          </a:prstGeom>
          <a:noFill/>
          <a:ln>
            <a:noFill/>
          </a:ln>
        </p:spPr>
      </p:pic>
      <p:pic>
        <p:nvPicPr>
          <p:cNvPr id="234" name="Google Shape;234;p24"/>
          <p:cNvPicPr preferRelativeResize="0"/>
          <p:nvPr/>
        </p:nvPicPr>
        <p:blipFill>
          <a:blip r:embed="rId7">
            <a:alphaModFix/>
          </a:blip>
          <a:stretch>
            <a:fillRect/>
          </a:stretch>
        </p:blipFill>
        <p:spPr>
          <a:xfrm>
            <a:off x="7489713" y="3676693"/>
            <a:ext cx="1092175" cy="1036300"/>
          </a:xfrm>
          <a:prstGeom prst="rect">
            <a:avLst/>
          </a:prstGeom>
          <a:noFill/>
          <a:ln>
            <a:noFill/>
          </a:ln>
        </p:spPr>
      </p:pic>
      <p:sp>
        <p:nvSpPr>
          <p:cNvPr id="235" name="Google Shape;235;p24"/>
          <p:cNvSpPr txBox="1"/>
          <p:nvPr/>
        </p:nvSpPr>
        <p:spPr>
          <a:xfrm>
            <a:off x="5170663" y="152400"/>
            <a:ext cx="1454700" cy="3909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500">
                <a:solidFill>
                  <a:schemeClr val="dk1"/>
                </a:solidFill>
              </a:rPr>
              <a:t>I/Q distribution </a:t>
            </a:r>
            <a:endParaRPr b="1" sz="1500">
              <a:solidFill>
                <a:schemeClr val="dk1"/>
              </a:solidFill>
            </a:endParaRPr>
          </a:p>
        </p:txBody>
      </p:sp>
      <p:sp>
        <p:nvSpPr>
          <p:cNvPr id="236" name="Google Shape;236;p24"/>
          <p:cNvSpPr txBox="1"/>
          <p:nvPr/>
        </p:nvSpPr>
        <p:spPr>
          <a:xfrm>
            <a:off x="7068075" y="152400"/>
            <a:ext cx="1956900" cy="3909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500">
                <a:solidFill>
                  <a:schemeClr val="dk1"/>
                </a:solidFill>
              </a:rPr>
              <a:t>frequency domain</a:t>
            </a:r>
            <a:endParaRPr b="1" sz="15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5"/>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sz="2400">
                <a:latin typeface="Arial"/>
                <a:ea typeface="Arial"/>
                <a:cs typeface="Arial"/>
                <a:sym typeface="Arial"/>
              </a:rPr>
              <a:t>Outline</a:t>
            </a:r>
            <a:endParaRPr sz="2400">
              <a:latin typeface="Arial"/>
              <a:ea typeface="Arial"/>
              <a:cs typeface="Arial"/>
              <a:sym typeface="Arial"/>
            </a:endParaRPr>
          </a:p>
        </p:txBody>
      </p:sp>
      <p:sp>
        <p:nvSpPr>
          <p:cNvPr id="242" name="Google Shape;242;p25"/>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Clr>
                <a:srgbClr val="E0E0E0"/>
              </a:buClr>
              <a:buSzPts val="2400"/>
              <a:buChar char="•"/>
            </a:pPr>
            <a:r>
              <a:rPr lang="zh-TW" sz="2400">
                <a:solidFill>
                  <a:srgbClr val="E0E0E0"/>
                </a:solidFill>
                <a:latin typeface="Arial"/>
                <a:ea typeface="Arial"/>
                <a:cs typeface="Arial"/>
                <a:sym typeface="Arial"/>
              </a:rPr>
              <a:t>Motivation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000000"/>
              </a:buClr>
              <a:buSzPts val="2400"/>
              <a:buFont typeface="Arial"/>
              <a:buChar char="•"/>
            </a:pPr>
            <a:r>
              <a:rPr lang="zh-TW" sz="2400">
                <a:solidFill>
                  <a:srgbClr val="000000"/>
                </a:solidFill>
                <a:latin typeface="Arial"/>
                <a:ea typeface="Arial"/>
                <a:cs typeface="Arial"/>
                <a:sym typeface="Arial"/>
              </a:rPr>
              <a:t>Related Work</a:t>
            </a:r>
            <a:endParaRPr sz="2400">
              <a:solidFill>
                <a:srgbClr val="00000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Contributions</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System Overview</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Methodology</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Evaluation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243" name="Google Shape;243;p25"/>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idx="1" type="body"/>
          </p:nvPr>
        </p:nvSpPr>
        <p:spPr>
          <a:xfrm>
            <a:off x="421500" y="1279425"/>
            <a:ext cx="8301000" cy="3651900"/>
          </a:xfrm>
          <a:prstGeom prst="rect">
            <a:avLst/>
          </a:prstGeom>
        </p:spPr>
        <p:txBody>
          <a:bodyPr anchorCtr="0" anchor="t" bIns="34275" lIns="68575" spcFirstLastPara="1" rIns="68575" wrap="square" tIns="34275">
            <a:normAutofit/>
          </a:bodyPr>
          <a:lstStyle/>
          <a:p>
            <a:pPr indent="-374650" lvl="0" marL="457200" rtl="0" algn="l">
              <a:lnSpc>
                <a:spcPct val="100000"/>
              </a:lnSpc>
              <a:spcBef>
                <a:spcPts val="900"/>
              </a:spcBef>
              <a:spcAft>
                <a:spcPts val="0"/>
              </a:spcAft>
              <a:buSzPts val="2300"/>
              <a:buChar char="•"/>
            </a:pPr>
            <a:r>
              <a:rPr b="1" lang="zh-TW"/>
              <a:t>Adversarial Attack</a:t>
            </a:r>
            <a:endParaRPr b="1"/>
          </a:p>
          <a:p>
            <a:pPr indent="-317500" lvl="1" marL="914400" rtl="0" algn="l">
              <a:lnSpc>
                <a:spcPct val="100000"/>
              </a:lnSpc>
              <a:spcBef>
                <a:spcPts val="900"/>
              </a:spcBef>
              <a:spcAft>
                <a:spcPts val="0"/>
              </a:spcAft>
              <a:buSzPts val="1400"/>
              <a:buChar char="•"/>
            </a:pPr>
            <a:r>
              <a:rPr b="1" lang="zh-TW"/>
              <a:t>FGSM — single-step gradient sign [Goodfellow+ '15]</a:t>
            </a:r>
            <a:endParaRPr b="1"/>
          </a:p>
          <a:p>
            <a:pPr indent="-317500" lvl="1" marL="914400" rtl="0" algn="l">
              <a:lnSpc>
                <a:spcPct val="100000"/>
              </a:lnSpc>
              <a:spcBef>
                <a:spcPts val="900"/>
              </a:spcBef>
              <a:spcAft>
                <a:spcPts val="0"/>
              </a:spcAft>
              <a:buSzPts val="1400"/>
              <a:buChar char="•"/>
            </a:pPr>
            <a:r>
              <a:rPr b="1" lang="zh-TW"/>
              <a:t>CW — L2-optimized minimal perturbation [Carlini-Wagner '17]</a:t>
            </a:r>
            <a:endParaRPr b="1"/>
          </a:p>
          <a:p>
            <a:pPr indent="-317500" lvl="1" marL="914400" rtl="0" algn="l">
              <a:lnSpc>
                <a:spcPct val="100000"/>
              </a:lnSpc>
              <a:spcBef>
                <a:spcPts val="900"/>
              </a:spcBef>
              <a:spcAft>
                <a:spcPts val="0"/>
              </a:spcAft>
              <a:buSzPts val="1400"/>
              <a:buChar char="•"/>
            </a:pPr>
            <a:r>
              <a:rPr b="1" lang="zh-TW"/>
              <a:t>PGD — iterative [Madry+ '18]</a:t>
            </a:r>
            <a:endParaRPr b="1"/>
          </a:p>
          <a:p>
            <a:pPr indent="-317500" lvl="1" marL="914400" rtl="0" algn="l">
              <a:lnSpc>
                <a:spcPct val="100000"/>
              </a:lnSpc>
              <a:spcBef>
                <a:spcPts val="900"/>
              </a:spcBef>
              <a:spcAft>
                <a:spcPts val="0"/>
              </a:spcAft>
              <a:buSzPts val="1400"/>
              <a:buChar char="•"/>
            </a:pPr>
            <a:r>
              <a:rPr b="1" lang="zh-TW"/>
              <a:t>EAD — elastic-net, sparse L1 perturbation [Chen+ '18] </a:t>
            </a:r>
            <a:endParaRPr b="1"/>
          </a:p>
          <a:p>
            <a:pPr indent="0" lvl="0" marL="0" rtl="0" algn="l">
              <a:lnSpc>
                <a:spcPct val="100000"/>
              </a:lnSpc>
              <a:spcBef>
                <a:spcPts val="900"/>
              </a:spcBef>
              <a:spcAft>
                <a:spcPts val="0"/>
              </a:spcAft>
              <a:buNone/>
            </a:pPr>
            <a:r>
              <a:t/>
            </a:r>
            <a:endParaRPr b="1"/>
          </a:p>
        </p:txBody>
      </p:sp>
      <p:sp>
        <p:nvSpPr>
          <p:cNvPr id="249" name="Google Shape;249;p26"/>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Related Work: Adversarial Attacks</a:t>
            </a:r>
            <a:endParaRPr/>
          </a:p>
        </p:txBody>
      </p:sp>
      <p:sp>
        <p:nvSpPr>
          <p:cNvPr id="250" name="Google Shape;250;p26"/>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251" name="Google Shape;251;p26"/>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7"/>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FGSM: Fast Gradient Sign Method</a:t>
            </a:r>
            <a:endParaRPr/>
          </a:p>
        </p:txBody>
      </p:sp>
      <p:sp>
        <p:nvSpPr>
          <p:cNvPr id="257" name="Google Shape;257;p2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id="258" name="Google Shape;258;p27"/>
          <p:cNvPicPr preferRelativeResize="0"/>
          <p:nvPr/>
        </p:nvPicPr>
        <p:blipFill>
          <a:blip r:embed="rId3">
            <a:alphaModFix/>
          </a:blip>
          <a:stretch>
            <a:fillRect/>
          </a:stretch>
        </p:blipFill>
        <p:spPr>
          <a:xfrm>
            <a:off x="628650" y="1573849"/>
            <a:ext cx="1305425" cy="1165261"/>
          </a:xfrm>
          <a:prstGeom prst="rect">
            <a:avLst/>
          </a:prstGeom>
          <a:noFill/>
          <a:ln cap="flat" cmpd="sng" w="9525">
            <a:solidFill>
              <a:srgbClr val="333333"/>
            </a:solidFill>
            <a:prstDash val="solid"/>
            <a:round/>
            <a:headEnd len="sm" w="sm" type="none"/>
            <a:tailEnd len="sm" w="sm" type="none"/>
          </a:ln>
        </p:spPr>
      </p:pic>
      <p:pic>
        <p:nvPicPr>
          <p:cNvPr id="259" name="Google Shape;259;p27"/>
          <p:cNvPicPr preferRelativeResize="0"/>
          <p:nvPr/>
        </p:nvPicPr>
        <p:blipFill>
          <a:blip r:embed="rId4">
            <a:alphaModFix/>
          </a:blip>
          <a:stretch>
            <a:fillRect/>
          </a:stretch>
        </p:blipFill>
        <p:spPr>
          <a:xfrm>
            <a:off x="2236087" y="2040703"/>
            <a:ext cx="4543425" cy="647700"/>
          </a:xfrm>
          <a:prstGeom prst="rect">
            <a:avLst/>
          </a:prstGeom>
          <a:noFill/>
          <a:ln>
            <a:noFill/>
          </a:ln>
        </p:spPr>
      </p:pic>
      <p:pic>
        <p:nvPicPr>
          <p:cNvPr id="260" name="Google Shape;260;p27"/>
          <p:cNvPicPr preferRelativeResize="0"/>
          <p:nvPr/>
        </p:nvPicPr>
        <p:blipFill>
          <a:blip r:embed="rId3">
            <a:alphaModFix/>
          </a:blip>
          <a:stretch>
            <a:fillRect/>
          </a:stretch>
        </p:blipFill>
        <p:spPr>
          <a:xfrm>
            <a:off x="7181025" y="1573849"/>
            <a:ext cx="1305425" cy="1165261"/>
          </a:xfrm>
          <a:prstGeom prst="rect">
            <a:avLst/>
          </a:prstGeom>
          <a:noFill/>
          <a:ln cap="flat" cmpd="sng" w="9525">
            <a:solidFill>
              <a:srgbClr val="333333"/>
            </a:solidFill>
            <a:prstDash val="solid"/>
            <a:round/>
            <a:headEnd len="sm" w="sm" type="none"/>
            <a:tailEnd len="sm" w="sm" type="none"/>
          </a:ln>
        </p:spPr>
      </p:pic>
      <p:sp>
        <p:nvSpPr>
          <p:cNvPr id="261" name="Google Shape;261;p27"/>
          <p:cNvSpPr/>
          <p:nvPr/>
        </p:nvSpPr>
        <p:spPr>
          <a:xfrm>
            <a:off x="7380325" y="1799175"/>
            <a:ext cx="222900" cy="2055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27"/>
          <p:cNvSpPr/>
          <p:nvPr/>
        </p:nvSpPr>
        <p:spPr>
          <a:xfrm>
            <a:off x="8102275" y="178072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27"/>
          <p:cNvSpPr/>
          <p:nvPr/>
        </p:nvSpPr>
        <p:spPr>
          <a:xfrm>
            <a:off x="8050275" y="237727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7"/>
          <p:cNvSpPr/>
          <p:nvPr/>
        </p:nvSpPr>
        <p:spPr>
          <a:xfrm>
            <a:off x="7380313" y="237727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5" name="Google Shape;265;p27"/>
          <p:cNvCxnSpPr/>
          <p:nvPr/>
        </p:nvCxnSpPr>
        <p:spPr>
          <a:xfrm>
            <a:off x="1956550" y="1799175"/>
            <a:ext cx="5202000" cy="16200"/>
          </a:xfrm>
          <a:prstGeom prst="straightConnector1">
            <a:avLst/>
          </a:prstGeom>
          <a:noFill/>
          <a:ln cap="flat" cmpd="sng" w="28575">
            <a:solidFill>
              <a:schemeClr val="dk2"/>
            </a:solidFill>
            <a:prstDash val="solid"/>
            <a:round/>
            <a:headEnd len="med" w="med" type="none"/>
            <a:tailEnd len="med" w="med" type="triangle"/>
          </a:ln>
        </p:spPr>
      </p:cxnSp>
      <p:cxnSp>
        <p:nvCxnSpPr>
          <p:cNvPr id="266" name="Google Shape;266;p27"/>
          <p:cNvCxnSpPr/>
          <p:nvPr/>
        </p:nvCxnSpPr>
        <p:spPr>
          <a:xfrm>
            <a:off x="3781475" y="2571750"/>
            <a:ext cx="385200" cy="0"/>
          </a:xfrm>
          <a:prstGeom prst="straightConnector1">
            <a:avLst/>
          </a:prstGeom>
          <a:noFill/>
          <a:ln cap="flat" cmpd="sng" w="28575">
            <a:solidFill>
              <a:srgbClr val="FF0000"/>
            </a:solidFill>
            <a:prstDash val="solid"/>
            <a:round/>
            <a:headEnd len="med" w="med" type="none"/>
            <a:tailEnd len="med" w="med" type="none"/>
          </a:ln>
        </p:spPr>
      </p:cxnSp>
      <p:cxnSp>
        <p:nvCxnSpPr>
          <p:cNvPr id="267" name="Google Shape;267;p27"/>
          <p:cNvCxnSpPr/>
          <p:nvPr/>
        </p:nvCxnSpPr>
        <p:spPr>
          <a:xfrm>
            <a:off x="4315188" y="2571750"/>
            <a:ext cx="2345100" cy="11100"/>
          </a:xfrm>
          <a:prstGeom prst="straightConnector1">
            <a:avLst/>
          </a:prstGeom>
          <a:noFill/>
          <a:ln cap="flat" cmpd="sng" w="28575">
            <a:solidFill>
              <a:srgbClr val="FF0000"/>
            </a:solidFill>
            <a:prstDash val="solid"/>
            <a:round/>
            <a:headEnd len="med" w="med" type="none"/>
            <a:tailEnd len="med" w="med" type="none"/>
          </a:ln>
        </p:spPr>
      </p:cxnSp>
      <p:sp>
        <p:nvSpPr>
          <p:cNvPr id="268" name="Google Shape;268;p27"/>
          <p:cNvSpPr txBox="1"/>
          <p:nvPr/>
        </p:nvSpPr>
        <p:spPr>
          <a:xfrm>
            <a:off x="2946700" y="2817400"/>
            <a:ext cx="14649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1"/>
                </a:solidFill>
              </a:rPr>
              <a:t>perturbation</a:t>
            </a:r>
            <a:endParaRPr sz="1800">
              <a:solidFill>
                <a:schemeClr val="dk1"/>
              </a:solidFill>
            </a:endParaRPr>
          </a:p>
        </p:txBody>
      </p:sp>
      <p:sp>
        <p:nvSpPr>
          <p:cNvPr id="269" name="Google Shape;269;p27"/>
          <p:cNvSpPr txBox="1"/>
          <p:nvPr/>
        </p:nvSpPr>
        <p:spPr>
          <a:xfrm>
            <a:off x="4572000" y="2844100"/>
            <a:ext cx="2191500" cy="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1"/>
                </a:solidFill>
              </a:rPr>
              <a:t>backpropagation loss</a:t>
            </a:r>
            <a:endParaRPr sz="1800">
              <a:solidFill>
                <a:schemeClr val="dk1"/>
              </a:solidFill>
            </a:endParaRPr>
          </a:p>
        </p:txBody>
      </p:sp>
      <p:sp>
        <p:nvSpPr>
          <p:cNvPr id="270" name="Google Shape;270;p27"/>
          <p:cNvSpPr txBox="1"/>
          <p:nvPr/>
        </p:nvSpPr>
        <p:spPr>
          <a:xfrm>
            <a:off x="356725" y="3428800"/>
            <a:ext cx="8519100" cy="145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500">
                <a:solidFill>
                  <a:schemeClr val="dk1"/>
                </a:solidFill>
              </a:rPr>
              <a:t>Why it matters: </a:t>
            </a:r>
            <a:endParaRPr sz="25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fast one-step attack </a:t>
            </a:r>
            <a:endParaRPr sz="21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useful as a baseline vulnerability test </a:t>
            </a:r>
            <a:endParaRPr sz="21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shows whether AMC is sensitive to small I/Q perturbations</a:t>
            </a:r>
            <a:endParaRPr sz="21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CW: </a:t>
            </a:r>
            <a:r>
              <a:rPr lang="zh-TW"/>
              <a:t>Carlini-Wagner Attack </a:t>
            </a:r>
            <a:endParaRPr/>
          </a:p>
        </p:txBody>
      </p:sp>
      <p:sp>
        <p:nvSpPr>
          <p:cNvPr id="276" name="Google Shape;276;p28"/>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id="277" name="Google Shape;277;p28"/>
          <p:cNvPicPr preferRelativeResize="0"/>
          <p:nvPr/>
        </p:nvPicPr>
        <p:blipFill>
          <a:blip r:embed="rId3">
            <a:alphaModFix/>
          </a:blip>
          <a:stretch>
            <a:fillRect/>
          </a:stretch>
        </p:blipFill>
        <p:spPr>
          <a:xfrm>
            <a:off x="628650" y="1573849"/>
            <a:ext cx="1305425" cy="1165261"/>
          </a:xfrm>
          <a:prstGeom prst="rect">
            <a:avLst/>
          </a:prstGeom>
          <a:noFill/>
          <a:ln cap="flat" cmpd="sng" w="9525">
            <a:solidFill>
              <a:srgbClr val="333333"/>
            </a:solidFill>
            <a:prstDash val="solid"/>
            <a:round/>
            <a:headEnd len="sm" w="sm" type="none"/>
            <a:tailEnd len="sm" w="sm" type="none"/>
          </a:ln>
        </p:spPr>
      </p:pic>
      <p:cxnSp>
        <p:nvCxnSpPr>
          <p:cNvPr id="278" name="Google Shape;278;p28"/>
          <p:cNvCxnSpPr/>
          <p:nvPr/>
        </p:nvCxnSpPr>
        <p:spPr>
          <a:xfrm>
            <a:off x="1956550" y="1799175"/>
            <a:ext cx="5202000" cy="16200"/>
          </a:xfrm>
          <a:prstGeom prst="straightConnector1">
            <a:avLst/>
          </a:prstGeom>
          <a:noFill/>
          <a:ln cap="flat" cmpd="sng" w="28575">
            <a:solidFill>
              <a:schemeClr val="dk2"/>
            </a:solidFill>
            <a:prstDash val="solid"/>
            <a:round/>
            <a:headEnd len="med" w="med" type="none"/>
            <a:tailEnd len="med" w="med" type="triangle"/>
          </a:ln>
        </p:spPr>
      </p:cxnSp>
      <p:pic>
        <p:nvPicPr>
          <p:cNvPr id="279" name="Google Shape;279;p28"/>
          <p:cNvPicPr preferRelativeResize="0"/>
          <p:nvPr/>
        </p:nvPicPr>
        <p:blipFill>
          <a:blip r:embed="rId3">
            <a:alphaModFix/>
          </a:blip>
          <a:stretch>
            <a:fillRect/>
          </a:stretch>
        </p:blipFill>
        <p:spPr>
          <a:xfrm>
            <a:off x="7181025" y="1573849"/>
            <a:ext cx="1305425" cy="1165261"/>
          </a:xfrm>
          <a:prstGeom prst="rect">
            <a:avLst/>
          </a:prstGeom>
          <a:noFill/>
          <a:ln cap="flat" cmpd="sng" w="9525">
            <a:solidFill>
              <a:srgbClr val="333333"/>
            </a:solidFill>
            <a:prstDash val="solid"/>
            <a:round/>
            <a:headEnd len="sm" w="sm" type="none"/>
            <a:tailEnd len="sm" w="sm" type="none"/>
          </a:ln>
        </p:spPr>
      </p:pic>
      <p:sp>
        <p:nvSpPr>
          <p:cNvPr id="280" name="Google Shape;280;p28"/>
          <p:cNvSpPr/>
          <p:nvPr/>
        </p:nvSpPr>
        <p:spPr>
          <a:xfrm>
            <a:off x="7380325" y="1799175"/>
            <a:ext cx="222900" cy="2055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28"/>
          <p:cNvSpPr/>
          <p:nvPr/>
        </p:nvSpPr>
        <p:spPr>
          <a:xfrm>
            <a:off x="8102275" y="178072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28"/>
          <p:cNvSpPr/>
          <p:nvPr/>
        </p:nvSpPr>
        <p:spPr>
          <a:xfrm>
            <a:off x="8050275" y="237727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28"/>
          <p:cNvSpPr/>
          <p:nvPr/>
        </p:nvSpPr>
        <p:spPr>
          <a:xfrm>
            <a:off x="7380313" y="237727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4" name="Google Shape;284;p28"/>
          <p:cNvPicPr preferRelativeResize="0"/>
          <p:nvPr/>
        </p:nvPicPr>
        <p:blipFill>
          <a:blip r:embed="rId4">
            <a:alphaModFix/>
          </a:blip>
          <a:stretch>
            <a:fillRect/>
          </a:stretch>
        </p:blipFill>
        <p:spPr>
          <a:xfrm>
            <a:off x="2800025" y="1922860"/>
            <a:ext cx="3162300" cy="942975"/>
          </a:xfrm>
          <a:prstGeom prst="rect">
            <a:avLst/>
          </a:prstGeom>
          <a:noFill/>
          <a:ln>
            <a:noFill/>
          </a:ln>
        </p:spPr>
      </p:pic>
      <p:sp>
        <p:nvSpPr>
          <p:cNvPr id="285" name="Google Shape;285;p28"/>
          <p:cNvSpPr txBox="1"/>
          <p:nvPr/>
        </p:nvSpPr>
        <p:spPr>
          <a:xfrm>
            <a:off x="2123325" y="2865825"/>
            <a:ext cx="2337900" cy="4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1"/>
                </a:solidFill>
              </a:rPr>
              <a:t>minimal </a:t>
            </a:r>
            <a:r>
              <a:rPr lang="zh-TW" sz="1800">
                <a:solidFill>
                  <a:schemeClr val="dk1"/>
                </a:solidFill>
              </a:rPr>
              <a:t>perturbation</a:t>
            </a:r>
            <a:endParaRPr sz="1800">
              <a:solidFill>
                <a:schemeClr val="dk1"/>
              </a:solidFill>
            </a:endParaRPr>
          </a:p>
        </p:txBody>
      </p:sp>
      <p:sp>
        <p:nvSpPr>
          <p:cNvPr id="286" name="Google Shape;286;p28"/>
          <p:cNvSpPr txBox="1"/>
          <p:nvPr/>
        </p:nvSpPr>
        <p:spPr>
          <a:xfrm>
            <a:off x="4672450" y="2865824"/>
            <a:ext cx="2486100" cy="4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1"/>
                </a:solidFill>
              </a:rPr>
              <a:t>optimization objective</a:t>
            </a:r>
            <a:endParaRPr sz="1800">
              <a:solidFill>
                <a:schemeClr val="dk1"/>
              </a:solidFill>
            </a:endParaRPr>
          </a:p>
        </p:txBody>
      </p:sp>
      <p:sp>
        <p:nvSpPr>
          <p:cNvPr id="287" name="Google Shape;287;p28"/>
          <p:cNvSpPr txBox="1"/>
          <p:nvPr/>
        </p:nvSpPr>
        <p:spPr>
          <a:xfrm>
            <a:off x="356725" y="3428800"/>
            <a:ext cx="8519100" cy="145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500">
                <a:solidFill>
                  <a:schemeClr val="dk1"/>
                </a:solidFill>
              </a:rPr>
              <a:t>Why it matters: </a:t>
            </a:r>
            <a:endParaRPr sz="25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Iterative optimization-based attack </a:t>
            </a:r>
            <a:endParaRPr sz="21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Finds a small perturbation that changes the classifier output </a:t>
            </a:r>
            <a:endParaRPr sz="21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often more subtle and stronger than FGSM</a:t>
            </a:r>
            <a:endParaRPr sz="2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txBox="1"/>
          <p:nvPr>
            <p:ph idx="1" type="body"/>
          </p:nvPr>
        </p:nvSpPr>
        <p:spPr>
          <a:xfrm>
            <a:off x="421500" y="1279425"/>
            <a:ext cx="8301000" cy="3651900"/>
          </a:xfrm>
          <a:prstGeom prst="rect">
            <a:avLst/>
          </a:prstGeom>
        </p:spPr>
        <p:txBody>
          <a:bodyPr anchorCtr="0" anchor="t" bIns="34275" lIns="68575" spcFirstLastPara="1" rIns="68575" wrap="square" tIns="34275">
            <a:normAutofit/>
          </a:bodyPr>
          <a:lstStyle/>
          <a:p>
            <a:pPr indent="-317500" lvl="0" marL="457200" rtl="0" algn="l">
              <a:lnSpc>
                <a:spcPct val="100000"/>
              </a:lnSpc>
              <a:spcBef>
                <a:spcPts val="900"/>
              </a:spcBef>
              <a:spcAft>
                <a:spcPts val="0"/>
              </a:spcAft>
              <a:buSzPts val="1400"/>
              <a:buChar char="-"/>
            </a:pPr>
            <a:r>
              <a:rPr b="1" lang="zh-TW"/>
              <a:t>SafeAMC / RF-specific Adversarial Training, 2021–2022 </a:t>
            </a:r>
            <a:endParaRPr b="1"/>
          </a:p>
          <a:p>
            <a:pPr indent="-361950" lvl="1" marL="914400" rtl="0" algn="l">
              <a:lnSpc>
                <a:spcPct val="115000"/>
              </a:lnSpc>
              <a:spcBef>
                <a:spcPts val="0"/>
              </a:spcBef>
              <a:spcAft>
                <a:spcPts val="0"/>
              </a:spcAft>
              <a:buSzPts val="2100"/>
              <a:buChar char="-"/>
            </a:pPr>
            <a:r>
              <a:rPr lang="zh-TW"/>
              <a:t>Adversarial training fine-tunes AMC models with adversarially perturbed IQ samples. SafeAMC shows that RF modulation classifiers can benefit from adversarial training, and robust models tend to rely more on modulation-relevant signal statistics such as constellation structures. </a:t>
            </a:r>
            <a:endParaRPr/>
          </a:p>
          <a:p>
            <a:pPr indent="-361950" lvl="1" marL="914400" rtl="0" algn="l">
              <a:lnSpc>
                <a:spcPct val="100000"/>
              </a:lnSpc>
              <a:spcBef>
                <a:spcPts val="0"/>
              </a:spcBef>
              <a:spcAft>
                <a:spcPts val="0"/>
              </a:spcAft>
              <a:buSzPts val="2100"/>
              <a:buChar char="-"/>
            </a:pPr>
            <a:r>
              <a:rPr b="1" lang="zh-TW" u="sng"/>
              <a:t>Limitation</a:t>
            </a:r>
            <a:r>
              <a:rPr b="1" lang="zh-TW"/>
              <a:t>:</a:t>
            </a:r>
            <a:r>
              <a:rPr lang="zh-TW"/>
              <a:t> Robustness is usually tied to the attack type and perturbation budget used during training. It may not generalize well to unseen adaptive attacks, new channel conditions, or different SNR regimes. It also requires retraining and increases training cost. </a:t>
            </a:r>
            <a:endParaRPr sz="2500"/>
          </a:p>
          <a:p>
            <a:pPr indent="0" lvl="0" marL="0" rtl="0" algn="l">
              <a:lnSpc>
                <a:spcPct val="100000"/>
              </a:lnSpc>
              <a:spcBef>
                <a:spcPts val="900"/>
              </a:spcBef>
              <a:spcAft>
                <a:spcPts val="0"/>
              </a:spcAft>
              <a:buNone/>
            </a:pPr>
            <a:r>
              <a:t/>
            </a:r>
            <a:endParaRPr b="1"/>
          </a:p>
        </p:txBody>
      </p:sp>
      <p:sp>
        <p:nvSpPr>
          <p:cNvPr id="293" name="Google Shape;293;p29"/>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Related Work: SafeAMC</a:t>
            </a:r>
            <a:endParaRPr/>
          </a:p>
        </p:txBody>
      </p:sp>
      <p:sp>
        <p:nvSpPr>
          <p:cNvPr id="294" name="Google Shape;294;p29"/>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295" name="Google Shape;295;p29"/>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0"/>
          <p:cNvSpPr txBox="1"/>
          <p:nvPr>
            <p:ph idx="1" type="body"/>
          </p:nvPr>
        </p:nvSpPr>
        <p:spPr>
          <a:xfrm>
            <a:off x="421500" y="1279425"/>
            <a:ext cx="8301000" cy="3651900"/>
          </a:xfrm>
          <a:prstGeom prst="rect">
            <a:avLst/>
          </a:prstGeom>
        </p:spPr>
        <p:txBody>
          <a:bodyPr anchorCtr="0" anchor="t" bIns="34275" lIns="68575" spcFirstLastPara="1" rIns="68575" wrap="square" tIns="34275">
            <a:normAutofit/>
          </a:bodyPr>
          <a:lstStyle/>
          <a:p>
            <a:pPr indent="-317500" lvl="0" marL="457200" rtl="0" algn="l">
              <a:lnSpc>
                <a:spcPct val="100000"/>
              </a:lnSpc>
              <a:spcBef>
                <a:spcPts val="900"/>
              </a:spcBef>
              <a:spcAft>
                <a:spcPts val="0"/>
              </a:spcAft>
              <a:buSzPts val="1400"/>
              <a:buChar char="-"/>
            </a:pPr>
            <a:r>
              <a:rPr b="1" lang="zh-TW"/>
              <a:t>MDPD — Mapping-based Data Processing Defense, 2023  </a:t>
            </a:r>
            <a:endParaRPr b="1"/>
          </a:p>
          <a:p>
            <a:pPr indent="-342900" lvl="1" marL="914400" rtl="0" algn="l">
              <a:lnSpc>
                <a:spcPct val="115000"/>
              </a:lnSpc>
              <a:spcBef>
                <a:spcPts val="0"/>
              </a:spcBef>
              <a:spcAft>
                <a:spcPts val="0"/>
              </a:spcAft>
              <a:buSzPts val="1800"/>
              <a:buChar char="-"/>
            </a:pPr>
            <a:r>
              <a:rPr lang="zh-TW"/>
              <a:t>Applies RF-specific input mappings such as </a:t>
            </a:r>
            <a:r>
              <a:rPr b="1" lang="zh-TW"/>
              <a:t>random split, time-domain flips, and phase rotations</a:t>
            </a:r>
            <a:r>
              <a:rPr lang="zh-TW"/>
              <a:t> to disrupt adversarial perturbations before classification. It does not require fine-tuning or incremental training.</a:t>
            </a:r>
            <a:endParaRPr/>
          </a:p>
          <a:p>
            <a:pPr indent="-361950" lvl="1" marL="914400" rtl="0" algn="l">
              <a:lnSpc>
                <a:spcPct val="100000"/>
              </a:lnSpc>
              <a:spcBef>
                <a:spcPts val="0"/>
              </a:spcBef>
              <a:spcAft>
                <a:spcPts val="0"/>
              </a:spcAft>
              <a:buSzPts val="2100"/>
              <a:buChar char="-"/>
            </a:pPr>
            <a:r>
              <a:rPr b="1" lang="zh-TW" u="sng"/>
              <a:t>Limitation</a:t>
            </a:r>
            <a:r>
              <a:rPr b="1" lang="zh-TW"/>
              <a:t>:</a:t>
            </a:r>
            <a:r>
              <a:rPr lang="zh-TW"/>
              <a:t> </a:t>
            </a:r>
            <a:r>
              <a:rPr lang="zh-TW"/>
              <a:t>It is a heuristic input transformation. If the attacker knows the transformation distribution, they can perform expectation-over-transformation style attacks. Some mappings may also disturb phase-sensitive modulation features. </a:t>
            </a:r>
            <a:endParaRPr sz="2500"/>
          </a:p>
          <a:p>
            <a:pPr indent="0" lvl="0" marL="0" rtl="0" algn="l">
              <a:lnSpc>
                <a:spcPct val="100000"/>
              </a:lnSpc>
              <a:spcBef>
                <a:spcPts val="900"/>
              </a:spcBef>
              <a:spcAft>
                <a:spcPts val="0"/>
              </a:spcAft>
              <a:buNone/>
            </a:pPr>
            <a:r>
              <a:t/>
            </a:r>
            <a:endParaRPr b="1"/>
          </a:p>
        </p:txBody>
      </p:sp>
      <p:sp>
        <p:nvSpPr>
          <p:cNvPr id="301" name="Google Shape;301;p30"/>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Related Work: MDPD</a:t>
            </a:r>
            <a:endParaRPr/>
          </a:p>
        </p:txBody>
      </p:sp>
      <p:sp>
        <p:nvSpPr>
          <p:cNvPr id="302" name="Google Shape;302;p30"/>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303" name="Google Shape;303;p30"/>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1"/>
          <p:cNvSpPr txBox="1"/>
          <p:nvPr>
            <p:ph idx="1" type="body"/>
          </p:nvPr>
        </p:nvSpPr>
        <p:spPr>
          <a:xfrm>
            <a:off x="421500" y="1279425"/>
            <a:ext cx="8301000" cy="3651900"/>
          </a:xfrm>
          <a:prstGeom prst="rect">
            <a:avLst/>
          </a:prstGeom>
        </p:spPr>
        <p:txBody>
          <a:bodyPr anchorCtr="0" anchor="t" bIns="34275" lIns="68575" spcFirstLastPara="1" rIns="68575" wrap="square" tIns="34275">
            <a:normAutofit fontScale="92500" lnSpcReduction="20000"/>
          </a:bodyPr>
          <a:lstStyle/>
          <a:p>
            <a:pPr indent="-351949" lvl="0" marL="457200" rtl="0" algn="l">
              <a:lnSpc>
                <a:spcPct val="100000"/>
              </a:lnSpc>
              <a:spcBef>
                <a:spcPts val="900"/>
              </a:spcBef>
              <a:spcAft>
                <a:spcPts val="0"/>
              </a:spcAft>
              <a:buSzPct val="116667"/>
              <a:buChar char="-"/>
            </a:pPr>
            <a:r>
              <a:rPr lang="zh-TW" sz="1800"/>
              <a:t>FRS — Filtered Randomized Smoothing, 2024 </a:t>
            </a:r>
            <a:endParaRPr b="1" sz="2800"/>
          </a:p>
          <a:p>
            <a:pPr indent="-340201" lvl="1" marL="914400" rtl="0" algn="l">
              <a:lnSpc>
                <a:spcPct val="115000"/>
              </a:lnSpc>
              <a:spcBef>
                <a:spcPts val="0"/>
              </a:spcBef>
              <a:spcAft>
                <a:spcPts val="0"/>
              </a:spcAft>
              <a:buSzPct val="100000"/>
              <a:buChar char="-"/>
            </a:pPr>
            <a:r>
              <a:rPr lang="zh-TW" sz="1900"/>
              <a:t>Combines </a:t>
            </a:r>
            <a:r>
              <a:rPr b="1" lang="zh-TW" sz="1900"/>
              <a:t>spectral filtering + randomized smoothing</a:t>
            </a:r>
            <a:r>
              <a:rPr lang="zh-TW" sz="1900"/>
              <a:t>. The paper observes that clean RF signals tend to be more frequency-localized, while FGSM / PGD perturbations are more spread out in frequency. FRS uses filtering plus Gaussian smoothing to provide certified robustness for modulation classification </a:t>
            </a:r>
            <a:endParaRPr sz="1900"/>
          </a:p>
          <a:p>
            <a:pPr indent="0" lvl="0" marL="914400" rtl="0" algn="l">
              <a:lnSpc>
                <a:spcPct val="115000"/>
              </a:lnSpc>
              <a:spcBef>
                <a:spcPts val="1200"/>
              </a:spcBef>
              <a:spcAft>
                <a:spcPts val="0"/>
              </a:spcAft>
              <a:buNone/>
            </a:pPr>
            <a:r>
              <a:t/>
            </a:r>
            <a:endParaRPr/>
          </a:p>
          <a:p>
            <a:pPr indent="-351949" lvl="1" marL="914400" rtl="0" algn="l">
              <a:lnSpc>
                <a:spcPct val="100000"/>
              </a:lnSpc>
              <a:spcBef>
                <a:spcPts val="1200"/>
              </a:spcBef>
              <a:spcAft>
                <a:spcPts val="0"/>
              </a:spcAft>
              <a:buSzPct val="84000"/>
              <a:buChar char="-"/>
            </a:pPr>
            <a:r>
              <a:rPr b="1" lang="zh-TW" u="sng"/>
              <a:t>Limitation</a:t>
            </a:r>
            <a:r>
              <a:rPr b="1" lang="zh-TW"/>
              <a:t>:</a:t>
            </a:r>
            <a:r>
              <a:rPr lang="zh-TW"/>
              <a:t> </a:t>
            </a:r>
            <a:r>
              <a:rPr lang="zh-TW"/>
              <a:t>Randomized smoothing requires multiple noisy inference samples, so runtime cost is high. Larger noise improves certification but reduces clean accuracy. The paper also notes that filtering may hurt some modulation types such as AM-SSB because the filter design may not match asymmetric spectral structures. </a:t>
            </a:r>
            <a:r>
              <a:rPr lang="zh-TW"/>
              <a:t> </a:t>
            </a:r>
            <a:endParaRPr sz="2500"/>
          </a:p>
          <a:p>
            <a:pPr indent="0" lvl="0" marL="0" rtl="0" algn="l">
              <a:lnSpc>
                <a:spcPct val="100000"/>
              </a:lnSpc>
              <a:spcBef>
                <a:spcPts val="900"/>
              </a:spcBef>
              <a:spcAft>
                <a:spcPts val="0"/>
              </a:spcAft>
              <a:buNone/>
            </a:pPr>
            <a:r>
              <a:t/>
            </a:r>
            <a:endParaRPr b="1"/>
          </a:p>
        </p:txBody>
      </p:sp>
      <p:sp>
        <p:nvSpPr>
          <p:cNvPr id="309" name="Google Shape;309;p31"/>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Related Work: FRS</a:t>
            </a:r>
            <a:endParaRPr/>
          </a:p>
        </p:txBody>
      </p:sp>
      <p:sp>
        <p:nvSpPr>
          <p:cNvPr id="310" name="Google Shape;310;p31"/>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311" name="Google Shape;311;p31"/>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2"/>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317" name="Google Shape;317;p32"/>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Clr>
                <a:srgbClr val="E0E0E0"/>
              </a:buClr>
              <a:buSzPts val="2400"/>
              <a:buChar char="•"/>
            </a:pPr>
            <a:r>
              <a:rPr lang="zh-TW" sz="2400">
                <a:solidFill>
                  <a:srgbClr val="E0E0E0"/>
                </a:solidFill>
                <a:latin typeface="Arial"/>
                <a:ea typeface="Arial"/>
                <a:cs typeface="Arial"/>
                <a:sym typeface="Arial"/>
              </a:rPr>
              <a:t>Motivation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Related Work</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1F1F1F"/>
              </a:buClr>
              <a:buSzPts val="2400"/>
              <a:buFont typeface="Arial"/>
              <a:buChar char="•"/>
            </a:pPr>
            <a:r>
              <a:rPr lang="zh-TW" sz="2400">
                <a:solidFill>
                  <a:srgbClr val="1F1F1F"/>
                </a:solidFill>
                <a:latin typeface="Arial"/>
                <a:ea typeface="Arial"/>
                <a:cs typeface="Arial"/>
                <a:sym typeface="Arial"/>
              </a:rPr>
              <a:t>Contributions</a:t>
            </a:r>
            <a:endParaRPr sz="2400">
              <a:solidFill>
                <a:srgbClr val="1F1F1F"/>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System Overview</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Methodology</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Evaluation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318" name="Google Shape;318;p32"/>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3"/>
          <p:cNvSpPr txBox="1"/>
          <p:nvPr>
            <p:ph idx="1" type="body"/>
          </p:nvPr>
        </p:nvSpPr>
        <p:spPr>
          <a:xfrm>
            <a:off x="421500" y="1279425"/>
            <a:ext cx="8301000" cy="3651900"/>
          </a:xfrm>
          <a:prstGeom prst="rect">
            <a:avLst/>
          </a:prstGeom>
        </p:spPr>
        <p:txBody>
          <a:bodyPr anchorCtr="0" anchor="t" bIns="34275" lIns="68575" spcFirstLastPara="1" rIns="68575" wrap="square" tIns="34275">
            <a:normAutofit lnSpcReduction="20000"/>
          </a:bodyPr>
          <a:lstStyle/>
          <a:p>
            <a:pPr indent="-361950" lvl="0" marL="457200" rtl="0" algn="l">
              <a:lnSpc>
                <a:spcPct val="100000"/>
              </a:lnSpc>
              <a:spcBef>
                <a:spcPts val="900"/>
              </a:spcBef>
              <a:spcAft>
                <a:spcPts val="0"/>
              </a:spcAft>
              <a:buSzPts val="2100"/>
              <a:buChar char="•"/>
            </a:pPr>
            <a:r>
              <a:rPr b="1" lang="zh-TW"/>
              <a:t>Adaptive-FFT-K frequency-domain defense</a:t>
            </a:r>
            <a:endParaRPr b="1"/>
          </a:p>
          <a:p>
            <a:pPr indent="-317500" lvl="1" marL="914400" rtl="0" algn="l">
              <a:lnSpc>
                <a:spcPct val="100000"/>
              </a:lnSpc>
              <a:spcBef>
                <a:spcPts val="900"/>
              </a:spcBef>
              <a:spcAft>
                <a:spcPts val="0"/>
              </a:spcAft>
              <a:buSzPts val="1400"/>
              <a:buChar char="•"/>
            </a:pPr>
            <a:r>
              <a:rPr b="1" lang="zh-TW"/>
              <a:t>Failure analysis of knee-only Adaptive-K</a:t>
            </a:r>
            <a:endParaRPr b="1"/>
          </a:p>
          <a:p>
            <a:pPr indent="-317500" lvl="0" marL="1371600" rtl="0" algn="l">
              <a:lnSpc>
                <a:spcPct val="100000"/>
              </a:lnSpc>
              <a:spcBef>
                <a:spcPts val="0"/>
              </a:spcBef>
              <a:spcAft>
                <a:spcPts val="0"/>
              </a:spcAft>
              <a:buSzPts val="1400"/>
              <a:buChar char="-"/>
            </a:pPr>
            <a:r>
              <a:rPr lang="zh-TW"/>
              <a:t>CW attacks inflate spectral tails and cause K overestimation.</a:t>
            </a:r>
            <a:endParaRPr/>
          </a:p>
          <a:p>
            <a:pPr indent="-317500" lvl="1" marL="914400" rtl="0" algn="l">
              <a:lnSpc>
                <a:spcPct val="100000"/>
              </a:lnSpc>
              <a:spcBef>
                <a:spcPts val="900"/>
              </a:spcBef>
              <a:spcAft>
                <a:spcPts val="0"/>
              </a:spcAft>
              <a:buSzPts val="1400"/>
              <a:buChar char="•"/>
            </a:pPr>
            <a:r>
              <a:rPr b="1" lang="zh-TW"/>
              <a:t>SNR-aware Adaptive-FFT-K defense</a:t>
            </a:r>
            <a:endParaRPr b="1"/>
          </a:p>
          <a:p>
            <a:pPr indent="-317500" lvl="0" marL="1371600" rtl="0" algn="l">
              <a:lnSpc>
                <a:spcPct val="100000"/>
              </a:lnSpc>
              <a:spcBef>
                <a:spcPts val="0"/>
              </a:spcBef>
              <a:spcAft>
                <a:spcPts val="0"/>
              </a:spcAft>
              <a:buSzPts val="1400"/>
              <a:buChar char="-"/>
            </a:pPr>
            <a:r>
              <a:rPr lang="zh-TW"/>
              <a:t>Combines spectral-flatness routing, knee estimation, and SNR-bounded K.</a:t>
            </a:r>
            <a:endParaRPr/>
          </a:p>
          <a:p>
            <a:pPr indent="-317500" lvl="1" marL="914400" rtl="0" algn="l">
              <a:lnSpc>
                <a:spcPct val="100000"/>
              </a:lnSpc>
              <a:spcBef>
                <a:spcPts val="900"/>
              </a:spcBef>
              <a:spcAft>
                <a:spcPts val="0"/>
              </a:spcAft>
              <a:buSzPts val="1400"/>
              <a:buChar char="•"/>
            </a:pPr>
            <a:r>
              <a:rPr b="1" lang="zh-TW"/>
              <a:t>Systematic robustness evaluation</a:t>
            </a:r>
            <a:endParaRPr b="1"/>
          </a:p>
          <a:p>
            <a:pPr indent="-317500" lvl="0" marL="1371600" rtl="0" algn="l">
              <a:lnSpc>
                <a:spcPct val="100000"/>
              </a:lnSpc>
              <a:spcBef>
                <a:spcPts val="0"/>
              </a:spcBef>
              <a:spcAft>
                <a:spcPts val="0"/>
              </a:spcAft>
              <a:buSzPts val="1400"/>
              <a:buChar char="-"/>
            </a:pPr>
            <a:r>
              <a:rPr lang="zh-TW"/>
              <a:t>Five attacks (FGSM, PGD, CW, EAD-L1, EAD-EN), SNR 0–18 dB, RML2016.10a.</a:t>
            </a:r>
            <a:endParaRPr/>
          </a:p>
          <a:p>
            <a:pPr indent="-317500" lvl="0" marL="1371600" rtl="0" algn="l">
              <a:lnSpc>
                <a:spcPct val="100000"/>
              </a:lnSpc>
              <a:spcBef>
                <a:spcPts val="0"/>
              </a:spcBef>
              <a:spcAft>
                <a:spcPts val="0"/>
              </a:spcAft>
              <a:buSzPts val="1400"/>
              <a:buChar char="-"/>
            </a:pPr>
            <a:r>
              <a:rPr lang="zh-TW"/>
              <a:t>CW 35.4 → 71.3%, EAD-L1 6.6 → 70.8%; one shared FFT/IFFT, no retraining.</a:t>
            </a:r>
            <a:endParaRPr/>
          </a:p>
          <a:p>
            <a:pPr indent="0" lvl="0" marL="457200" rtl="0" algn="l">
              <a:lnSpc>
                <a:spcPct val="100000"/>
              </a:lnSpc>
              <a:spcBef>
                <a:spcPts val="900"/>
              </a:spcBef>
              <a:spcAft>
                <a:spcPts val="0"/>
              </a:spcAft>
              <a:buNone/>
            </a:pPr>
            <a:r>
              <a:t/>
            </a:r>
            <a:endParaRPr/>
          </a:p>
        </p:txBody>
      </p:sp>
      <p:sp>
        <p:nvSpPr>
          <p:cNvPr id="324" name="Google Shape;324;p33"/>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Contributions</a:t>
            </a:r>
            <a:endParaRPr/>
          </a:p>
        </p:txBody>
      </p:sp>
      <p:sp>
        <p:nvSpPr>
          <p:cNvPr id="325" name="Google Shape;325;p33"/>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326" name="Google Shape;326;p33"/>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4"/>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332" name="Google Shape;332;p34"/>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Clr>
                <a:srgbClr val="E0E0E0"/>
              </a:buClr>
              <a:buSzPts val="2400"/>
              <a:buChar char="•"/>
            </a:pPr>
            <a:r>
              <a:rPr lang="zh-TW" sz="2400">
                <a:solidFill>
                  <a:srgbClr val="E0E0E0"/>
                </a:solidFill>
                <a:latin typeface="Arial"/>
                <a:ea typeface="Arial"/>
                <a:cs typeface="Arial"/>
                <a:sym typeface="Arial"/>
              </a:rPr>
              <a:t>Motivation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Related Work</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Contributions</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1F1F1F"/>
              </a:buClr>
              <a:buSzPts val="2400"/>
              <a:buFont typeface="Arial"/>
              <a:buChar char="•"/>
            </a:pPr>
            <a:r>
              <a:rPr lang="zh-TW" sz="2400">
                <a:solidFill>
                  <a:srgbClr val="1F1F1F"/>
                </a:solidFill>
                <a:latin typeface="Arial"/>
                <a:ea typeface="Arial"/>
                <a:cs typeface="Arial"/>
                <a:sym typeface="Arial"/>
              </a:rPr>
              <a:t>System Overview</a:t>
            </a:r>
            <a:endParaRPr sz="2400">
              <a:solidFill>
                <a:srgbClr val="1F1F1F"/>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Methodology</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Evaluation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333" name="Google Shape;333;p34"/>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5"/>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System Overview</a:t>
            </a:r>
            <a:endParaRPr/>
          </a:p>
        </p:txBody>
      </p:sp>
      <p:sp>
        <p:nvSpPr>
          <p:cNvPr id="339" name="Google Shape;339;p35"/>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sp>
        <p:nvSpPr>
          <p:cNvPr id="340" name="Google Shape;340;p35"/>
          <p:cNvSpPr txBox="1"/>
          <p:nvPr/>
        </p:nvSpPr>
        <p:spPr>
          <a:xfrm>
            <a:off x="435625" y="1450650"/>
            <a:ext cx="1098000" cy="58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rPr>
              <a:t>      </a:t>
            </a:r>
            <a:r>
              <a:rPr b="1" lang="zh-TW" sz="1100">
                <a:solidFill>
                  <a:schemeClr val="dk1"/>
                </a:solidFill>
              </a:rPr>
              <a:t>Input IQ </a:t>
            </a:r>
            <a:endParaRPr b="1" sz="1100">
              <a:solidFill>
                <a:schemeClr val="dk1"/>
              </a:solidFill>
            </a:endParaRPr>
          </a:p>
          <a:p>
            <a:pPr indent="0" lvl="0" marL="0" rtl="0" algn="l">
              <a:spcBef>
                <a:spcPts val="0"/>
              </a:spcBef>
              <a:spcAft>
                <a:spcPts val="0"/>
              </a:spcAft>
              <a:buNone/>
            </a:pPr>
            <a:r>
              <a:rPr b="1" lang="zh-TW" sz="1100">
                <a:solidFill>
                  <a:schemeClr val="dk1"/>
                </a:solidFill>
              </a:rPr>
              <a:t>        sample</a:t>
            </a:r>
            <a:endParaRPr b="1" sz="1100">
              <a:solidFill>
                <a:schemeClr val="dk1"/>
              </a:solidFill>
            </a:endParaRPr>
          </a:p>
        </p:txBody>
      </p:sp>
      <p:cxnSp>
        <p:nvCxnSpPr>
          <p:cNvPr id="341" name="Google Shape;341;p35"/>
          <p:cNvCxnSpPr>
            <a:stCxn id="340" idx="3"/>
            <a:endCxn id="342" idx="1"/>
          </p:cNvCxnSpPr>
          <p:nvPr/>
        </p:nvCxnSpPr>
        <p:spPr>
          <a:xfrm>
            <a:off x="1533625" y="1743900"/>
            <a:ext cx="486000" cy="0"/>
          </a:xfrm>
          <a:prstGeom prst="straightConnector1">
            <a:avLst/>
          </a:prstGeom>
          <a:noFill/>
          <a:ln cap="flat" cmpd="sng" w="9525">
            <a:solidFill>
              <a:schemeClr val="dk2"/>
            </a:solidFill>
            <a:prstDash val="solid"/>
            <a:round/>
            <a:headEnd len="med" w="med" type="none"/>
            <a:tailEnd len="med" w="med" type="triangle"/>
          </a:ln>
        </p:spPr>
      </p:cxnSp>
      <p:cxnSp>
        <p:nvCxnSpPr>
          <p:cNvPr id="343" name="Google Shape;343;p35"/>
          <p:cNvCxnSpPr>
            <a:stCxn id="342" idx="3"/>
            <a:endCxn id="344" idx="1"/>
          </p:cNvCxnSpPr>
          <p:nvPr/>
        </p:nvCxnSpPr>
        <p:spPr>
          <a:xfrm>
            <a:off x="3117500" y="1743900"/>
            <a:ext cx="602700" cy="13200"/>
          </a:xfrm>
          <a:prstGeom prst="straightConnector1">
            <a:avLst/>
          </a:prstGeom>
          <a:noFill/>
          <a:ln cap="flat" cmpd="sng" w="9525">
            <a:solidFill>
              <a:schemeClr val="dk2"/>
            </a:solidFill>
            <a:prstDash val="solid"/>
            <a:round/>
            <a:headEnd len="med" w="med" type="none"/>
            <a:tailEnd len="med" w="med" type="triangle"/>
          </a:ln>
        </p:spPr>
      </p:cxnSp>
      <p:cxnSp>
        <p:nvCxnSpPr>
          <p:cNvPr id="345" name="Google Shape;345;p35"/>
          <p:cNvCxnSpPr>
            <a:stCxn id="346" idx="3"/>
            <a:endCxn id="347" idx="1"/>
          </p:cNvCxnSpPr>
          <p:nvPr/>
        </p:nvCxnSpPr>
        <p:spPr>
          <a:xfrm>
            <a:off x="4786225" y="1709575"/>
            <a:ext cx="528300" cy="0"/>
          </a:xfrm>
          <a:prstGeom prst="straightConnector1">
            <a:avLst/>
          </a:prstGeom>
          <a:noFill/>
          <a:ln cap="flat" cmpd="sng" w="9525">
            <a:solidFill>
              <a:schemeClr val="dk2"/>
            </a:solidFill>
            <a:prstDash val="solid"/>
            <a:round/>
            <a:headEnd len="med" w="med" type="none"/>
            <a:tailEnd len="med" w="med" type="triangle"/>
          </a:ln>
        </p:spPr>
      </p:cxnSp>
      <p:cxnSp>
        <p:nvCxnSpPr>
          <p:cNvPr id="348" name="Google Shape;348;p35"/>
          <p:cNvCxnSpPr>
            <a:stCxn id="347" idx="3"/>
            <a:endCxn id="349" idx="1"/>
          </p:cNvCxnSpPr>
          <p:nvPr/>
        </p:nvCxnSpPr>
        <p:spPr>
          <a:xfrm>
            <a:off x="6459025" y="1709575"/>
            <a:ext cx="721500" cy="0"/>
          </a:xfrm>
          <a:prstGeom prst="straightConnector1">
            <a:avLst/>
          </a:prstGeom>
          <a:noFill/>
          <a:ln cap="flat" cmpd="sng" w="9525">
            <a:solidFill>
              <a:schemeClr val="dk2"/>
            </a:solidFill>
            <a:prstDash val="solid"/>
            <a:round/>
            <a:headEnd len="med" w="med" type="none"/>
            <a:tailEnd len="med" w="med" type="triangle"/>
          </a:ln>
        </p:spPr>
      </p:cxnSp>
      <p:pic>
        <p:nvPicPr>
          <p:cNvPr id="350" name="Google Shape;350;p35"/>
          <p:cNvPicPr preferRelativeResize="0"/>
          <p:nvPr/>
        </p:nvPicPr>
        <p:blipFill>
          <a:blip r:embed="rId3">
            <a:alphaModFix/>
          </a:blip>
          <a:stretch>
            <a:fillRect/>
          </a:stretch>
        </p:blipFill>
        <p:spPr>
          <a:xfrm>
            <a:off x="487625" y="1619800"/>
            <a:ext cx="274853" cy="274853"/>
          </a:xfrm>
          <a:prstGeom prst="rect">
            <a:avLst/>
          </a:prstGeom>
          <a:noFill/>
          <a:ln>
            <a:noFill/>
          </a:ln>
        </p:spPr>
      </p:pic>
      <p:sp>
        <p:nvSpPr>
          <p:cNvPr id="342" name="Google Shape;342;p35"/>
          <p:cNvSpPr txBox="1"/>
          <p:nvPr/>
        </p:nvSpPr>
        <p:spPr>
          <a:xfrm>
            <a:off x="2019500" y="1450650"/>
            <a:ext cx="1098000" cy="58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lang="zh-TW" sz="1500">
                <a:solidFill>
                  <a:schemeClr val="dk1"/>
                </a:solidFill>
              </a:rPr>
              <a:t>    </a:t>
            </a:r>
            <a:r>
              <a:rPr b="1" lang="zh-TW" sz="1100">
                <a:solidFill>
                  <a:schemeClr val="dk1"/>
                </a:solidFill>
              </a:rPr>
              <a:t>One-pass</a:t>
            </a:r>
            <a:endParaRPr b="1" sz="1100">
              <a:solidFill>
                <a:schemeClr val="dk1"/>
              </a:solidFill>
            </a:endParaRPr>
          </a:p>
          <a:p>
            <a:pPr indent="0" lvl="0" marL="0" rtl="0" algn="l">
              <a:spcBef>
                <a:spcPts val="0"/>
              </a:spcBef>
              <a:spcAft>
                <a:spcPts val="0"/>
              </a:spcAft>
              <a:buNone/>
            </a:pPr>
            <a:r>
              <a:rPr b="1" lang="zh-TW" sz="1100">
                <a:solidFill>
                  <a:schemeClr val="dk1"/>
                </a:solidFill>
              </a:rPr>
              <a:t>             FFT</a:t>
            </a:r>
            <a:endParaRPr b="1" sz="1100">
              <a:solidFill>
                <a:schemeClr val="dk1"/>
              </a:solidFill>
            </a:endParaRPr>
          </a:p>
        </p:txBody>
      </p:sp>
      <p:sp>
        <p:nvSpPr>
          <p:cNvPr id="346" name="Google Shape;346;p35"/>
          <p:cNvSpPr txBox="1"/>
          <p:nvPr/>
        </p:nvSpPr>
        <p:spPr>
          <a:xfrm>
            <a:off x="3688225" y="1416325"/>
            <a:ext cx="1098000" cy="58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rPr>
              <a:t>      </a:t>
            </a:r>
            <a:r>
              <a:rPr b="1" lang="zh-TW" sz="1100">
                <a:solidFill>
                  <a:schemeClr val="dk1"/>
                </a:solidFill>
              </a:rPr>
              <a:t>Spectral</a:t>
            </a:r>
            <a:endParaRPr b="1" sz="1100">
              <a:solidFill>
                <a:schemeClr val="dk1"/>
              </a:solidFill>
            </a:endParaRPr>
          </a:p>
          <a:p>
            <a:pPr indent="0" lvl="0" marL="0" rtl="0" algn="l">
              <a:spcBef>
                <a:spcPts val="0"/>
              </a:spcBef>
              <a:spcAft>
                <a:spcPts val="0"/>
              </a:spcAft>
              <a:buNone/>
            </a:pPr>
            <a:r>
              <a:rPr b="1" lang="zh-TW" sz="1100">
                <a:solidFill>
                  <a:schemeClr val="dk1"/>
                </a:solidFill>
              </a:rPr>
              <a:t>        Analysis</a:t>
            </a:r>
            <a:endParaRPr b="1" sz="1100">
              <a:solidFill>
                <a:schemeClr val="dk1"/>
              </a:solidFill>
            </a:endParaRPr>
          </a:p>
        </p:txBody>
      </p:sp>
      <p:sp>
        <p:nvSpPr>
          <p:cNvPr id="347" name="Google Shape;347;p35"/>
          <p:cNvSpPr txBox="1"/>
          <p:nvPr/>
        </p:nvSpPr>
        <p:spPr>
          <a:xfrm>
            <a:off x="5314525" y="1416325"/>
            <a:ext cx="1144500" cy="58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lang="zh-TW" sz="1500">
                <a:solidFill>
                  <a:schemeClr val="dk1"/>
                </a:solidFill>
              </a:rPr>
              <a:t>      </a:t>
            </a:r>
            <a:r>
              <a:rPr b="1" lang="zh-TW" sz="1100">
                <a:solidFill>
                  <a:schemeClr val="dk1"/>
                </a:solidFill>
              </a:rPr>
              <a:t>Adaptive K    Selection</a:t>
            </a:r>
            <a:endParaRPr b="1" sz="1100">
              <a:solidFill>
                <a:schemeClr val="dk1"/>
              </a:solidFill>
            </a:endParaRPr>
          </a:p>
        </p:txBody>
      </p:sp>
      <p:sp>
        <p:nvSpPr>
          <p:cNvPr id="349" name="Google Shape;349;p35"/>
          <p:cNvSpPr txBox="1"/>
          <p:nvPr/>
        </p:nvSpPr>
        <p:spPr>
          <a:xfrm>
            <a:off x="7180525" y="1416325"/>
            <a:ext cx="1098000" cy="58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rPr>
              <a:t>        </a:t>
            </a:r>
            <a:r>
              <a:rPr b="1" lang="zh-TW" sz="1100">
                <a:solidFill>
                  <a:schemeClr val="dk1"/>
                </a:solidFill>
              </a:rPr>
              <a:t>AMC</a:t>
            </a:r>
            <a:endParaRPr b="1" sz="1100">
              <a:solidFill>
                <a:schemeClr val="dk1"/>
              </a:solidFill>
            </a:endParaRPr>
          </a:p>
          <a:p>
            <a:pPr indent="0" lvl="0" marL="0" rtl="0" algn="l">
              <a:spcBef>
                <a:spcPts val="0"/>
              </a:spcBef>
              <a:spcAft>
                <a:spcPts val="0"/>
              </a:spcAft>
              <a:buNone/>
            </a:pPr>
            <a:r>
              <a:rPr b="1" lang="zh-TW" sz="1100">
                <a:solidFill>
                  <a:schemeClr val="dk1"/>
                </a:solidFill>
              </a:rPr>
              <a:t>       Classifier</a:t>
            </a:r>
            <a:endParaRPr b="1" sz="1100">
              <a:solidFill>
                <a:schemeClr val="dk1"/>
              </a:solidFill>
            </a:endParaRPr>
          </a:p>
        </p:txBody>
      </p:sp>
      <p:pic>
        <p:nvPicPr>
          <p:cNvPr id="351" name="Google Shape;351;p35"/>
          <p:cNvPicPr preferRelativeResize="0"/>
          <p:nvPr/>
        </p:nvPicPr>
        <p:blipFill>
          <a:blip r:embed="rId4">
            <a:alphaModFix/>
          </a:blip>
          <a:stretch>
            <a:fillRect/>
          </a:stretch>
        </p:blipFill>
        <p:spPr>
          <a:xfrm>
            <a:off x="2091050" y="1619800"/>
            <a:ext cx="268606" cy="274853"/>
          </a:xfrm>
          <a:prstGeom prst="rect">
            <a:avLst/>
          </a:prstGeom>
          <a:noFill/>
          <a:ln>
            <a:noFill/>
          </a:ln>
        </p:spPr>
      </p:pic>
      <p:pic>
        <p:nvPicPr>
          <p:cNvPr id="344" name="Google Shape;344;p35"/>
          <p:cNvPicPr preferRelativeResize="0"/>
          <p:nvPr/>
        </p:nvPicPr>
        <p:blipFill>
          <a:blip r:embed="rId5">
            <a:alphaModFix/>
          </a:blip>
          <a:stretch>
            <a:fillRect/>
          </a:stretch>
        </p:blipFill>
        <p:spPr>
          <a:xfrm>
            <a:off x="3720275" y="1619800"/>
            <a:ext cx="292031" cy="274853"/>
          </a:xfrm>
          <a:prstGeom prst="rect">
            <a:avLst/>
          </a:prstGeom>
          <a:noFill/>
          <a:ln>
            <a:noFill/>
          </a:ln>
        </p:spPr>
      </p:pic>
      <p:pic>
        <p:nvPicPr>
          <p:cNvPr id="352" name="Google Shape;352;p35"/>
          <p:cNvPicPr preferRelativeResize="0"/>
          <p:nvPr/>
        </p:nvPicPr>
        <p:blipFill>
          <a:blip r:embed="rId6">
            <a:alphaModFix/>
          </a:blip>
          <a:stretch>
            <a:fillRect/>
          </a:stretch>
        </p:blipFill>
        <p:spPr>
          <a:xfrm>
            <a:off x="5395225" y="1606475"/>
            <a:ext cx="280961" cy="274853"/>
          </a:xfrm>
          <a:prstGeom prst="rect">
            <a:avLst/>
          </a:prstGeom>
          <a:noFill/>
          <a:ln>
            <a:noFill/>
          </a:ln>
        </p:spPr>
      </p:pic>
      <p:pic>
        <p:nvPicPr>
          <p:cNvPr id="353" name="Google Shape;353;p35"/>
          <p:cNvPicPr preferRelativeResize="0"/>
          <p:nvPr/>
        </p:nvPicPr>
        <p:blipFill>
          <a:blip r:embed="rId7">
            <a:alphaModFix/>
          </a:blip>
          <a:stretch>
            <a:fillRect/>
          </a:stretch>
        </p:blipFill>
        <p:spPr>
          <a:xfrm>
            <a:off x="7222225" y="1619800"/>
            <a:ext cx="287069" cy="274853"/>
          </a:xfrm>
          <a:prstGeom prst="rect">
            <a:avLst/>
          </a:prstGeom>
          <a:noFill/>
          <a:ln>
            <a:noFill/>
          </a:ln>
        </p:spPr>
      </p:pic>
      <p:sp>
        <p:nvSpPr>
          <p:cNvPr id="354" name="Google Shape;354;p35"/>
          <p:cNvSpPr/>
          <p:nvPr/>
        </p:nvSpPr>
        <p:spPr>
          <a:xfrm>
            <a:off x="373450" y="2724450"/>
            <a:ext cx="2546400" cy="230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35"/>
          <p:cNvSpPr/>
          <p:nvPr/>
        </p:nvSpPr>
        <p:spPr>
          <a:xfrm>
            <a:off x="3267725" y="2724450"/>
            <a:ext cx="2486400" cy="230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35"/>
          <p:cNvSpPr/>
          <p:nvPr/>
        </p:nvSpPr>
        <p:spPr>
          <a:xfrm>
            <a:off x="6017725" y="2724450"/>
            <a:ext cx="2435100" cy="230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35"/>
          <p:cNvSpPr txBox="1"/>
          <p:nvPr/>
        </p:nvSpPr>
        <p:spPr>
          <a:xfrm>
            <a:off x="734200" y="2724525"/>
            <a:ext cx="1833300" cy="2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sz="1000">
                <a:solidFill>
                  <a:schemeClr val="dk1"/>
                </a:solidFill>
              </a:rPr>
              <a:t>1) One-Pass FFT</a:t>
            </a:r>
            <a:endParaRPr b="1" sz="1000">
              <a:solidFill>
                <a:schemeClr val="dk1"/>
              </a:solidFill>
            </a:endParaRPr>
          </a:p>
        </p:txBody>
      </p:sp>
      <p:cxnSp>
        <p:nvCxnSpPr>
          <p:cNvPr id="358" name="Google Shape;358;p35"/>
          <p:cNvCxnSpPr/>
          <p:nvPr/>
        </p:nvCxnSpPr>
        <p:spPr>
          <a:xfrm>
            <a:off x="377650" y="3038575"/>
            <a:ext cx="2546400" cy="8400"/>
          </a:xfrm>
          <a:prstGeom prst="straightConnector1">
            <a:avLst/>
          </a:prstGeom>
          <a:noFill/>
          <a:ln cap="flat" cmpd="sng" w="28575">
            <a:solidFill>
              <a:srgbClr val="1F1F1F"/>
            </a:solidFill>
            <a:prstDash val="solid"/>
            <a:round/>
            <a:headEnd len="med" w="med" type="none"/>
            <a:tailEnd len="med" w="med" type="none"/>
          </a:ln>
        </p:spPr>
      </p:cxnSp>
      <p:cxnSp>
        <p:nvCxnSpPr>
          <p:cNvPr id="359" name="Google Shape;359;p35"/>
          <p:cNvCxnSpPr/>
          <p:nvPr/>
        </p:nvCxnSpPr>
        <p:spPr>
          <a:xfrm>
            <a:off x="3274900" y="3034075"/>
            <a:ext cx="2472300" cy="13500"/>
          </a:xfrm>
          <a:prstGeom prst="straightConnector1">
            <a:avLst/>
          </a:prstGeom>
          <a:noFill/>
          <a:ln cap="flat" cmpd="sng" w="28575">
            <a:solidFill>
              <a:srgbClr val="1F1F1F"/>
            </a:solidFill>
            <a:prstDash val="solid"/>
            <a:round/>
            <a:headEnd len="med" w="med" type="none"/>
            <a:tailEnd len="med" w="med" type="none"/>
          </a:ln>
        </p:spPr>
      </p:cxnSp>
      <p:sp>
        <p:nvSpPr>
          <p:cNvPr id="360" name="Google Shape;360;p35"/>
          <p:cNvSpPr txBox="1"/>
          <p:nvPr/>
        </p:nvSpPr>
        <p:spPr>
          <a:xfrm>
            <a:off x="3655350" y="2724525"/>
            <a:ext cx="1833300" cy="2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sz="1000">
                <a:solidFill>
                  <a:schemeClr val="dk1"/>
                </a:solidFill>
              </a:rPr>
              <a:t>2) Spectral Analysis</a:t>
            </a:r>
            <a:endParaRPr b="1" sz="1000">
              <a:solidFill>
                <a:schemeClr val="dk1"/>
              </a:solidFill>
            </a:endParaRPr>
          </a:p>
        </p:txBody>
      </p:sp>
      <p:sp>
        <p:nvSpPr>
          <p:cNvPr id="361" name="Google Shape;361;p35"/>
          <p:cNvSpPr txBox="1"/>
          <p:nvPr/>
        </p:nvSpPr>
        <p:spPr>
          <a:xfrm>
            <a:off x="6318625" y="2724525"/>
            <a:ext cx="1833300" cy="2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sz="1000">
                <a:solidFill>
                  <a:schemeClr val="dk1"/>
                </a:solidFill>
              </a:rPr>
              <a:t>3) Adaptive K Selection</a:t>
            </a:r>
            <a:endParaRPr b="1" sz="1000">
              <a:solidFill>
                <a:schemeClr val="dk1"/>
              </a:solidFill>
            </a:endParaRPr>
          </a:p>
        </p:txBody>
      </p:sp>
      <p:cxnSp>
        <p:nvCxnSpPr>
          <p:cNvPr id="362" name="Google Shape;362;p35"/>
          <p:cNvCxnSpPr/>
          <p:nvPr/>
        </p:nvCxnSpPr>
        <p:spPr>
          <a:xfrm>
            <a:off x="5999125" y="3047575"/>
            <a:ext cx="2472300" cy="13500"/>
          </a:xfrm>
          <a:prstGeom prst="straightConnector1">
            <a:avLst/>
          </a:prstGeom>
          <a:noFill/>
          <a:ln cap="flat" cmpd="sng" w="28575">
            <a:solidFill>
              <a:srgbClr val="1F1F1F"/>
            </a:solidFill>
            <a:prstDash val="solid"/>
            <a:round/>
            <a:headEnd len="med" w="med" type="none"/>
            <a:tailEnd len="med" w="med" type="none"/>
          </a:ln>
        </p:spPr>
      </p:cxnSp>
      <p:sp>
        <p:nvSpPr>
          <p:cNvPr id="363" name="Google Shape;363;p35"/>
          <p:cNvSpPr txBox="1"/>
          <p:nvPr/>
        </p:nvSpPr>
        <p:spPr>
          <a:xfrm>
            <a:off x="559075" y="3038575"/>
            <a:ext cx="24351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800">
                <a:solidFill>
                  <a:schemeClr val="dk1"/>
                </a:solidFill>
              </a:rPr>
              <a:t>Convert time-domain IQ samples to frequency-domain magnitude spectrum</a:t>
            </a:r>
            <a:endParaRPr b="1" sz="800">
              <a:solidFill>
                <a:schemeClr val="dk1"/>
              </a:solidFill>
            </a:endParaRPr>
          </a:p>
        </p:txBody>
      </p:sp>
      <p:pic>
        <p:nvPicPr>
          <p:cNvPr id="364" name="Google Shape;364;p35"/>
          <p:cNvPicPr preferRelativeResize="0"/>
          <p:nvPr/>
        </p:nvPicPr>
        <p:blipFill>
          <a:blip r:embed="rId8">
            <a:alphaModFix/>
          </a:blip>
          <a:stretch>
            <a:fillRect/>
          </a:stretch>
        </p:blipFill>
        <p:spPr>
          <a:xfrm>
            <a:off x="667707" y="3496020"/>
            <a:ext cx="761639" cy="994200"/>
          </a:xfrm>
          <a:prstGeom prst="rect">
            <a:avLst/>
          </a:prstGeom>
          <a:noFill/>
          <a:ln>
            <a:noFill/>
          </a:ln>
        </p:spPr>
      </p:pic>
      <p:pic>
        <p:nvPicPr>
          <p:cNvPr id="365" name="Google Shape;365;p35"/>
          <p:cNvPicPr preferRelativeResize="0"/>
          <p:nvPr/>
        </p:nvPicPr>
        <p:blipFill>
          <a:blip r:embed="rId9">
            <a:alphaModFix/>
          </a:blip>
          <a:stretch>
            <a:fillRect/>
          </a:stretch>
        </p:blipFill>
        <p:spPr>
          <a:xfrm>
            <a:off x="1797537" y="3496020"/>
            <a:ext cx="794183" cy="994200"/>
          </a:xfrm>
          <a:prstGeom prst="rect">
            <a:avLst/>
          </a:prstGeom>
          <a:noFill/>
          <a:ln>
            <a:noFill/>
          </a:ln>
        </p:spPr>
      </p:pic>
      <p:sp>
        <p:nvSpPr>
          <p:cNvPr id="366" name="Google Shape;366;p35"/>
          <p:cNvSpPr txBox="1"/>
          <p:nvPr/>
        </p:nvSpPr>
        <p:spPr>
          <a:xfrm>
            <a:off x="710050" y="4644675"/>
            <a:ext cx="1881600" cy="303000"/>
          </a:xfrm>
          <a:prstGeom prst="rect">
            <a:avLst/>
          </a:prstGeom>
          <a:solidFill>
            <a:srgbClr val="A2C4C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600">
                <a:solidFill>
                  <a:schemeClr val="dk1"/>
                </a:solidFill>
              </a:rPr>
              <a:t>Provides the frequency-domain representation used for subsequent analysis</a:t>
            </a:r>
            <a:endParaRPr b="1" sz="600">
              <a:solidFill>
                <a:schemeClr val="dk1"/>
              </a:solidFill>
            </a:endParaRPr>
          </a:p>
        </p:txBody>
      </p:sp>
      <p:cxnSp>
        <p:nvCxnSpPr>
          <p:cNvPr id="367" name="Google Shape;367;p35"/>
          <p:cNvCxnSpPr>
            <a:stCxn id="364" idx="3"/>
            <a:endCxn id="365" idx="1"/>
          </p:cNvCxnSpPr>
          <p:nvPr/>
        </p:nvCxnSpPr>
        <p:spPr>
          <a:xfrm>
            <a:off x="1429345" y="3993120"/>
            <a:ext cx="368100" cy="0"/>
          </a:xfrm>
          <a:prstGeom prst="straightConnector1">
            <a:avLst/>
          </a:prstGeom>
          <a:noFill/>
          <a:ln cap="flat" cmpd="sng" w="28575">
            <a:solidFill>
              <a:schemeClr val="dk2"/>
            </a:solidFill>
            <a:prstDash val="solid"/>
            <a:round/>
            <a:headEnd len="med" w="med" type="none"/>
            <a:tailEnd len="med" w="med" type="triangle"/>
          </a:ln>
        </p:spPr>
      </p:cxnSp>
      <p:sp>
        <p:nvSpPr>
          <p:cNvPr id="368" name="Google Shape;368;p35"/>
          <p:cNvSpPr txBox="1"/>
          <p:nvPr/>
        </p:nvSpPr>
        <p:spPr>
          <a:xfrm>
            <a:off x="3288400" y="3037325"/>
            <a:ext cx="24351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800">
                <a:solidFill>
                  <a:schemeClr val="dk1"/>
                </a:solidFill>
              </a:rPr>
              <a:t>Spectral statistics guide routing and analysi</a:t>
            </a:r>
            <a:r>
              <a:rPr lang="zh-TW" sz="800">
                <a:solidFill>
                  <a:schemeClr val="dk1"/>
                </a:solidFill>
              </a:rPr>
              <a:t>s.</a:t>
            </a:r>
            <a:endParaRPr sz="800">
              <a:solidFill>
                <a:schemeClr val="dk1"/>
              </a:solidFill>
            </a:endParaRPr>
          </a:p>
        </p:txBody>
      </p:sp>
      <p:pic>
        <p:nvPicPr>
          <p:cNvPr id="369" name="Google Shape;369;p35"/>
          <p:cNvPicPr preferRelativeResize="0"/>
          <p:nvPr/>
        </p:nvPicPr>
        <p:blipFill>
          <a:blip r:embed="rId10">
            <a:alphaModFix/>
          </a:blip>
          <a:stretch>
            <a:fillRect/>
          </a:stretch>
        </p:blipFill>
        <p:spPr>
          <a:xfrm>
            <a:off x="3475350" y="3500525"/>
            <a:ext cx="819681" cy="994200"/>
          </a:xfrm>
          <a:prstGeom prst="rect">
            <a:avLst/>
          </a:prstGeom>
          <a:noFill/>
          <a:ln>
            <a:noFill/>
          </a:ln>
        </p:spPr>
      </p:pic>
      <p:pic>
        <p:nvPicPr>
          <p:cNvPr id="370" name="Google Shape;370;p35"/>
          <p:cNvPicPr preferRelativeResize="0"/>
          <p:nvPr/>
        </p:nvPicPr>
        <p:blipFill>
          <a:blip r:embed="rId11">
            <a:alphaModFix/>
          </a:blip>
          <a:stretch>
            <a:fillRect/>
          </a:stretch>
        </p:blipFill>
        <p:spPr>
          <a:xfrm>
            <a:off x="4715100" y="3499100"/>
            <a:ext cx="819675" cy="996894"/>
          </a:xfrm>
          <a:prstGeom prst="rect">
            <a:avLst/>
          </a:prstGeom>
          <a:noFill/>
          <a:ln>
            <a:noFill/>
          </a:ln>
        </p:spPr>
      </p:pic>
      <p:cxnSp>
        <p:nvCxnSpPr>
          <p:cNvPr id="371" name="Google Shape;371;p35"/>
          <p:cNvCxnSpPr>
            <a:stCxn id="368" idx="2"/>
            <a:endCxn id="355" idx="2"/>
          </p:cNvCxnSpPr>
          <p:nvPr/>
        </p:nvCxnSpPr>
        <p:spPr>
          <a:xfrm>
            <a:off x="4505950" y="3274925"/>
            <a:ext cx="5100" cy="1757400"/>
          </a:xfrm>
          <a:prstGeom prst="straightConnector1">
            <a:avLst/>
          </a:prstGeom>
          <a:noFill/>
          <a:ln cap="flat" cmpd="sng" w="19050">
            <a:solidFill>
              <a:schemeClr val="dk2"/>
            </a:solidFill>
            <a:prstDash val="dot"/>
            <a:round/>
            <a:headEnd len="med" w="med" type="none"/>
            <a:tailEnd len="med" w="med" type="none"/>
          </a:ln>
        </p:spPr>
      </p:cxnSp>
      <p:sp>
        <p:nvSpPr>
          <p:cNvPr id="372" name="Google Shape;372;p35"/>
          <p:cNvSpPr txBox="1"/>
          <p:nvPr/>
        </p:nvSpPr>
        <p:spPr>
          <a:xfrm>
            <a:off x="3514975" y="4568000"/>
            <a:ext cx="912900" cy="381000"/>
          </a:xfrm>
          <a:prstGeom prst="rect">
            <a:avLst/>
          </a:prstGeom>
          <a:solidFill>
            <a:srgbClr val="A2C4C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600">
                <a:solidFill>
                  <a:schemeClr val="dk1"/>
                </a:solidFill>
              </a:rPr>
              <a:t>Find Knee point of the sorted magnitude curve.</a:t>
            </a:r>
            <a:endParaRPr b="1" sz="600">
              <a:solidFill>
                <a:schemeClr val="dk1"/>
              </a:solidFill>
            </a:endParaRPr>
          </a:p>
        </p:txBody>
      </p:sp>
      <p:sp>
        <p:nvSpPr>
          <p:cNvPr id="373" name="Google Shape;373;p35"/>
          <p:cNvSpPr txBox="1"/>
          <p:nvPr/>
        </p:nvSpPr>
        <p:spPr>
          <a:xfrm>
            <a:off x="4715100" y="4581325"/>
            <a:ext cx="819600" cy="381000"/>
          </a:xfrm>
          <a:prstGeom prst="rect">
            <a:avLst/>
          </a:prstGeom>
          <a:solidFill>
            <a:srgbClr val="A2C4C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600">
                <a:solidFill>
                  <a:schemeClr val="dk1"/>
                </a:solidFill>
              </a:rPr>
              <a:t>Assess flatness to route the adaptive analysis.</a:t>
            </a:r>
            <a:endParaRPr b="1" sz="600">
              <a:solidFill>
                <a:schemeClr val="dk1"/>
              </a:solidFill>
            </a:endParaRPr>
          </a:p>
        </p:txBody>
      </p:sp>
      <p:sp>
        <p:nvSpPr>
          <p:cNvPr id="374" name="Google Shape;374;p35"/>
          <p:cNvSpPr txBox="1"/>
          <p:nvPr/>
        </p:nvSpPr>
        <p:spPr>
          <a:xfrm>
            <a:off x="6027675" y="3037325"/>
            <a:ext cx="24351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800">
                <a:solidFill>
                  <a:schemeClr val="dk1"/>
                </a:solidFill>
              </a:rPr>
              <a:t>Adaptive selection of truncation length K based on SNR.</a:t>
            </a:r>
            <a:endParaRPr sz="800">
              <a:solidFill>
                <a:schemeClr val="dk1"/>
              </a:solidFill>
            </a:endParaRPr>
          </a:p>
        </p:txBody>
      </p:sp>
      <p:pic>
        <p:nvPicPr>
          <p:cNvPr id="375" name="Google Shape;375;p35"/>
          <p:cNvPicPr preferRelativeResize="0"/>
          <p:nvPr/>
        </p:nvPicPr>
        <p:blipFill>
          <a:blip r:embed="rId12">
            <a:alphaModFix/>
          </a:blip>
          <a:stretch>
            <a:fillRect/>
          </a:stretch>
        </p:blipFill>
        <p:spPr>
          <a:xfrm>
            <a:off x="6468816" y="3419575"/>
            <a:ext cx="1552821" cy="586500"/>
          </a:xfrm>
          <a:prstGeom prst="rect">
            <a:avLst/>
          </a:prstGeom>
          <a:noFill/>
          <a:ln>
            <a:noFill/>
          </a:ln>
        </p:spPr>
      </p:pic>
      <p:pic>
        <p:nvPicPr>
          <p:cNvPr id="376" name="Google Shape;376;p35"/>
          <p:cNvPicPr preferRelativeResize="0"/>
          <p:nvPr/>
        </p:nvPicPr>
        <p:blipFill>
          <a:blip r:embed="rId13">
            <a:alphaModFix/>
          </a:blip>
          <a:stretch>
            <a:fillRect/>
          </a:stretch>
        </p:blipFill>
        <p:spPr>
          <a:xfrm>
            <a:off x="6563226" y="4150725"/>
            <a:ext cx="1344093" cy="763825"/>
          </a:xfrm>
          <a:prstGeom prst="rect">
            <a:avLst/>
          </a:prstGeom>
          <a:noFill/>
          <a:ln>
            <a:noFill/>
          </a:ln>
        </p:spPr>
      </p:pic>
      <p:cxnSp>
        <p:nvCxnSpPr>
          <p:cNvPr id="377" name="Google Shape;377;p35"/>
          <p:cNvCxnSpPr>
            <a:stCxn id="342" idx="2"/>
            <a:endCxn id="357" idx="0"/>
          </p:cNvCxnSpPr>
          <p:nvPr/>
        </p:nvCxnSpPr>
        <p:spPr>
          <a:xfrm flipH="1">
            <a:off x="1650800" y="2037150"/>
            <a:ext cx="917700" cy="687300"/>
          </a:xfrm>
          <a:prstGeom prst="straightConnector1">
            <a:avLst/>
          </a:prstGeom>
          <a:noFill/>
          <a:ln cap="flat" cmpd="sng" w="28575">
            <a:solidFill>
              <a:schemeClr val="dk2"/>
            </a:solidFill>
            <a:prstDash val="solid"/>
            <a:round/>
            <a:headEnd len="med" w="med" type="none"/>
            <a:tailEnd len="med" w="med" type="triangle"/>
          </a:ln>
        </p:spPr>
      </p:cxnSp>
      <p:cxnSp>
        <p:nvCxnSpPr>
          <p:cNvPr id="378" name="Google Shape;378;p35"/>
          <p:cNvCxnSpPr>
            <a:stCxn id="346" idx="2"/>
            <a:endCxn id="360" idx="0"/>
          </p:cNvCxnSpPr>
          <p:nvPr/>
        </p:nvCxnSpPr>
        <p:spPr>
          <a:xfrm>
            <a:off x="4237225" y="2002825"/>
            <a:ext cx="334800" cy="721800"/>
          </a:xfrm>
          <a:prstGeom prst="straightConnector1">
            <a:avLst/>
          </a:prstGeom>
          <a:noFill/>
          <a:ln cap="flat" cmpd="sng" w="28575">
            <a:solidFill>
              <a:schemeClr val="dk2"/>
            </a:solidFill>
            <a:prstDash val="solid"/>
            <a:round/>
            <a:headEnd len="med" w="med" type="none"/>
            <a:tailEnd len="med" w="med" type="triangle"/>
          </a:ln>
        </p:spPr>
      </p:cxnSp>
      <p:cxnSp>
        <p:nvCxnSpPr>
          <p:cNvPr id="379" name="Google Shape;379;p35"/>
          <p:cNvCxnSpPr>
            <a:stCxn id="347" idx="2"/>
            <a:endCxn id="361" idx="0"/>
          </p:cNvCxnSpPr>
          <p:nvPr/>
        </p:nvCxnSpPr>
        <p:spPr>
          <a:xfrm>
            <a:off x="5886775" y="2002825"/>
            <a:ext cx="1348500" cy="7218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6"/>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385" name="Google Shape;385;p36"/>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Clr>
                <a:srgbClr val="E0E0E0"/>
              </a:buClr>
              <a:buSzPts val="2400"/>
              <a:buChar char="•"/>
            </a:pPr>
            <a:r>
              <a:rPr lang="zh-TW" sz="2400">
                <a:solidFill>
                  <a:srgbClr val="E0E0E0"/>
                </a:solidFill>
                <a:latin typeface="Arial"/>
                <a:ea typeface="Arial"/>
                <a:cs typeface="Arial"/>
                <a:sym typeface="Arial"/>
              </a:rPr>
              <a:t>Motivation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Related Work</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Contributions</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System Overview</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1F1F1F"/>
              </a:buClr>
              <a:buSzPts val="2400"/>
              <a:buFont typeface="Arial"/>
              <a:buChar char="•"/>
            </a:pPr>
            <a:r>
              <a:rPr lang="zh-TW" sz="2400">
                <a:solidFill>
                  <a:srgbClr val="1F1F1F"/>
                </a:solidFill>
                <a:latin typeface="Arial"/>
                <a:ea typeface="Arial"/>
                <a:cs typeface="Arial"/>
                <a:sym typeface="Arial"/>
              </a:rPr>
              <a:t>Methodology</a:t>
            </a:r>
            <a:endParaRPr sz="2400">
              <a:solidFill>
                <a:srgbClr val="1F1F1F"/>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Evaluation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386" name="Google Shape;386;p36"/>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7"/>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Methodology: Problem and Approach</a:t>
            </a:r>
            <a:endParaRPr/>
          </a:p>
        </p:txBody>
      </p:sp>
      <p:sp>
        <p:nvSpPr>
          <p:cNvPr id="392" name="Google Shape;392;p37"/>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zh-TW" sz="2400" u="sng"/>
              <a:t>Problem:</a:t>
            </a:r>
            <a:endParaRPr b="1" sz="2400" u="sng"/>
          </a:p>
          <a:p>
            <a:pPr indent="0" lvl="0" marL="0" rtl="0" algn="l">
              <a:spcBef>
                <a:spcPts val="800"/>
              </a:spcBef>
              <a:spcAft>
                <a:spcPts val="0"/>
              </a:spcAft>
              <a:buNone/>
            </a:pPr>
            <a:r>
              <a:rPr lang="zh-TW" sz="2400"/>
              <a:t>AMC input can be adversarially perturbed, and fixed preprocessing does not adapt to SNR or modulation.</a:t>
            </a:r>
            <a:endParaRPr sz="2400"/>
          </a:p>
          <a:p>
            <a:pPr indent="0" lvl="0" marL="0" rtl="0" algn="l">
              <a:spcBef>
                <a:spcPts val="800"/>
              </a:spcBef>
              <a:spcAft>
                <a:spcPts val="0"/>
              </a:spcAft>
              <a:buNone/>
            </a:pPr>
            <a:r>
              <a:rPr b="1" lang="zh-TW" sz="2400" u="sng"/>
              <a:t>Solution:</a:t>
            </a:r>
            <a:endParaRPr b="1" sz="2400" u="sng"/>
          </a:p>
          <a:p>
            <a:pPr indent="0" lvl="0" marL="0" rtl="0" algn="l">
              <a:spcBef>
                <a:spcPts val="800"/>
              </a:spcBef>
              <a:spcAft>
                <a:spcPts val="0"/>
              </a:spcAft>
              <a:buNone/>
            </a:pPr>
            <a:r>
              <a:rPr lang="zh-TW" sz="2400"/>
              <a:t>Add lightweight preprocessing before AMC classification: preserve the dominant spectral components, and select K using the knee point, spectral flatness, and an SNR bound.</a:t>
            </a:r>
            <a:endParaRPr sz="2400"/>
          </a:p>
        </p:txBody>
      </p:sp>
      <p:sp>
        <p:nvSpPr>
          <p:cNvPr id="393" name="Google Shape;393;p3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8"/>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Methodology: Fixed Filtering Is Not Enough</a:t>
            </a:r>
            <a:endParaRPr/>
          </a:p>
        </p:txBody>
      </p:sp>
      <p:sp>
        <p:nvSpPr>
          <p:cNvPr id="399" name="Google Shape;399;p38"/>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Clr>
                <a:schemeClr val="dk1"/>
              </a:buClr>
              <a:buSzPts val="1100"/>
              <a:buFont typeface="Arial"/>
              <a:buNone/>
            </a:pPr>
            <a:r>
              <a:t/>
            </a:r>
            <a:endParaRPr b="1" sz="2400" u="sng"/>
          </a:p>
        </p:txBody>
      </p:sp>
      <p:sp>
        <p:nvSpPr>
          <p:cNvPr id="400" name="Google Shape;400;p38"/>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401" name="Google Shape;401;p38"/>
          <p:cNvSpPr txBox="1"/>
          <p:nvPr/>
        </p:nvSpPr>
        <p:spPr>
          <a:xfrm>
            <a:off x="726125" y="1933150"/>
            <a:ext cx="996600" cy="6387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latin typeface="Calibri"/>
                <a:ea typeface="Calibri"/>
                <a:cs typeface="Calibri"/>
                <a:sym typeface="Calibri"/>
              </a:rPr>
              <a:t>Low SNR QPSK</a:t>
            </a:r>
            <a:endParaRPr sz="1500">
              <a:solidFill>
                <a:schemeClr val="dk1"/>
              </a:solidFill>
              <a:latin typeface="Calibri"/>
              <a:ea typeface="Calibri"/>
              <a:cs typeface="Calibri"/>
              <a:sym typeface="Calibri"/>
            </a:endParaRPr>
          </a:p>
        </p:txBody>
      </p:sp>
      <p:sp>
        <p:nvSpPr>
          <p:cNvPr id="402" name="Google Shape;402;p38"/>
          <p:cNvSpPr txBox="1"/>
          <p:nvPr/>
        </p:nvSpPr>
        <p:spPr>
          <a:xfrm>
            <a:off x="726050" y="2853325"/>
            <a:ext cx="996600" cy="6387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latin typeface="Calibri"/>
                <a:ea typeface="Calibri"/>
                <a:cs typeface="Calibri"/>
                <a:sym typeface="Calibri"/>
              </a:rPr>
              <a:t>High SNR 16QAM</a:t>
            </a:r>
            <a:endParaRPr sz="1500">
              <a:solidFill>
                <a:schemeClr val="dk1"/>
              </a:solidFill>
              <a:latin typeface="Calibri"/>
              <a:ea typeface="Calibri"/>
              <a:cs typeface="Calibri"/>
              <a:sym typeface="Calibri"/>
            </a:endParaRPr>
          </a:p>
        </p:txBody>
      </p:sp>
      <p:sp>
        <p:nvSpPr>
          <p:cNvPr id="403" name="Google Shape;403;p38"/>
          <p:cNvSpPr txBox="1"/>
          <p:nvPr/>
        </p:nvSpPr>
        <p:spPr>
          <a:xfrm>
            <a:off x="726125" y="3860250"/>
            <a:ext cx="1199400" cy="696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Different spectral shape</a:t>
            </a:r>
            <a:endParaRPr>
              <a:solidFill>
                <a:schemeClr val="dk1"/>
              </a:solidFill>
              <a:latin typeface="Calibri"/>
              <a:ea typeface="Calibri"/>
              <a:cs typeface="Calibri"/>
              <a:sym typeface="Calibri"/>
            </a:endParaRPr>
          </a:p>
        </p:txBody>
      </p:sp>
      <p:sp>
        <p:nvSpPr>
          <p:cNvPr id="404" name="Google Shape;404;p38"/>
          <p:cNvSpPr txBox="1"/>
          <p:nvPr/>
        </p:nvSpPr>
        <p:spPr>
          <a:xfrm>
            <a:off x="3133925" y="2113725"/>
            <a:ext cx="2839800" cy="7395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latin typeface="Calibri"/>
                <a:ea typeface="Calibri"/>
                <a:cs typeface="Calibri"/>
                <a:sym typeface="Calibri"/>
              </a:rPr>
              <a:t>Same fixed filter: Gaussian / FIR / Wiener / Kalman</a:t>
            </a:r>
            <a:endParaRPr sz="1500">
              <a:solidFill>
                <a:schemeClr val="dk1"/>
              </a:solidFill>
              <a:latin typeface="Calibri"/>
              <a:ea typeface="Calibri"/>
              <a:cs typeface="Calibri"/>
              <a:sym typeface="Calibri"/>
            </a:endParaRPr>
          </a:p>
        </p:txBody>
      </p:sp>
      <p:cxnSp>
        <p:nvCxnSpPr>
          <p:cNvPr id="405" name="Google Shape;405;p38"/>
          <p:cNvCxnSpPr>
            <a:stCxn id="401" idx="3"/>
          </p:cNvCxnSpPr>
          <p:nvPr/>
        </p:nvCxnSpPr>
        <p:spPr>
          <a:xfrm>
            <a:off x="1722725" y="2252500"/>
            <a:ext cx="1411200" cy="176100"/>
          </a:xfrm>
          <a:prstGeom prst="straightConnector1">
            <a:avLst/>
          </a:prstGeom>
          <a:noFill/>
          <a:ln cap="flat" cmpd="sng" w="28575">
            <a:solidFill>
              <a:schemeClr val="dk2"/>
            </a:solidFill>
            <a:prstDash val="solid"/>
            <a:round/>
            <a:headEnd len="med" w="med" type="none"/>
            <a:tailEnd len="med" w="med" type="triangle"/>
          </a:ln>
        </p:spPr>
      </p:cxnSp>
      <p:cxnSp>
        <p:nvCxnSpPr>
          <p:cNvPr id="406" name="Google Shape;406;p38"/>
          <p:cNvCxnSpPr>
            <a:stCxn id="402" idx="3"/>
            <a:endCxn id="404" idx="1"/>
          </p:cNvCxnSpPr>
          <p:nvPr/>
        </p:nvCxnSpPr>
        <p:spPr>
          <a:xfrm flipH="1" rot="10800000">
            <a:off x="1722650" y="2483575"/>
            <a:ext cx="1411200" cy="689100"/>
          </a:xfrm>
          <a:prstGeom prst="straightConnector1">
            <a:avLst/>
          </a:prstGeom>
          <a:noFill/>
          <a:ln cap="flat" cmpd="sng" w="28575">
            <a:solidFill>
              <a:schemeClr val="dk2"/>
            </a:solidFill>
            <a:prstDash val="solid"/>
            <a:round/>
            <a:headEnd len="med" w="med" type="none"/>
            <a:tailEnd len="med" w="med" type="triangle"/>
          </a:ln>
        </p:spPr>
      </p:cxnSp>
      <p:cxnSp>
        <p:nvCxnSpPr>
          <p:cNvPr id="407" name="Google Shape;407;p38"/>
          <p:cNvCxnSpPr>
            <a:stCxn id="403" idx="3"/>
          </p:cNvCxnSpPr>
          <p:nvPr/>
        </p:nvCxnSpPr>
        <p:spPr>
          <a:xfrm flipH="1" rot="10800000">
            <a:off x="1925525" y="2748750"/>
            <a:ext cx="1173000" cy="1459800"/>
          </a:xfrm>
          <a:prstGeom prst="straightConnector1">
            <a:avLst/>
          </a:prstGeom>
          <a:noFill/>
          <a:ln cap="flat" cmpd="sng" w="28575">
            <a:solidFill>
              <a:schemeClr val="dk2"/>
            </a:solidFill>
            <a:prstDash val="solid"/>
            <a:round/>
            <a:headEnd len="med" w="med" type="none"/>
            <a:tailEnd len="med" w="med" type="triangle"/>
          </a:ln>
        </p:spPr>
      </p:cxnSp>
      <p:sp>
        <p:nvSpPr>
          <p:cNvPr id="408" name="Google Shape;408;p38"/>
          <p:cNvSpPr txBox="1"/>
          <p:nvPr/>
        </p:nvSpPr>
        <p:spPr>
          <a:xfrm>
            <a:off x="3327725" y="2840025"/>
            <a:ext cx="2646000" cy="462000"/>
          </a:xfrm>
          <a:prstGeom prst="rect">
            <a:avLst/>
          </a:prstGeom>
          <a:solidFill>
            <a:srgbClr val="F4CC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latin typeface="Calibri"/>
                <a:ea typeface="Calibri"/>
                <a:cs typeface="Calibri"/>
                <a:sym typeface="Calibri"/>
              </a:rPr>
              <a:t>Risk: under-filter or over-filter</a:t>
            </a:r>
            <a:endParaRPr sz="1500">
              <a:solidFill>
                <a:schemeClr val="dk1"/>
              </a:solidFill>
              <a:latin typeface="Calibri"/>
              <a:ea typeface="Calibri"/>
              <a:cs typeface="Calibri"/>
              <a:sym typeface="Calibri"/>
            </a:endParaRPr>
          </a:p>
        </p:txBody>
      </p:sp>
      <p:sp>
        <p:nvSpPr>
          <p:cNvPr id="409" name="Google Shape;409;p38"/>
          <p:cNvSpPr txBox="1"/>
          <p:nvPr/>
        </p:nvSpPr>
        <p:spPr>
          <a:xfrm>
            <a:off x="6626350" y="2113725"/>
            <a:ext cx="2125500" cy="19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410" name="Google Shape;410;p38"/>
          <p:cNvSpPr txBox="1"/>
          <p:nvPr/>
        </p:nvSpPr>
        <p:spPr>
          <a:xfrm>
            <a:off x="6106000" y="2043175"/>
            <a:ext cx="2646000" cy="19932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zh-TW" u="sng">
                <a:solidFill>
                  <a:schemeClr val="dk1"/>
                </a:solidFill>
                <a:latin typeface="Calibri"/>
                <a:ea typeface="Calibri"/>
                <a:cs typeface="Calibri"/>
                <a:sym typeface="Calibri"/>
              </a:rPr>
              <a:t>Limitations</a:t>
            </a:r>
            <a:endParaRPr b="1" u="sng">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May remove useful modulation features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Not adaptive to channel SNR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Not adaptive to modulation structure </a:t>
            </a:r>
            <a:endParaRPr>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9"/>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Methodology: Knee-Only Adaptive-K Can Fail</a:t>
            </a:r>
            <a:endParaRPr/>
          </a:p>
        </p:txBody>
      </p:sp>
      <p:sp>
        <p:nvSpPr>
          <p:cNvPr id="416" name="Google Shape;416;p39"/>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417" name="Google Shape;417;p39"/>
          <p:cNvSpPr txBox="1"/>
          <p:nvPr/>
        </p:nvSpPr>
        <p:spPr>
          <a:xfrm>
            <a:off x="6296200" y="2113725"/>
            <a:ext cx="2511000" cy="2819400"/>
          </a:xfrm>
          <a:prstGeom prst="rect">
            <a:avLst/>
          </a:prstGeom>
          <a:noFill/>
          <a:ln>
            <a:noFill/>
          </a:ln>
        </p:spPr>
        <p:txBody>
          <a:bodyPr anchorCtr="0" anchor="t" bIns="91425" lIns="91425" spcFirstLastPara="1" rIns="91425" wrap="square" tIns="91425">
            <a:noAutofit/>
          </a:bodyPr>
          <a:lstStyle/>
          <a:p>
            <a:pPr indent="-295275" lvl="0" marL="457200" rtl="0" algn="l">
              <a:lnSpc>
                <a:spcPct val="115000"/>
              </a:lnSpc>
              <a:spcBef>
                <a:spcPts val="1200"/>
              </a:spcBef>
              <a:spcAft>
                <a:spcPts val="0"/>
              </a:spcAft>
              <a:buClr>
                <a:srgbClr val="1F1F1F"/>
              </a:buClr>
              <a:buSzPts val="1050"/>
              <a:buChar char="●"/>
            </a:pPr>
            <a:r>
              <a:rPr b="1" lang="zh-TW" sz="1050">
                <a:solidFill>
                  <a:srgbClr val="1F1F1F"/>
                </a:solidFill>
                <a:highlight>
                  <a:srgbClr val="FFFFFF"/>
                </a:highlight>
              </a:rPr>
              <a:t>Attack Mechanism</a:t>
            </a:r>
            <a:r>
              <a:rPr lang="zh-TW" sz="1050">
                <a:solidFill>
                  <a:srgbClr val="1F1F1F"/>
                </a:solidFill>
                <a:highlight>
                  <a:srgbClr val="FFFFFF"/>
                </a:highlight>
              </a:rPr>
              <a:t>: Optimization attacks inflate weak spectral tails, causing the magnitude to decay less sharply.</a:t>
            </a:r>
            <a:endParaRPr sz="1050">
              <a:solidFill>
                <a:srgbClr val="1F1F1F"/>
              </a:solidFill>
              <a:highlight>
                <a:srgbClr val="FFFFFF"/>
              </a:highlight>
            </a:endParaRPr>
          </a:p>
          <a:p>
            <a:pPr indent="-295275" lvl="0" marL="457200" rtl="0" algn="l">
              <a:lnSpc>
                <a:spcPct val="115000"/>
              </a:lnSpc>
              <a:spcBef>
                <a:spcPts val="0"/>
              </a:spcBef>
              <a:spcAft>
                <a:spcPts val="0"/>
              </a:spcAft>
              <a:buClr>
                <a:srgbClr val="1F1F1F"/>
              </a:buClr>
              <a:buSzPts val="1050"/>
              <a:buChar char="●"/>
            </a:pPr>
            <a:r>
              <a:rPr b="1" lang="zh-TW" sz="1050">
                <a:solidFill>
                  <a:srgbClr val="1F1F1F"/>
                </a:solidFill>
                <a:highlight>
                  <a:srgbClr val="FFFFFF"/>
                </a:highlight>
              </a:rPr>
              <a:t>Defense Failure</a:t>
            </a:r>
            <a:r>
              <a:rPr lang="zh-TW" sz="1050">
                <a:solidFill>
                  <a:srgbClr val="1F1F1F"/>
                </a:solidFill>
                <a:highlight>
                  <a:srgbClr val="FFFFFF"/>
                </a:highlight>
              </a:rPr>
              <a:t>: A "knee-only" selection mechanism misidentifies the cutoff, inadvertently preserving excess noisy bins.</a:t>
            </a:r>
            <a:endParaRPr sz="1050">
              <a:solidFill>
                <a:srgbClr val="1F1F1F"/>
              </a:solidFill>
              <a:highlight>
                <a:srgbClr val="FFFFFF"/>
              </a:highlight>
            </a:endParaRPr>
          </a:p>
          <a:p>
            <a:pPr indent="-295275" lvl="0" marL="457200" rtl="0" algn="l">
              <a:lnSpc>
                <a:spcPct val="115000"/>
              </a:lnSpc>
              <a:spcBef>
                <a:spcPts val="0"/>
              </a:spcBef>
              <a:spcAft>
                <a:spcPts val="0"/>
              </a:spcAft>
              <a:buClr>
                <a:srgbClr val="1F1F1F"/>
              </a:buClr>
              <a:buSzPts val="1050"/>
              <a:buChar char="●"/>
            </a:pPr>
            <a:r>
              <a:rPr b="1" lang="zh-TW" sz="1050">
                <a:solidFill>
                  <a:srgbClr val="1F1F1F"/>
                </a:solidFill>
                <a:highlight>
                  <a:srgbClr val="FFFFFF"/>
                </a:highlight>
              </a:rPr>
              <a:t>Result</a:t>
            </a:r>
            <a:r>
              <a:rPr lang="zh-TW" sz="1050">
                <a:solidFill>
                  <a:srgbClr val="1F1F1F"/>
                </a:solidFill>
                <a:highlight>
                  <a:srgbClr val="FFFFFF"/>
                </a:highlight>
              </a:rPr>
              <a:t>: Residual adversarial components bypass the filter, rendering the defense ineffective.</a:t>
            </a:r>
            <a:endParaRPr b="1" sz="2100" u="sng">
              <a:solidFill>
                <a:schemeClr val="dk1"/>
              </a:solidFill>
              <a:latin typeface="Calibri"/>
              <a:ea typeface="Calibri"/>
              <a:cs typeface="Calibri"/>
              <a:sym typeface="Calibri"/>
            </a:endParaRPr>
          </a:p>
        </p:txBody>
      </p:sp>
      <p:sp>
        <p:nvSpPr>
          <p:cNvPr id="418" name="Google Shape;418;p39"/>
          <p:cNvSpPr txBox="1"/>
          <p:nvPr/>
        </p:nvSpPr>
        <p:spPr>
          <a:xfrm>
            <a:off x="628650" y="1457150"/>
            <a:ext cx="7619700" cy="398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2100" u="sng">
                <a:solidFill>
                  <a:schemeClr val="dk1"/>
                </a:solidFill>
                <a:latin typeface="Calibri"/>
                <a:ea typeface="Calibri"/>
                <a:cs typeface="Calibri"/>
                <a:sym typeface="Calibri"/>
              </a:rPr>
              <a:t/>
            </a:r>
            <a:endParaRPr b="1" sz="2100" u="sng">
              <a:solidFill>
                <a:schemeClr val="dk1"/>
              </a:solidFill>
              <a:latin typeface="Calibri"/>
              <a:ea typeface="Calibri"/>
              <a:cs typeface="Calibri"/>
              <a:sym typeface="Calibri"/>
            </a:endParaRPr>
          </a:p>
        </p:txBody>
      </p:sp>
      <p:pic>
        <p:nvPicPr>
          <p:cNvPr id="419" name="Google Shape;419;p39"/>
          <p:cNvPicPr preferRelativeResize="0"/>
          <p:nvPr/>
        </p:nvPicPr>
        <p:blipFill>
          <a:blip r:embed="rId3">
            <a:alphaModFix/>
          </a:blip>
          <a:stretch>
            <a:fillRect/>
          </a:stretch>
        </p:blipFill>
        <p:spPr>
          <a:xfrm>
            <a:off x="628650" y="2450963"/>
            <a:ext cx="2455650" cy="1489875"/>
          </a:xfrm>
          <a:prstGeom prst="rect">
            <a:avLst/>
          </a:prstGeom>
          <a:noFill/>
          <a:ln>
            <a:noFill/>
          </a:ln>
        </p:spPr>
      </p:pic>
      <p:pic>
        <p:nvPicPr>
          <p:cNvPr id="420" name="Google Shape;420;p39"/>
          <p:cNvPicPr preferRelativeResize="0"/>
          <p:nvPr/>
        </p:nvPicPr>
        <p:blipFill>
          <a:blip r:embed="rId4">
            <a:alphaModFix/>
          </a:blip>
          <a:stretch>
            <a:fillRect/>
          </a:stretch>
        </p:blipFill>
        <p:spPr>
          <a:xfrm>
            <a:off x="3585088" y="2450975"/>
            <a:ext cx="2540463" cy="1489875"/>
          </a:xfrm>
          <a:prstGeom prst="rect">
            <a:avLst/>
          </a:prstGeom>
          <a:noFill/>
          <a:ln>
            <a:noFill/>
          </a:ln>
        </p:spPr>
      </p:pic>
      <p:sp>
        <p:nvSpPr>
          <p:cNvPr id="421" name="Google Shape;421;p39"/>
          <p:cNvSpPr txBox="1"/>
          <p:nvPr/>
        </p:nvSpPr>
        <p:spPr>
          <a:xfrm>
            <a:off x="628650" y="2086650"/>
            <a:ext cx="16461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latin typeface="Calibri"/>
                <a:ea typeface="Calibri"/>
                <a:cs typeface="Calibri"/>
                <a:sym typeface="Calibri"/>
              </a:rPr>
              <a:t>Clean sorted spectrum</a:t>
            </a:r>
            <a:endParaRPr sz="1200">
              <a:solidFill>
                <a:schemeClr val="dk1"/>
              </a:solidFill>
              <a:latin typeface="Calibri"/>
              <a:ea typeface="Calibri"/>
              <a:cs typeface="Calibri"/>
              <a:sym typeface="Calibri"/>
            </a:endParaRPr>
          </a:p>
        </p:txBody>
      </p:sp>
      <p:sp>
        <p:nvSpPr>
          <p:cNvPr id="422" name="Google Shape;422;p39"/>
          <p:cNvSpPr txBox="1"/>
          <p:nvPr/>
        </p:nvSpPr>
        <p:spPr>
          <a:xfrm>
            <a:off x="3635225" y="2086650"/>
            <a:ext cx="22137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latin typeface="Calibri"/>
                <a:ea typeface="Calibri"/>
                <a:cs typeface="Calibri"/>
                <a:sym typeface="Calibri"/>
              </a:rPr>
              <a:t>CW / EAD tail-inflated spectrum</a:t>
            </a:r>
            <a:endParaRPr sz="1200">
              <a:solidFill>
                <a:schemeClr val="dk1"/>
              </a:solidFill>
              <a:latin typeface="Calibri"/>
              <a:ea typeface="Calibri"/>
              <a:cs typeface="Calibri"/>
              <a:sym typeface="Calibri"/>
            </a:endParaRPr>
          </a:p>
        </p:txBody>
      </p:sp>
      <p:cxnSp>
        <p:nvCxnSpPr>
          <p:cNvPr id="423" name="Google Shape;423;p39"/>
          <p:cNvCxnSpPr>
            <a:stCxn id="419" idx="3"/>
            <a:endCxn id="420" idx="1"/>
          </p:cNvCxnSpPr>
          <p:nvPr/>
        </p:nvCxnSpPr>
        <p:spPr>
          <a:xfrm>
            <a:off x="3084300" y="3195900"/>
            <a:ext cx="500700" cy="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0"/>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Methodology: What K Controls</a:t>
            </a:r>
            <a:endParaRPr/>
          </a:p>
        </p:txBody>
      </p:sp>
      <p:sp>
        <p:nvSpPr>
          <p:cNvPr id="429" name="Google Shape;429;p40"/>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430" name="Google Shape;430;p40"/>
          <p:cNvSpPr txBox="1"/>
          <p:nvPr/>
        </p:nvSpPr>
        <p:spPr>
          <a:xfrm>
            <a:off x="628650" y="1457150"/>
            <a:ext cx="7619700" cy="398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2100" u="sng">
                <a:solidFill>
                  <a:schemeClr val="dk1"/>
                </a:solidFill>
                <a:latin typeface="Calibri"/>
                <a:ea typeface="Calibri"/>
                <a:cs typeface="Calibri"/>
                <a:sym typeface="Calibri"/>
              </a:rPr>
              <a:t>K = number of frequency components preserved</a:t>
            </a:r>
            <a:endParaRPr b="1" sz="2100" u="sng">
              <a:solidFill>
                <a:schemeClr val="dk1"/>
              </a:solidFill>
              <a:latin typeface="Calibri"/>
              <a:ea typeface="Calibri"/>
              <a:cs typeface="Calibri"/>
              <a:sym typeface="Calibri"/>
            </a:endParaRPr>
          </a:p>
        </p:txBody>
      </p:sp>
      <p:sp>
        <p:nvSpPr>
          <p:cNvPr id="431" name="Google Shape;431;p40"/>
          <p:cNvSpPr txBox="1"/>
          <p:nvPr/>
        </p:nvSpPr>
        <p:spPr>
          <a:xfrm>
            <a:off x="628650" y="2153800"/>
            <a:ext cx="3636300" cy="9942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K too small</a:t>
            </a:r>
            <a:endParaRPr b="1" u="sng">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useful modulation features are removed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clean accuracy decreases.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Low-SNR signals are easily damaged</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432" name="Google Shape;432;p40"/>
          <p:cNvSpPr txBox="1"/>
          <p:nvPr/>
        </p:nvSpPr>
        <p:spPr>
          <a:xfrm>
            <a:off x="4647575" y="2153800"/>
            <a:ext cx="3636300" cy="9942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K too large</a:t>
            </a:r>
            <a:endParaRPr b="1" u="sng">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weak spectral bins are preserved</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adversarial perturbations remain; defense becomes weak</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433" name="Google Shape;433;p40"/>
          <p:cNvSpPr txBox="1"/>
          <p:nvPr/>
        </p:nvSpPr>
        <p:spPr>
          <a:xfrm>
            <a:off x="3603850" y="3227225"/>
            <a:ext cx="1585200" cy="4761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latin typeface="Calibri"/>
                <a:ea typeface="Calibri"/>
                <a:cs typeface="Calibri"/>
                <a:sym typeface="Calibri"/>
              </a:rPr>
              <a:t>adaptive</a:t>
            </a:r>
            <a:r>
              <a:rPr lang="zh-TW" sz="2100">
                <a:solidFill>
                  <a:schemeClr val="dk1"/>
                </a:solidFill>
                <a:latin typeface="Calibri"/>
                <a:ea typeface="Calibri"/>
                <a:cs typeface="Calibri"/>
                <a:sym typeface="Calibri"/>
              </a:rPr>
              <a:t>-K</a:t>
            </a:r>
            <a:endParaRPr sz="21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1"/>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Methodology: SF Routing</a:t>
            </a:r>
            <a:endParaRPr/>
          </a:p>
        </p:txBody>
      </p:sp>
      <p:sp>
        <p:nvSpPr>
          <p:cNvPr id="439" name="Google Shape;439;p41"/>
          <p:cNvSpPr txBox="1"/>
          <p:nvPr>
            <p:ph idx="1" type="body"/>
          </p:nvPr>
        </p:nvSpPr>
        <p:spPr>
          <a:xfrm>
            <a:off x="628650" y="1369225"/>
            <a:ext cx="7943700" cy="1072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zh-TW" u="sng"/>
              <a:t>Spectral-flatness (SF) routing</a:t>
            </a:r>
            <a:endParaRPr b="1" u="sng"/>
          </a:p>
          <a:p>
            <a:pPr indent="-336550" lvl="0" marL="457200" rtl="0" algn="l">
              <a:spcBef>
                <a:spcPts val="800"/>
              </a:spcBef>
              <a:spcAft>
                <a:spcPts val="0"/>
              </a:spcAft>
              <a:buSzPts val="1700"/>
              <a:buChar char="-"/>
            </a:pPr>
            <a:r>
              <a:rPr lang="zh-TW" sz="1400">
                <a:latin typeface="Arial"/>
                <a:ea typeface="Arial"/>
                <a:cs typeface="Arial"/>
                <a:sym typeface="Arial"/>
              </a:rPr>
              <a:t>Spectral flatness measures whether a signal spectrum is </a:t>
            </a:r>
            <a:r>
              <a:rPr b="1" lang="zh-TW" sz="1400">
                <a:latin typeface="Arial"/>
                <a:ea typeface="Arial"/>
                <a:cs typeface="Arial"/>
                <a:sym typeface="Arial"/>
              </a:rPr>
              <a:t>flat / noise-like</a:t>
            </a:r>
            <a:r>
              <a:rPr lang="zh-TW" sz="1400">
                <a:latin typeface="Arial"/>
                <a:ea typeface="Arial"/>
                <a:cs typeface="Arial"/>
                <a:sym typeface="Arial"/>
              </a:rPr>
              <a:t> or </a:t>
            </a:r>
            <a:r>
              <a:rPr b="1" lang="zh-TW" sz="1400">
                <a:latin typeface="Arial"/>
                <a:ea typeface="Arial"/>
                <a:cs typeface="Arial"/>
                <a:sym typeface="Arial"/>
              </a:rPr>
              <a:t>peaky / concentrated</a:t>
            </a:r>
            <a:r>
              <a:rPr lang="zh-TW" sz="1400">
                <a:latin typeface="Arial"/>
                <a:ea typeface="Arial"/>
                <a:cs typeface="Arial"/>
                <a:sym typeface="Arial"/>
              </a:rPr>
              <a:t>. In Adaptive-FFT-K, it is used to decide which defense path should be applied. </a:t>
            </a:r>
            <a:endParaRPr sz="2400"/>
          </a:p>
        </p:txBody>
      </p:sp>
      <p:sp>
        <p:nvSpPr>
          <p:cNvPr id="440" name="Google Shape;440;p41"/>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441" name="Google Shape;441;p41"/>
          <p:cNvSpPr txBox="1"/>
          <p:nvPr/>
        </p:nvSpPr>
        <p:spPr>
          <a:xfrm>
            <a:off x="628650" y="2254925"/>
            <a:ext cx="5363700" cy="27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latin typeface="Calibri"/>
                <a:ea typeface="Calibri"/>
                <a:cs typeface="Calibri"/>
                <a:sym typeface="Calibri"/>
              </a:rPr>
              <a:t>Definition</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Given an input I/Q sample, compute the FFT and power spectrum: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Spectral flatness is the geometric mean divided by the arithmetic mean of the power spectrum:</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K = number of frequency bins;  ε = small constant to avoid log(0)          </a:t>
            </a:r>
            <a:endParaRPr>
              <a:solidFill>
                <a:schemeClr val="dk1"/>
              </a:solidFill>
              <a:latin typeface="Calibri"/>
              <a:ea typeface="Calibri"/>
              <a:cs typeface="Calibri"/>
              <a:sym typeface="Calibri"/>
            </a:endParaRPr>
          </a:p>
        </p:txBody>
      </p:sp>
      <p:pic>
        <p:nvPicPr>
          <p:cNvPr id="442" name="Google Shape;442;p41"/>
          <p:cNvPicPr preferRelativeResize="0"/>
          <p:nvPr/>
        </p:nvPicPr>
        <p:blipFill>
          <a:blip r:embed="rId3">
            <a:alphaModFix/>
          </a:blip>
          <a:stretch>
            <a:fillRect/>
          </a:stretch>
        </p:blipFill>
        <p:spPr>
          <a:xfrm>
            <a:off x="743500" y="2997975"/>
            <a:ext cx="3828499" cy="434150"/>
          </a:xfrm>
          <a:prstGeom prst="rect">
            <a:avLst/>
          </a:prstGeom>
          <a:noFill/>
          <a:ln>
            <a:noFill/>
          </a:ln>
          <a:effectLst>
            <a:outerShdw blurRad="57150" rotWithShape="0" algn="bl" dir="5400000" dist="19050">
              <a:srgbClr val="000000">
                <a:alpha val="50000"/>
              </a:srgbClr>
            </a:outerShdw>
          </a:effectLst>
        </p:spPr>
      </p:pic>
      <p:pic>
        <p:nvPicPr>
          <p:cNvPr id="443" name="Google Shape;443;p41"/>
          <p:cNvPicPr preferRelativeResize="0"/>
          <p:nvPr/>
        </p:nvPicPr>
        <p:blipFill>
          <a:blip r:embed="rId4">
            <a:alphaModFix/>
          </a:blip>
          <a:stretch>
            <a:fillRect/>
          </a:stretch>
        </p:blipFill>
        <p:spPr>
          <a:xfrm>
            <a:off x="743500" y="4065350"/>
            <a:ext cx="3324575" cy="673200"/>
          </a:xfrm>
          <a:prstGeom prst="rect">
            <a:avLst/>
          </a:prstGeom>
          <a:noFill/>
          <a:ln>
            <a:noFill/>
          </a:ln>
          <a:effectLst>
            <a:outerShdw blurRad="57150" rotWithShape="0" algn="bl" dir="5400000" dist="19050">
              <a:srgbClr val="000000">
                <a:alpha val="50000"/>
              </a:srgbClr>
            </a:outerShdw>
          </a:effectLst>
        </p:spPr>
      </p:pic>
      <p:sp>
        <p:nvSpPr>
          <p:cNvPr id="445" name="Google Shape;445;p41"/>
          <p:cNvSpPr txBox="1"/>
          <p:nvPr/>
        </p:nvSpPr>
        <p:spPr>
          <a:xfrm>
            <a:off x="5873750" y="2621050"/>
            <a:ext cx="3057900" cy="23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latin typeface="Calibri"/>
                <a:ea typeface="Calibri"/>
                <a:cs typeface="Calibri"/>
                <a:sym typeface="Calibri"/>
              </a:rPr>
              <a:t>How to interpret SF</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SF ≈ 1: flat spectrum</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wideband / noise-like → quantization path</a:t>
            </a:r>
            <a:endParaRPr>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SF ≈ 0: peaky spectrum</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narrowband / concentrated → SNR-aware Top-K filtering</a:t>
            </a:r>
            <a:endParaRPr>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Routing rule: SF &gt; 0.4 → wideband path, 32-level quantization</a:t>
            </a:r>
            <a:endParaRPr>
              <a:solidFill>
                <a:schemeClr val="dk1"/>
              </a:solidFill>
              <a:latin typeface="Calibri"/>
              <a:ea typeface="Calibri"/>
              <a:cs typeface="Calibri"/>
              <a:sym typeface="Calibri"/>
            </a:endParaRPr>
          </a:p>
        </p:txBody>
      </p:sp>
      <p:pic>
        <p:nvPicPr>
          <p:cNvPr id="449" name="Google Shape;449;p41"/>
          <p:cNvPicPr preferRelativeResize="0"/>
          <p:nvPr/>
        </p:nvPicPr>
        <p:blipFill>
          <a:blip r:embed="rId7">
            <a:alphaModFix/>
          </a:blip>
          <a:stretch>
            <a:fillRect/>
          </a:stretch>
        </p:blipFill>
        <p:spPr>
          <a:xfrm>
            <a:off x="5693119" y="251194"/>
            <a:ext cx="2734724" cy="871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2"/>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Methodology: Knee Point → Top-K Selection</a:t>
            </a:r>
            <a:endParaRPr/>
          </a:p>
        </p:txBody>
      </p:sp>
      <p:sp>
        <p:nvSpPr>
          <p:cNvPr id="455" name="Google Shape;455;p42"/>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317500" lvl="0" marL="457200" rtl="0" algn="l">
              <a:lnSpc>
                <a:spcPct val="100000"/>
              </a:lnSpc>
              <a:spcBef>
                <a:spcPts val="0"/>
              </a:spcBef>
              <a:spcAft>
                <a:spcPts val="0"/>
              </a:spcAft>
              <a:buClr>
                <a:srgbClr val="000000"/>
              </a:buClr>
              <a:buSzPts val="1400"/>
              <a:buChar char="-"/>
            </a:pPr>
            <a:r>
              <a:rPr lang="zh-TW" sz="1400">
                <a:solidFill>
                  <a:srgbClr val="000000"/>
                </a:solidFill>
                <a:latin typeface="Arial"/>
                <a:ea typeface="Arial"/>
                <a:cs typeface="Arial"/>
                <a:sym typeface="Arial"/>
              </a:rPr>
              <a:t>knee = first k where |X[k]| / |X[1]| &lt; γ   (γ = 5%)</a:t>
            </a: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zh-TW" sz="1400">
                <a:solidFill>
                  <a:srgbClr val="000000"/>
                </a:solidFill>
                <a:latin typeface="Arial"/>
                <a:ea typeface="Arial"/>
                <a:cs typeface="Arial"/>
                <a:sym typeface="Arial"/>
              </a:rPr>
              <a:t>Final K: Kᵢ = min(kneeᵢ, K_max,ᵢ), e.g., knee = 11 and K_max ≥ 11 → K = 11; keep Top-K bins, zero the rest, IFFT</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zh-TW" sz="1400" u="sng"/>
              <a:t>Sorted FFT magnitudes</a:t>
            </a:r>
            <a:endParaRPr b="1" sz="1400" u="sng"/>
          </a:p>
          <a:p>
            <a:pPr indent="0" lvl="0" marL="0" rtl="0" algn="l">
              <a:lnSpc>
                <a:spcPct val="100000"/>
              </a:lnSpc>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800"/>
              </a:spcBef>
              <a:spcAft>
                <a:spcPts val="0"/>
              </a:spcAft>
              <a:buNone/>
            </a:pPr>
            <a:r>
              <a:t/>
            </a:r>
            <a:endParaRPr/>
          </a:p>
        </p:txBody>
      </p:sp>
      <p:sp>
        <p:nvSpPr>
          <p:cNvPr id="456" name="Google Shape;456;p42"/>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pic>
        <p:nvPicPr>
          <p:cNvPr id="457" name="Google Shape;457;p42"/>
          <p:cNvPicPr preferRelativeResize="0"/>
          <p:nvPr/>
        </p:nvPicPr>
        <p:blipFill>
          <a:blip r:embed="rId3">
            <a:alphaModFix/>
          </a:blip>
          <a:stretch>
            <a:fillRect/>
          </a:stretch>
        </p:blipFill>
        <p:spPr>
          <a:xfrm>
            <a:off x="772275" y="2693493"/>
            <a:ext cx="3292349" cy="1778675"/>
          </a:xfrm>
          <a:prstGeom prst="rect">
            <a:avLst/>
          </a:prstGeom>
          <a:noFill/>
          <a:ln>
            <a:noFill/>
          </a:ln>
          <a:effectLst>
            <a:outerShdw blurRad="57150" rotWithShape="0" algn="bl" dir="5400000" dist="19050">
              <a:srgbClr val="000000">
                <a:alpha val="50000"/>
              </a:srgbClr>
            </a:outerShdw>
          </a:effectLst>
        </p:spPr>
      </p:pic>
      <p:sp>
        <p:nvSpPr>
          <p:cNvPr id="458" name="Google Shape;458;p42"/>
          <p:cNvSpPr txBox="1"/>
          <p:nvPr/>
        </p:nvSpPr>
        <p:spPr>
          <a:xfrm>
            <a:off x="4549675" y="2189075"/>
            <a:ext cx="4115400" cy="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u="sng">
                <a:solidFill>
                  <a:schemeClr val="dk1"/>
                </a:solidFill>
                <a:latin typeface="Calibri"/>
                <a:ea typeface="Calibri"/>
                <a:cs typeface="Calibri"/>
                <a:sym typeface="Calibri"/>
              </a:rPr>
              <a:t>Top-11 means: keep the 11 strongest frequency bins</a:t>
            </a:r>
            <a:endParaRPr b="1" u="sng">
              <a:solidFill>
                <a:schemeClr val="dk1"/>
              </a:solidFill>
              <a:latin typeface="Calibri"/>
              <a:ea typeface="Calibri"/>
              <a:cs typeface="Calibri"/>
              <a:sym typeface="Calibri"/>
            </a:endParaRPr>
          </a:p>
        </p:txBody>
      </p:sp>
      <p:sp>
        <p:nvSpPr>
          <p:cNvPr id="459" name="Google Shape;459;p42"/>
          <p:cNvSpPr txBox="1"/>
          <p:nvPr/>
        </p:nvSpPr>
        <p:spPr>
          <a:xfrm>
            <a:off x="184675" y="2806075"/>
            <a:ext cx="480900" cy="3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x[k]</a:t>
            </a:r>
            <a:endParaRPr>
              <a:solidFill>
                <a:schemeClr val="dk1"/>
              </a:solidFill>
              <a:latin typeface="Calibri"/>
              <a:ea typeface="Calibri"/>
              <a:cs typeface="Calibri"/>
              <a:sym typeface="Calibri"/>
            </a:endParaRPr>
          </a:p>
        </p:txBody>
      </p:sp>
      <p:cxnSp>
        <p:nvCxnSpPr>
          <p:cNvPr id="460" name="Google Shape;460;p42"/>
          <p:cNvCxnSpPr/>
          <p:nvPr/>
        </p:nvCxnSpPr>
        <p:spPr>
          <a:xfrm flipH="1" rot="10800000">
            <a:off x="434275" y="4277625"/>
            <a:ext cx="4115400" cy="12300"/>
          </a:xfrm>
          <a:prstGeom prst="straightConnector1">
            <a:avLst/>
          </a:prstGeom>
          <a:noFill/>
          <a:ln cap="flat" cmpd="sng" w="28575">
            <a:solidFill>
              <a:srgbClr val="FF0000"/>
            </a:solidFill>
            <a:prstDash val="solid"/>
            <a:round/>
            <a:headEnd len="med" w="med" type="none"/>
            <a:tailEnd len="med" w="med" type="none"/>
          </a:ln>
        </p:spPr>
      </p:cxnSp>
      <p:cxnSp>
        <p:nvCxnSpPr>
          <p:cNvPr id="461" name="Google Shape;461;p42"/>
          <p:cNvCxnSpPr/>
          <p:nvPr/>
        </p:nvCxnSpPr>
        <p:spPr>
          <a:xfrm rot="10800000">
            <a:off x="3368725" y="2615875"/>
            <a:ext cx="6000" cy="2148900"/>
          </a:xfrm>
          <a:prstGeom prst="straightConnector1">
            <a:avLst/>
          </a:prstGeom>
          <a:noFill/>
          <a:ln cap="flat" cmpd="sng" w="28575">
            <a:solidFill>
              <a:srgbClr val="6AA84F"/>
            </a:solidFill>
            <a:prstDash val="solid"/>
            <a:round/>
            <a:headEnd len="med" w="med" type="none"/>
            <a:tailEnd len="med" w="med" type="none"/>
          </a:ln>
        </p:spPr>
      </p:cxnSp>
      <p:sp>
        <p:nvSpPr>
          <p:cNvPr id="462" name="Google Shape;462;p42"/>
          <p:cNvSpPr txBox="1"/>
          <p:nvPr/>
        </p:nvSpPr>
        <p:spPr>
          <a:xfrm>
            <a:off x="2985100" y="2293100"/>
            <a:ext cx="10044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knee = 11</a:t>
            </a:r>
            <a:endParaRPr>
              <a:solidFill>
                <a:schemeClr val="dk1"/>
              </a:solidFill>
              <a:latin typeface="Calibri"/>
              <a:ea typeface="Calibri"/>
              <a:cs typeface="Calibri"/>
              <a:sym typeface="Calibri"/>
            </a:endParaRPr>
          </a:p>
        </p:txBody>
      </p:sp>
      <p:sp>
        <p:nvSpPr>
          <p:cNvPr id="463" name="Google Shape;463;p42"/>
          <p:cNvSpPr txBox="1"/>
          <p:nvPr/>
        </p:nvSpPr>
        <p:spPr>
          <a:xfrm>
            <a:off x="4160050" y="3875950"/>
            <a:ext cx="1314900" cy="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ratio &lt; γ</a:t>
            </a:r>
            <a:endParaRPr>
              <a:solidFill>
                <a:schemeClr val="dk1"/>
              </a:solidFill>
              <a:latin typeface="Calibri"/>
              <a:ea typeface="Calibri"/>
              <a:cs typeface="Calibri"/>
              <a:sym typeface="Calibri"/>
            </a:endParaRPr>
          </a:p>
        </p:txBody>
      </p:sp>
      <p:sp>
        <p:nvSpPr>
          <p:cNvPr id="464" name="Google Shape;464;p42"/>
          <p:cNvSpPr/>
          <p:nvPr/>
        </p:nvSpPr>
        <p:spPr>
          <a:xfrm>
            <a:off x="4988000" y="2962775"/>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5" name="Google Shape;465;p42"/>
          <p:cNvSpPr/>
          <p:nvPr/>
        </p:nvSpPr>
        <p:spPr>
          <a:xfrm>
            <a:off x="5171000" y="2962775"/>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6" name="Google Shape;466;p42"/>
          <p:cNvSpPr/>
          <p:nvPr/>
        </p:nvSpPr>
        <p:spPr>
          <a:xfrm>
            <a:off x="5354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7" name="Google Shape;467;p42"/>
          <p:cNvSpPr/>
          <p:nvPr/>
        </p:nvSpPr>
        <p:spPr>
          <a:xfrm>
            <a:off x="5537000" y="2962775"/>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8" name="Google Shape;468;p42"/>
          <p:cNvSpPr/>
          <p:nvPr/>
        </p:nvSpPr>
        <p:spPr>
          <a:xfrm>
            <a:off x="5720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9" name="Google Shape;469;p42"/>
          <p:cNvSpPr/>
          <p:nvPr/>
        </p:nvSpPr>
        <p:spPr>
          <a:xfrm>
            <a:off x="5903000" y="2962775"/>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0" name="Google Shape;470;p42"/>
          <p:cNvSpPr/>
          <p:nvPr/>
        </p:nvSpPr>
        <p:spPr>
          <a:xfrm>
            <a:off x="6086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1" name="Google Shape;471;p42"/>
          <p:cNvSpPr/>
          <p:nvPr/>
        </p:nvSpPr>
        <p:spPr>
          <a:xfrm>
            <a:off x="6269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2" name="Google Shape;472;p42"/>
          <p:cNvSpPr/>
          <p:nvPr/>
        </p:nvSpPr>
        <p:spPr>
          <a:xfrm>
            <a:off x="6452000" y="2962775"/>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3" name="Google Shape;473;p42"/>
          <p:cNvSpPr/>
          <p:nvPr/>
        </p:nvSpPr>
        <p:spPr>
          <a:xfrm>
            <a:off x="6635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4" name="Google Shape;474;p42"/>
          <p:cNvSpPr/>
          <p:nvPr/>
        </p:nvSpPr>
        <p:spPr>
          <a:xfrm>
            <a:off x="6818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5" name="Google Shape;475;p42"/>
          <p:cNvSpPr/>
          <p:nvPr/>
        </p:nvSpPr>
        <p:spPr>
          <a:xfrm>
            <a:off x="7001000" y="2964000"/>
            <a:ext cx="121800" cy="2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6" name="Google Shape;476;p42"/>
          <p:cNvSpPr/>
          <p:nvPr/>
        </p:nvSpPr>
        <p:spPr>
          <a:xfrm>
            <a:off x="7184000" y="2962775"/>
            <a:ext cx="121800" cy="2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7" name="Google Shape;477;p42"/>
          <p:cNvSpPr/>
          <p:nvPr/>
        </p:nvSpPr>
        <p:spPr>
          <a:xfrm>
            <a:off x="7367000" y="2962775"/>
            <a:ext cx="121800" cy="2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8" name="Google Shape;478;p42"/>
          <p:cNvSpPr/>
          <p:nvPr/>
        </p:nvSpPr>
        <p:spPr>
          <a:xfrm>
            <a:off x="7550000" y="2962775"/>
            <a:ext cx="121800" cy="2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9" name="Google Shape;479;p42"/>
          <p:cNvSpPr/>
          <p:nvPr/>
        </p:nvSpPr>
        <p:spPr>
          <a:xfrm>
            <a:off x="7776250" y="3041900"/>
            <a:ext cx="79200" cy="85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0" name="Google Shape;480;p42"/>
          <p:cNvSpPr/>
          <p:nvPr/>
        </p:nvSpPr>
        <p:spPr>
          <a:xfrm>
            <a:off x="7959900" y="3038975"/>
            <a:ext cx="79200" cy="85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1" name="Google Shape;481;p42"/>
          <p:cNvSpPr/>
          <p:nvPr/>
        </p:nvSpPr>
        <p:spPr>
          <a:xfrm>
            <a:off x="8143550" y="3038975"/>
            <a:ext cx="79200" cy="85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2" name="Google Shape;482;p42"/>
          <p:cNvSpPr/>
          <p:nvPr/>
        </p:nvSpPr>
        <p:spPr>
          <a:xfrm>
            <a:off x="8327200" y="3038975"/>
            <a:ext cx="79200" cy="85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483" name="Google Shape;483;p42"/>
          <p:cNvCxnSpPr/>
          <p:nvPr/>
        </p:nvCxnSpPr>
        <p:spPr>
          <a:xfrm>
            <a:off x="6972650" y="2810575"/>
            <a:ext cx="0" cy="627000"/>
          </a:xfrm>
          <a:prstGeom prst="straightConnector1">
            <a:avLst/>
          </a:prstGeom>
          <a:noFill/>
          <a:ln cap="flat" cmpd="sng" w="19050">
            <a:solidFill>
              <a:schemeClr val="dk2"/>
            </a:solidFill>
            <a:prstDash val="solid"/>
            <a:round/>
            <a:headEnd len="med" w="med" type="none"/>
            <a:tailEnd len="med" w="med" type="none"/>
          </a:ln>
        </p:spPr>
      </p:cxnSp>
      <p:sp>
        <p:nvSpPr>
          <p:cNvPr id="484" name="Google Shape;484;p42"/>
          <p:cNvSpPr txBox="1"/>
          <p:nvPr/>
        </p:nvSpPr>
        <p:spPr>
          <a:xfrm>
            <a:off x="6485600" y="3437565"/>
            <a:ext cx="974100" cy="4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latin typeface="Calibri"/>
                <a:ea typeface="Calibri"/>
                <a:cs typeface="Calibri"/>
                <a:sym typeface="Calibri"/>
              </a:rPr>
              <a:t>cutoff</a:t>
            </a:r>
            <a:endParaRPr sz="21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3"/>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Font typeface="Arial"/>
              <a:buNone/>
            </a:pPr>
            <a:r>
              <a:rPr lang="zh-TW"/>
              <a:t>Methodology: Why Bound K by SNR?</a:t>
            </a:r>
            <a:endParaRPr/>
          </a:p>
        </p:txBody>
      </p:sp>
      <p:sp>
        <p:nvSpPr>
          <p:cNvPr id="490" name="Google Shape;490;p43"/>
          <p:cNvSpPr txBox="1"/>
          <p:nvPr>
            <p:ph idx="1" type="body"/>
          </p:nvPr>
        </p:nvSpPr>
        <p:spPr>
          <a:xfrm>
            <a:off x="628650" y="1369225"/>
            <a:ext cx="7886700" cy="994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b="1" u="sng"/>
          </a:p>
        </p:txBody>
      </p:sp>
      <p:sp>
        <p:nvSpPr>
          <p:cNvPr id="491" name="Google Shape;491;p43"/>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492" name="Google Shape;492;p43"/>
          <p:cNvSpPr txBox="1"/>
          <p:nvPr/>
        </p:nvSpPr>
        <p:spPr>
          <a:xfrm>
            <a:off x="504275" y="3605925"/>
            <a:ext cx="4107600" cy="1263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Knee-only K depends only on spectrum shape</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Inflated tails can overestimate K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Large K preserves adversarial weak bins</a:t>
            </a:r>
            <a:endParaRPr>
              <a:solidFill>
                <a:schemeClr val="dk1"/>
              </a:solidFill>
              <a:latin typeface="Calibri"/>
              <a:ea typeface="Calibri"/>
              <a:cs typeface="Calibri"/>
              <a:sym typeface="Calibri"/>
            </a:endParaRPr>
          </a:p>
        </p:txBody>
      </p:sp>
      <p:pic>
        <p:nvPicPr>
          <p:cNvPr id="493" name="Google Shape;493;p43"/>
          <p:cNvPicPr preferRelativeResize="0"/>
          <p:nvPr/>
        </p:nvPicPr>
        <p:blipFill>
          <a:blip r:embed="rId3">
            <a:alphaModFix/>
          </a:blip>
          <a:stretch>
            <a:fillRect/>
          </a:stretch>
        </p:blipFill>
        <p:spPr>
          <a:xfrm>
            <a:off x="628650" y="1815350"/>
            <a:ext cx="2928700" cy="1549075"/>
          </a:xfrm>
          <a:prstGeom prst="rect">
            <a:avLst/>
          </a:prstGeom>
          <a:noFill/>
          <a:ln>
            <a:noFill/>
          </a:ln>
          <a:effectLst>
            <a:outerShdw blurRad="57150" rotWithShape="0" algn="bl" dir="5400000" dist="19050">
              <a:srgbClr val="000000">
                <a:alpha val="50000"/>
              </a:srgbClr>
            </a:outerShdw>
          </a:effectLst>
        </p:spPr>
      </p:pic>
      <p:pic>
        <p:nvPicPr>
          <p:cNvPr id="494" name="Google Shape;494;p43"/>
          <p:cNvPicPr preferRelativeResize="0"/>
          <p:nvPr/>
        </p:nvPicPr>
        <p:blipFill>
          <a:blip r:embed="rId4">
            <a:alphaModFix/>
          </a:blip>
          <a:stretch>
            <a:fillRect/>
          </a:stretch>
        </p:blipFill>
        <p:spPr>
          <a:xfrm>
            <a:off x="4872575" y="1573838"/>
            <a:ext cx="3238500" cy="1514475"/>
          </a:xfrm>
          <a:prstGeom prst="rect">
            <a:avLst/>
          </a:prstGeom>
          <a:noFill/>
          <a:ln>
            <a:noFill/>
          </a:ln>
          <a:effectLst>
            <a:outerShdw blurRad="57150" rotWithShape="0" algn="bl" dir="5400000" dist="19050">
              <a:srgbClr val="000000">
                <a:alpha val="50000"/>
              </a:srgbClr>
            </a:outerShdw>
          </a:effectLst>
        </p:spPr>
      </p:pic>
      <p:graphicFrame>
        <p:nvGraphicFramePr>
          <p:cNvPr id="495" name="Google Shape;495;p43"/>
          <p:cNvGraphicFramePr/>
          <p:nvPr/>
        </p:nvGraphicFramePr>
        <p:xfrm>
          <a:off x="4532675" y="3430250"/>
          <a:ext cx="3000000" cy="3000000"/>
        </p:xfrm>
        <a:graphic>
          <a:graphicData uri="http://schemas.openxmlformats.org/drawingml/2006/table">
            <a:tbl>
              <a:tblPr>
                <a:noFill/>
                <a:tableStyleId>{CF61EEF9-22CB-4A57-9C2E-771D6B58F8FB}</a:tableStyleId>
              </a:tblPr>
              <a:tblGrid>
                <a:gridCol w="1551175"/>
                <a:gridCol w="1551175"/>
                <a:gridCol w="1551175"/>
              </a:tblGrid>
              <a:tr h="571150">
                <a:tc>
                  <a:txBody>
                    <a:bodyPr/>
                    <a:lstStyle/>
                    <a:p>
                      <a:pPr indent="0" lvl="0" marL="0" rtl="0" algn="l">
                        <a:spcBef>
                          <a:spcPts val="0"/>
                        </a:spcBef>
                        <a:spcAft>
                          <a:spcPts val="0"/>
                        </a:spcAft>
                        <a:buNone/>
                      </a:pPr>
                      <a:r>
                        <a:rPr lang="zh-TW" sz="1800"/>
                        <a:t>Low SNR</a:t>
                      </a:r>
                      <a:endParaRPr sz="1800"/>
                    </a:p>
                  </a:txBody>
                  <a:tcPr marT="91425" marB="91425" marR="91425" marL="91425"/>
                </a:tc>
                <a:tc>
                  <a:txBody>
                    <a:bodyPr/>
                    <a:lstStyle/>
                    <a:p>
                      <a:pPr indent="0" lvl="0" marL="0" rtl="0" algn="l">
                        <a:spcBef>
                          <a:spcPts val="0"/>
                        </a:spcBef>
                        <a:spcAft>
                          <a:spcPts val="0"/>
                        </a:spcAft>
                        <a:buNone/>
                      </a:pPr>
                      <a:r>
                        <a:rPr lang="zh-TW" sz="1800"/>
                        <a:t>looser bound</a:t>
                      </a:r>
                      <a:endParaRPr sz="1800"/>
                    </a:p>
                  </a:txBody>
                  <a:tcPr marT="91425" marB="91425" marR="91425" marL="91425"/>
                </a:tc>
                <a:tc>
                  <a:txBody>
                    <a:bodyPr/>
                    <a:lstStyle/>
                    <a:p>
                      <a:pPr indent="0" lvl="0" marL="0" rtl="0" algn="l">
                        <a:spcBef>
                          <a:spcPts val="0"/>
                        </a:spcBef>
                        <a:spcAft>
                          <a:spcPts val="0"/>
                        </a:spcAft>
                        <a:buNone/>
                      </a:pPr>
                      <a:r>
                        <a:rPr lang="zh-TW" sz="1300"/>
                        <a:t>preserve weak useful signal components</a:t>
                      </a:r>
                      <a:endParaRPr sz="1300"/>
                    </a:p>
                  </a:txBody>
                  <a:tcPr marT="91425" marB="91425" marR="91425" marL="91425"/>
                </a:tc>
              </a:tr>
              <a:tr h="423050">
                <a:tc>
                  <a:txBody>
                    <a:bodyPr/>
                    <a:lstStyle/>
                    <a:p>
                      <a:pPr indent="0" lvl="0" marL="0" rtl="0" algn="l">
                        <a:spcBef>
                          <a:spcPts val="0"/>
                        </a:spcBef>
                        <a:spcAft>
                          <a:spcPts val="0"/>
                        </a:spcAft>
                        <a:buNone/>
                      </a:pPr>
                      <a:r>
                        <a:rPr lang="zh-TW" sz="1800"/>
                        <a:t>High SNR</a:t>
                      </a:r>
                      <a:endParaRPr sz="1800"/>
                    </a:p>
                  </a:txBody>
                  <a:tcPr marT="91425" marB="91425" marR="91425" marL="91425"/>
                </a:tc>
                <a:tc>
                  <a:txBody>
                    <a:bodyPr/>
                    <a:lstStyle/>
                    <a:p>
                      <a:pPr indent="0" lvl="0" marL="0" rtl="0" algn="l">
                        <a:spcBef>
                          <a:spcPts val="0"/>
                        </a:spcBef>
                        <a:spcAft>
                          <a:spcPts val="0"/>
                        </a:spcAft>
                        <a:buNone/>
                      </a:pPr>
                      <a:r>
                        <a:rPr lang="zh-TW" sz="1800"/>
                        <a:t>tighter bound</a:t>
                      </a:r>
                      <a:endParaRPr sz="1800"/>
                    </a:p>
                  </a:txBody>
                  <a:tcPr marT="91425" marB="91425" marR="91425" marL="91425"/>
                </a:tc>
                <a:tc>
                  <a:txBody>
                    <a:bodyPr/>
                    <a:lstStyle/>
                    <a:p>
                      <a:pPr indent="0" lvl="0" marL="0" rtl="0" algn="l">
                        <a:spcBef>
                          <a:spcPts val="0"/>
                        </a:spcBef>
                        <a:spcAft>
                          <a:spcPts val="0"/>
                        </a:spcAft>
                        <a:buNone/>
                      </a:pPr>
                      <a:r>
                        <a:rPr lang="zh-TW" sz="1300"/>
                        <a:t>suppress weak adversarial tail</a:t>
                      </a:r>
                      <a:endParaRPr sz="1300"/>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4"/>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501" name="Google Shape;501;p44"/>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Clr>
                <a:srgbClr val="E0E0E0"/>
              </a:buClr>
              <a:buSzPts val="2400"/>
              <a:buChar char="•"/>
            </a:pPr>
            <a:r>
              <a:rPr lang="zh-TW" sz="2400">
                <a:solidFill>
                  <a:srgbClr val="E0E0E0"/>
                </a:solidFill>
                <a:latin typeface="Arial"/>
                <a:ea typeface="Arial"/>
                <a:cs typeface="Arial"/>
                <a:sym typeface="Arial"/>
              </a:rPr>
              <a:t>Motivation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Related Work</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Contributions</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System Overview</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Methodology</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1F1F1F"/>
              </a:buClr>
              <a:buSzPts val="2400"/>
              <a:buFont typeface="Arial"/>
              <a:buChar char="•"/>
            </a:pPr>
            <a:r>
              <a:rPr lang="zh-TW" sz="2400">
                <a:solidFill>
                  <a:srgbClr val="1F1F1F"/>
                </a:solidFill>
                <a:latin typeface="Arial"/>
                <a:ea typeface="Arial"/>
                <a:cs typeface="Arial"/>
                <a:sym typeface="Arial"/>
              </a:rPr>
              <a:t>Evaluation</a:t>
            </a:r>
            <a:endParaRPr sz="2400">
              <a:solidFill>
                <a:srgbClr val="1F1F1F"/>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502" name="Google Shape;502;p44"/>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5"/>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Evaluation: CRC Pipeline</a:t>
            </a:r>
            <a:endParaRPr/>
          </a:p>
        </p:txBody>
      </p:sp>
      <p:sp>
        <p:nvSpPr>
          <p:cNvPr id="508" name="Google Shape;508;p45"/>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317500" lvl="0" marL="457200" rtl="0" algn="l">
              <a:spcBef>
                <a:spcPts val="800"/>
              </a:spcBef>
              <a:spcAft>
                <a:spcPts val="0"/>
              </a:spcAft>
              <a:buSzPts val="1400"/>
              <a:buChar char="-"/>
            </a:pPr>
            <a:r>
              <a:rPr lang="zh-TW"/>
              <a:t>Setup: SNR 18 dB, 200 bursts/mod, CW (c = 1.0, 1000 steps), CRC-8. </a:t>
            </a:r>
            <a:endParaRPr/>
          </a:p>
          <a:p>
            <a:pPr indent="-317500" lvl="0" marL="457200" rtl="0" algn="l">
              <a:spcBef>
                <a:spcPts val="0"/>
              </a:spcBef>
              <a:spcAft>
                <a:spcPts val="0"/>
              </a:spcAft>
              <a:buSzPts val="1400"/>
              <a:buChar char="-"/>
            </a:pPr>
            <a:r>
              <a:rPr lang="zh-TW"/>
              <a:t>Clean + Oracle: no attack, true demodulation </a:t>
            </a:r>
            <a:endParaRPr/>
          </a:p>
          <a:p>
            <a:pPr indent="-317500" lvl="0" marL="457200" rtl="0" algn="l">
              <a:spcBef>
                <a:spcPts val="0"/>
              </a:spcBef>
              <a:spcAft>
                <a:spcPts val="0"/>
              </a:spcAft>
              <a:buSzPts val="1400"/>
              <a:buChar char="-"/>
            </a:pPr>
            <a:r>
              <a:rPr lang="zh-TW"/>
              <a:t>Adv + Oracle: CW attack, demodulator forced correct </a:t>
            </a:r>
            <a:endParaRPr/>
          </a:p>
          <a:p>
            <a:pPr indent="0" lvl="0" marL="0" rtl="0" algn="l">
              <a:spcBef>
                <a:spcPts val="800"/>
              </a:spcBef>
              <a:spcAft>
                <a:spcPts val="0"/>
              </a:spcAft>
              <a:buNone/>
            </a:pPr>
            <a:r>
              <a:t/>
            </a:r>
            <a:endParaRPr/>
          </a:p>
        </p:txBody>
      </p:sp>
      <p:sp>
        <p:nvSpPr>
          <p:cNvPr id="509" name="Google Shape;509;p45"/>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graphicFrame>
        <p:nvGraphicFramePr>
          <p:cNvPr id="510" name="Google Shape;510;p45"/>
          <p:cNvGraphicFramePr/>
          <p:nvPr/>
        </p:nvGraphicFramePr>
        <p:xfrm>
          <a:off x="952500" y="2995250"/>
          <a:ext cx="3000000" cy="3000000"/>
        </p:xfrm>
        <a:graphic>
          <a:graphicData uri="http://schemas.openxmlformats.org/drawingml/2006/table">
            <a:tbl>
              <a:tblPr>
                <a:noFill/>
                <a:tableStyleId>{CF61EEF9-22CB-4A57-9C2E-771D6B58F8FB}</a:tableStyleId>
              </a:tblPr>
              <a:tblGrid>
                <a:gridCol w="2413000"/>
                <a:gridCol w="2413000"/>
                <a:gridCol w="2413000"/>
              </a:tblGrid>
              <a:tr h="381000">
                <a:tc>
                  <a:txBody>
                    <a:bodyPr/>
                    <a:lstStyle/>
                    <a:p>
                      <a:pPr indent="0" lvl="0" marL="0" rtl="0" algn="l">
                        <a:spcBef>
                          <a:spcPts val="0"/>
                        </a:spcBef>
                        <a:spcAft>
                          <a:spcPts val="0"/>
                        </a:spcAft>
                        <a:buNone/>
                      </a:pPr>
                      <a:r>
                        <a:rPr lang="zh-TW"/>
                        <a:t>Scenario</a:t>
                      </a:r>
                      <a:endParaRPr/>
                    </a:p>
                  </a:txBody>
                  <a:tcPr marT="91425" marB="91425" marR="91425" marL="91425"/>
                </a:tc>
                <a:tc>
                  <a:txBody>
                    <a:bodyPr/>
                    <a:lstStyle/>
                    <a:p>
                      <a:pPr indent="0" lvl="0" marL="0" rtl="0" algn="l">
                        <a:spcBef>
                          <a:spcPts val="0"/>
                        </a:spcBef>
                        <a:spcAft>
                          <a:spcPts val="0"/>
                        </a:spcAft>
                        <a:buNone/>
                      </a:pPr>
                      <a:r>
                        <a:rPr lang="zh-TW"/>
                        <a:t>AMC Acc.</a:t>
                      </a:r>
                      <a:endParaRPr/>
                    </a:p>
                  </a:txBody>
                  <a:tcPr marT="91425" marB="91425" marR="91425" marL="91425"/>
                </a:tc>
                <a:tc>
                  <a:txBody>
                    <a:bodyPr/>
                    <a:lstStyle/>
                    <a:p>
                      <a:pPr indent="0" lvl="0" marL="0" rtl="0" algn="l">
                        <a:spcBef>
                          <a:spcPts val="0"/>
                        </a:spcBef>
                        <a:spcAft>
                          <a:spcPts val="0"/>
                        </a:spcAft>
                        <a:buNone/>
                      </a:pPr>
                      <a:r>
                        <a:rPr lang="zh-TW"/>
                        <a:t>CRC pass</a:t>
                      </a:r>
                      <a:endParaRPr/>
                    </a:p>
                  </a:txBody>
                  <a:tcPr marT="91425" marB="91425" marR="91425" marL="91425"/>
                </a:tc>
              </a:tr>
              <a:tr h="381000">
                <a:tc>
                  <a:txBody>
                    <a:bodyPr/>
                    <a:lstStyle/>
                    <a:p>
                      <a:pPr indent="0" lvl="0" marL="0" rtl="0" algn="l">
                        <a:spcBef>
                          <a:spcPts val="0"/>
                        </a:spcBef>
                        <a:spcAft>
                          <a:spcPts val="0"/>
                        </a:spcAft>
                        <a:buNone/>
                      </a:pPr>
                      <a:r>
                        <a:rPr lang="zh-TW"/>
                        <a:t>Clean + Oracle</a:t>
                      </a:r>
                      <a:endParaRPr/>
                    </a:p>
                  </a:txBody>
                  <a:tcPr marT="91425" marB="91425" marR="91425" marL="91425"/>
                </a:tc>
                <a:tc>
                  <a:txBody>
                    <a:bodyPr/>
                    <a:lstStyle/>
                    <a:p>
                      <a:pPr indent="0" lvl="0" marL="0" rtl="0" algn="l">
                        <a:spcBef>
                          <a:spcPts val="0"/>
                        </a:spcBef>
                        <a:spcAft>
                          <a:spcPts val="0"/>
                        </a:spcAft>
                        <a:buNone/>
                      </a:pPr>
                      <a:r>
                        <a:rPr lang="zh-TW"/>
                        <a:t>98.1 % </a:t>
                      </a:r>
                      <a:endParaRPr/>
                    </a:p>
                  </a:txBody>
                  <a:tcPr marT="91425" marB="91425" marR="91425" marL="91425"/>
                </a:tc>
                <a:tc>
                  <a:txBody>
                    <a:bodyPr/>
                    <a:lstStyle/>
                    <a:p>
                      <a:pPr indent="0" lvl="0" marL="0" rtl="0" algn="l">
                        <a:spcBef>
                          <a:spcPts val="0"/>
                        </a:spcBef>
                        <a:spcAft>
                          <a:spcPts val="0"/>
                        </a:spcAft>
                        <a:buNone/>
                      </a:pPr>
                      <a:r>
                        <a:rPr lang="zh-TW"/>
                        <a:t>99.4 %</a:t>
                      </a:r>
                      <a:endParaRPr/>
                    </a:p>
                  </a:txBody>
                  <a:tcPr marT="91425" marB="91425" marR="91425" marL="91425"/>
                </a:tc>
              </a:tr>
              <a:tr h="381000">
                <a:tc>
                  <a:txBody>
                    <a:bodyPr/>
                    <a:lstStyle/>
                    <a:p>
                      <a:pPr indent="0" lvl="0" marL="0" rtl="0" algn="l">
                        <a:spcBef>
                          <a:spcPts val="0"/>
                        </a:spcBef>
                        <a:spcAft>
                          <a:spcPts val="0"/>
                        </a:spcAft>
                        <a:buNone/>
                      </a:pPr>
                      <a:r>
                        <a:rPr lang="zh-TW"/>
                        <a:t>Adv + Oracle</a:t>
                      </a:r>
                      <a:endParaRPr/>
                    </a:p>
                  </a:txBody>
                  <a:tcPr marT="91425" marB="91425" marR="91425" marL="91425"/>
                </a:tc>
                <a:tc>
                  <a:txBody>
                    <a:bodyPr/>
                    <a:lstStyle/>
                    <a:p>
                      <a:pPr indent="0" lvl="0" marL="0" rtl="0" algn="l">
                        <a:spcBef>
                          <a:spcPts val="0"/>
                        </a:spcBef>
                        <a:spcAft>
                          <a:spcPts val="0"/>
                        </a:spcAft>
                        <a:buNone/>
                      </a:pPr>
                      <a:r>
                        <a:rPr lang="zh-TW"/>
                        <a:t>7.0 %</a:t>
                      </a:r>
                      <a:endParaRPr/>
                    </a:p>
                  </a:txBody>
                  <a:tcPr marT="91425" marB="91425" marR="91425" marL="91425"/>
                </a:tc>
                <a:tc>
                  <a:txBody>
                    <a:bodyPr/>
                    <a:lstStyle/>
                    <a:p>
                      <a:pPr indent="0" lvl="0" marL="0" rtl="0" algn="l">
                        <a:spcBef>
                          <a:spcPts val="0"/>
                        </a:spcBef>
                        <a:spcAft>
                          <a:spcPts val="0"/>
                        </a:spcAft>
                        <a:buNone/>
                      </a:pPr>
                      <a:r>
                        <a:rPr lang="zh-TW"/>
                        <a:t>97.3%</a:t>
                      </a:r>
                      <a:endParaRPr/>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6"/>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Evaluation: Adversarial-Training Baseline</a:t>
            </a:r>
            <a:endParaRPr/>
          </a:p>
        </p:txBody>
      </p:sp>
      <p:sp>
        <p:nvSpPr>
          <p:cNvPr id="516" name="Google Shape;516;p46"/>
          <p:cNvSpPr txBox="1"/>
          <p:nvPr>
            <p:ph idx="1" type="body"/>
          </p:nvPr>
        </p:nvSpPr>
        <p:spPr>
          <a:xfrm>
            <a:off x="886500" y="1379125"/>
            <a:ext cx="7886700" cy="3263400"/>
          </a:xfrm>
          <a:prstGeom prst="rect">
            <a:avLst/>
          </a:prstGeom>
        </p:spPr>
        <p:txBody>
          <a:bodyPr anchorCtr="0" anchor="t" bIns="34275" lIns="68575" spcFirstLastPara="1" rIns="68575" wrap="square" tIns="34275">
            <a:normAutofit/>
          </a:bodyPr>
          <a:lstStyle/>
          <a:p>
            <a:pPr indent="-317500" lvl="0" marL="457200" rtl="0" algn="l">
              <a:spcBef>
                <a:spcPts val="800"/>
              </a:spcBef>
              <a:spcAft>
                <a:spcPts val="0"/>
              </a:spcAft>
              <a:buSzPts val="1400"/>
              <a:buChar char="-"/>
            </a:pPr>
            <a:r>
              <a:rPr lang="zh-TW"/>
              <a:t>Trained on FGSM + PGD + EAD; tested on unseen CW</a:t>
            </a:r>
            <a:endParaRPr/>
          </a:p>
          <a:p>
            <a:pPr indent="-317500" lvl="0" marL="457200" rtl="0" algn="l">
              <a:spcBef>
                <a:spcPts val="0"/>
              </a:spcBef>
              <a:spcAft>
                <a:spcPts val="0"/>
              </a:spcAft>
              <a:buSzPts val="1400"/>
              <a:buChar char="-"/>
            </a:pPr>
            <a:r>
              <a:rPr lang="zh-TW"/>
              <a:t>CW accuracy, SNR ≥ 0 dB</a:t>
            </a:r>
            <a:endParaRPr/>
          </a:p>
          <a:p>
            <a:pPr indent="0" lvl="0" marL="0" rtl="0" algn="l">
              <a:spcBef>
                <a:spcPts val="800"/>
              </a:spcBef>
              <a:spcAft>
                <a:spcPts val="0"/>
              </a:spcAft>
              <a:buNone/>
            </a:pPr>
            <a:r>
              <a:t/>
            </a:r>
            <a:endParaRPr/>
          </a:p>
        </p:txBody>
      </p:sp>
      <p:sp>
        <p:nvSpPr>
          <p:cNvPr id="517" name="Google Shape;517;p46"/>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518" name="Google Shape;518;p46"/>
          <p:cNvGraphicFramePr/>
          <p:nvPr/>
        </p:nvGraphicFramePr>
        <p:xfrm>
          <a:off x="764550" y="2342350"/>
          <a:ext cx="3000000" cy="3000000"/>
        </p:xfrm>
        <a:graphic>
          <a:graphicData uri="http://schemas.openxmlformats.org/drawingml/2006/table">
            <a:tbl>
              <a:tblPr>
                <a:noFill/>
                <a:tableStyleId>{CF61EEF9-22CB-4A57-9C2E-771D6B58F8FB}</a:tableStyleId>
              </a:tblPr>
              <a:tblGrid>
                <a:gridCol w="3619500"/>
                <a:gridCol w="3619500"/>
              </a:tblGrid>
              <a:tr h="381000">
                <a:tc>
                  <a:txBody>
                    <a:bodyPr/>
                    <a:lstStyle/>
                    <a:p>
                      <a:pPr indent="0" lvl="0" marL="0" rtl="0" algn="l">
                        <a:spcBef>
                          <a:spcPts val="0"/>
                        </a:spcBef>
                        <a:spcAft>
                          <a:spcPts val="0"/>
                        </a:spcAft>
                        <a:buNone/>
                      </a:pPr>
                      <a:r>
                        <a:rPr lang="zh-TW"/>
                        <a:t>Config</a:t>
                      </a:r>
                      <a:endParaRPr/>
                    </a:p>
                  </a:txBody>
                  <a:tcPr marT="91425" marB="91425" marR="91425" marL="91425"/>
                </a:tc>
                <a:tc>
                  <a:txBody>
                    <a:bodyPr/>
                    <a:lstStyle/>
                    <a:p>
                      <a:pPr indent="0" lvl="0" marL="0" rtl="0" algn="l">
                        <a:spcBef>
                          <a:spcPts val="0"/>
                        </a:spcBef>
                        <a:spcAft>
                          <a:spcPts val="0"/>
                        </a:spcAft>
                        <a:buNone/>
                      </a:pPr>
                      <a:r>
                        <a:rPr lang="zh-TW"/>
                        <a:t>CW acc. (%)</a:t>
                      </a:r>
                      <a:endParaRPr/>
                    </a:p>
                  </a:txBody>
                  <a:tcPr marT="91425" marB="91425" marR="91425" marL="91425"/>
                </a:tc>
              </a:tr>
              <a:tr h="381000">
                <a:tc>
                  <a:txBody>
                    <a:bodyPr/>
                    <a:lstStyle/>
                    <a:p>
                      <a:pPr indent="0" lvl="0" marL="0" rtl="0" algn="l">
                        <a:spcBef>
                          <a:spcPts val="0"/>
                        </a:spcBef>
                        <a:spcAft>
                          <a:spcPts val="0"/>
                        </a:spcAft>
                        <a:buNone/>
                      </a:pPr>
                      <a:r>
                        <a:rPr lang="zh-TW"/>
                        <a:t>Base model</a:t>
                      </a:r>
                      <a:endParaRPr/>
                    </a:p>
                  </a:txBody>
                  <a:tcPr marT="91425" marB="91425" marR="91425" marL="91425"/>
                </a:tc>
                <a:tc>
                  <a:txBody>
                    <a:bodyPr/>
                    <a:lstStyle/>
                    <a:p>
                      <a:pPr indent="0" lvl="0" marL="0" rtl="0" algn="l">
                        <a:spcBef>
                          <a:spcPts val="0"/>
                        </a:spcBef>
                        <a:spcAft>
                          <a:spcPts val="0"/>
                        </a:spcAft>
                        <a:buNone/>
                      </a:pPr>
                      <a:r>
                        <a:rPr lang="zh-TW"/>
                        <a:t>35.4</a:t>
                      </a:r>
                      <a:endParaRPr/>
                    </a:p>
                  </a:txBody>
                  <a:tcPr marT="91425" marB="91425" marR="91425" marL="91425"/>
                </a:tc>
              </a:tr>
              <a:tr h="381000">
                <a:tc>
                  <a:txBody>
                    <a:bodyPr/>
                    <a:lstStyle/>
                    <a:p>
                      <a:pPr indent="0" lvl="0" marL="0" rtl="0" algn="l">
                        <a:spcBef>
                          <a:spcPts val="0"/>
                        </a:spcBef>
                        <a:spcAft>
                          <a:spcPts val="0"/>
                        </a:spcAft>
                        <a:buNone/>
                      </a:pPr>
                      <a:r>
                        <a:rPr lang="zh-TW"/>
                        <a:t>Adv-trained</a:t>
                      </a:r>
                      <a:endParaRPr/>
                    </a:p>
                  </a:txBody>
                  <a:tcPr marT="91425" marB="91425" marR="91425" marL="91425"/>
                </a:tc>
                <a:tc>
                  <a:txBody>
                    <a:bodyPr/>
                    <a:lstStyle/>
                    <a:p>
                      <a:pPr indent="0" lvl="0" marL="0" rtl="0" algn="l">
                        <a:spcBef>
                          <a:spcPts val="0"/>
                        </a:spcBef>
                        <a:spcAft>
                          <a:spcPts val="0"/>
                        </a:spcAft>
                        <a:buNone/>
                      </a:pPr>
                      <a:r>
                        <a:rPr lang="zh-TW"/>
                        <a:t>53.7</a:t>
                      </a:r>
                      <a:endParaRPr/>
                    </a:p>
                  </a:txBody>
                  <a:tcPr marT="91425" marB="91425" marR="91425" marL="91425"/>
                </a:tc>
              </a:tr>
            </a:tbl>
          </a:graphicData>
        </a:graphic>
      </p:graphicFrame>
      <p:sp>
        <p:nvSpPr>
          <p:cNvPr id="519" name="Google Shape;519;p46"/>
          <p:cNvSpPr txBox="1"/>
          <p:nvPr/>
        </p:nvSpPr>
        <p:spPr>
          <a:xfrm>
            <a:off x="1961400" y="4001875"/>
            <a:ext cx="5736900" cy="6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latin typeface="Calibri"/>
                <a:ea typeface="Calibri"/>
                <a:cs typeface="Calibri"/>
                <a:sym typeface="Calibri"/>
              </a:rPr>
              <a:t>+18.3 pp on unseen CW, still below Adaptive-FFT-K (71.3%) without any retraining</a:t>
            </a:r>
            <a:endParaRPr sz="21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7"/>
          <p:cNvSpPr txBox="1"/>
          <p:nvPr>
            <p:ph type="title"/>
          </p:nvPr>
        </p:nvSpPr>
        <p:spPr>
          <a:xfrm>
            <a:off x="584150" y="5722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Evaluation: HLS Latency</a:t>
            </a:r>
            <a:endParaRPr/>
          </a:p>
        </p:txBody>
      </p:sp>
      <p:sp>
        <p:nvSpPr>
          <p:cNvPr id="525" name="Google Shape;525;p47"/>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317500" lvl="0" marL="457200" rtl="0" algn="l">
              <a:spcBef>
                <a:spcPts val="800"/>
              </a:spcBef>
              <a:spcAft>
                <a:spcPts val="0"/>
              </a:spcAft>
              <a:buSzPts val="1400"/>
              <a:buChar char="-"/>
            </a:pPr>
            <a:r>
              <a:rPr lang="zh-TW"/>
              <a:t>Vitis HLS 2023.2, target XCZU7EV: C-synthesis + RTL co-simulation estimate</a:t>
            </a:r>
            <a:endParaRPr/>
          </a:p>
          <a:p>
            <a:pPr indent="-317500" lvl="0" marL="457200" rtl="0" algn="l">
              <a:spcBef>
                <a:spcPts val="0"/>
              </a:spcBef>
              <a:spcAft>
                <a:spcPts val="0"/>
              </a:spcAft>
              <a:buSzPts val="1400"/>
              <a:buChar char="-"/>
            </a:pPr>
            <a:r>
              <a:t/>
            </a:r>
            <a:endParaRPr/>
          </a:p>
        </p:txBody>
      </p:sp>
      <p:sp>
        <p:nvSpPr>
          <p:cNvPr id="526" name="Google Shape;526;p4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TW"/>
              <a:t>‹#›</a:t>
            </a:fld>
            <a:endParaRPr/>
          </a:p>
        </p:txBody>
      </p:sp>
      <p:pic>
        <p:nvPicPr>
          <p:cNvPr id="527" name="Google Shape;527;p47"/>
          <p:cNvPicPr preferRelativeResize="0"/>
          <p:nvPr/>
        </p:nvPicPr>
        <p:blipFill>
          <a:blip r:embed="rId3">
            <a:alphaModFix/>
          </a:blip>
          <a:stretch>
            <a:fillRect/>
          </a:stretch>
        </p:blipFill>
        <p:spPr>
          <a:xfrm>
            <a:off x="496325" y="2143397"/>
            <a:ext cx="4213050" cy="2275950"/>
          </a:xfrm>
          <a:prstGeom prst="rect">
            <a:avLst/>
          </a:prstGeom>
          <a:noFill/>
          <a:ln>
            <a:noFill/>
          </a:ln>
        </p:spPr>
      </p:pic>
      <p:sp>
        <p:nvSpPr>
          <p:cNvPr id="528" name="Google Shape;528;p47"/>
          <p:cNvSpPr txBox="1"/>
          <p:nvPr/>
        </p:nvSpPr>
        <p:spPr>
          <a:xfrm>
            <a:off x="5384125" y="2143400"/>
            <a:ext cx="3359700" cy="11880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1"/>
              </a:buClr>
              <a:buSzPts val="2100"/>
              <a:buFont typeface="Calibri"/>
              <a:buChar char="-"/>
            </a:pPr>
            <a:r>
              <a:rPr lang="zh-TW" sz="2100">
                <a:solidFill>
                  <a:schemeClr val="dk1"/>
                </a:solidFill>
                <a:latin typeface="Calibri"/>
                <a:ea typeface="Calibri"/>
                <a:cs typeface="Calibri"/>
                <a:sym typeface="Calibri"/>
              </a:rPr>
              <a:t>260 µs latency @ 200 MHz</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zh-TW" sz="2100">
                <a:solidFill>
                  <a:schemeClr val="dk1"/>
                </a:solidFill>
                <a:latin typeface="Calibri"/>
                <a:ea typeface="Calibri"/>
                <a:cs typeface="Calibri"/>
                <a:sym typeface="Calibri"/>
              </a:rPr>
              <a:t>conv1 = 63% of latency (bottleneck)</a:t>
            </a:r>
            <a:endParaRPr sz="21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8"/>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Evaluation: Accuracy Comparison</a:t>
            </a:r>
            <a:endParaRPr/>
          </a:p>
        </p:txBody>
      </p:sp>
      <p:sp>
        <p:nvSpPr>
          <p:cNvPr id="534" name="Google Shape;534;p48"/>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
        <p:nvSpPr>
          <p:cNvPr id="535" name="Google Shape;535;p48"/>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TW"/>
              <a:t>‹#›</a:t>
            </a:fld>
            <a:endParaRPr/>
          </a:p>
        </p:txBody>
      </p:sp>
      <p:pic>
        <p:nvPicPr>
          <p:cNvPr id="536" name="Google Shape;536;p48"/>
          <p:cNvPicPr preferRelativeResize="0"/>
          <p:nvPr/>
        </p:nvPicPr>
        <p:blipFill>
          <a:blip r:embed="rId3">
            <a:alphaModFix/>
          </a:blip>
          <a:stretch>
            <a:fillRect/>
          </a:stretch>
        </p:blipFill>
        <p:spPr>
          <a:xfrm>
            <a:off x="321650" y="1719800"/>
            <a:ext cx="5124450" cy="2562225"/>
          </a:xfrm>
          <a:prstGeom prst="rect">
            <a:avLst/>
          </a:prstGeom>
          <a:noFill/>
          <a:ln>
            <a:noFill/>
          </a:ln>
        </p:spPr>
      </p:pic>
      <p:pic>
        <p:nvPicPr>
          <p:cNvPr id="537" name="Google Shape;537;p48"/>
          <p:cNvPicPr preferRelativeResize="0"/>
          <p:nvPr/>
        </p:nvPicPr>
        <p:blipFill>
          <a:blip r:embed="rId4">
            <a:alphaModFix/>
          </a:blip>
          <a:stretch>
            <a:fillRect/>
          </a:stretch>
        </p:blipFill>
        <p:spPr>
          <a:xfrm>
            <a:off x="5605072" y="1777872"/>
            <a:ext cx="2810275" cy="1297625"/>
          </a:xfrm>
          <a:prstGeom prst="rect">
            <a:avLst/>
          </a:prstGeom>
          <a:noFill/>
          <a:ln>
            <a:noFill/>
          </a:ln>
        </p:spPr>
      </p:pic>
      <p:sp>
        <p:nvSpPr>
          <p:cNvPr id="538" name="Google Shape;538;p48"/>
          <p:cNvSpPr txBox="1"/>
          <p:nvPr/>
        </p:nvSpPr>
        <p:spPr>
          <a:xfrm>
            <a:off x="5544600" y="3418900"/>
            <a:ext cx="3072900" cy="994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Randomized smoothing (σ = 0.01 Gaussian) destroys fine I/Q structure</a:t>
            </a:r>
            <a:endParaRPr>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9"/>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Conclusion</a:t>
            </a:r>
            <a:endParaRPr/>
          </a:p>
        </p:txBody>
      </p:sp>
      <p:sp>
        <p:nvSpPr>
          <p:cNvPr id="544" name="Google Shape;544;p49"/>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545" name="Google Shape;545;p49"/>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
        <p:nvSpPr>
          <p:cNvPr id="546" name="Google Shape;546;p49"/>
          <p:cNvSpPr txBox="1"/>
          <p:nvPr/>
        </p:nvSpPr>
        <p:spPr>
          <a:xfrm>
            <a:off x="410400" y="1575625"/>
            <a:ext cx="83232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zh-TW"/>
              <a:t>Adaptive-FFT-K is a training-free recover→classify front end: one FFT, spectral-flatness routing, SNR-bounded Top-K, IFFT.</a:t>
            </a:r>
            <a:endParaRPr/>
          </a:p>
          <a:p>
            <a:pPr indent="-317500" lvl="0" marL="457200" rtl="0" algn="l">
              <a:spcBef>
                <a:spcPts val="0"/>
              </a:spcBef>
              <a:spcAft>
                <a:spcPts val="0"/>
              </a:spcAft>
              <a:buSzPts val="1400"/>
              <a:buChar char="-"/>
            </a:pPr>
            <a:r>
              <a:rPr lang="zh-TW"/>
              <a:t>On RML2016.10a it restores CW 35.4→71.3% and EAD-L1 6.6→70.8%, leading the best classical filter (Kalman) by 6–8 pp while holding clean accuracy at 92.6%.</a:t>
            </a:r>
            <a:endParaRPr/>
          </a:p>
          <a:p>
            <a:pPr indent="-317500" lvl="0" marL="457200" rtl="0" algn="l">
              <a:spcBef>
                <a:spcPts val="0"/>
              </a:spcBef>
              <a:spcAft>
                <a:spcPts val="0"/>
              </a:spcAft>
              <a:buSzPts val="1400"/>
              <a:buChar char="-"/>
            </a:pPr>
            <a:r>
              <a:rPr lang="zh-TW"/>
              <a:t>The SNR bound beats knee-only K at every SNR, by up to +10.8 pp at 0 dB.</a:t>
            </a:r>
            <a:endParaRPr/>
          </a:p>
          <a:p>
            <a:pPr indent="-317500" lvl="0" marL="457200" rtl="0" algn="l">
              <a:spcBef>
                <a:spcPts val="0"/>
              </a:spcBef>
              <a:spcAft>
                <a:spcPts val="0"/>
              </a:spcAft>
              <a:buSzPts val="1400"/>
              <a:buChar char="-"/>
            </a:pPr>
            <a:r>
              <a:rPr lang="zh-TW"/>
              <a:t>O(T log T) defense cost; the int8 AWN accelerator runs at 260 µs/frame at 200 MHz on Zynq UltraScale+.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0"/>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552" name="Google Shape;552;p50"/>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
        <p:nvSpPr>
          <p:cNvPr id="553" name="Google Shape;553;p50"/>
          <p:cNvSpPr txBox="1"/>
          <p:nvPr>
            <p:ph type="title"/>
          </p:nvPr>
        </p:nvSpPr>
        <p:spPr>
          <a:xfrm>
            <a:off x="628638" y="1692928"/>
            <a:ext cx="7886700" cy="21396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zh-TW" sz="3500"/>
              <a:t>Thanks for Listening — Q&amp;A</a:t>
            </a:r>
            <a:endParaRPr sz="350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28650" y="579653"/>
            <a:ext cx="7886700" cy="994200"/>
          </a:xfrm>
        </p:spPr>
        <p:txBody>
          <a:bodyPr/>
          <a:lstStyle/>
          <a:p>
            <a:r>
              <a:t>Related Work: Positioning</a:t>
            </a:r>
          </a:p>
        </p:txBody>
      </p:sp>
      <p:sp>
        <p:nvSpPr>
          <p:cNvPr id="393" name="Google Shape;393;p3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graphicFrame>
        <p:nvGraphicFramePr>
          <p:cNvPr id="394" name="Table 393"/>
          <p:cNvGraphicFramePr>
            <a:graphicFrameLocks noGrp="1"/>
          </p:cNvGraphicFramePr>
          <p:nvPr/>
        </p:nvGraphicFramePr>
        <p:xfrm>
          <a:off x="630936" y="1508760"/>
          <a:ext cx="7882128" cy="1371600"/>
        </p:xfrm>
        <a:graphic>
          <a:graphicData uri="http://schemas.openxmlformats.org/drawingml/2006/table">
            <a:tbl>
              <a:tblPr firstRow="1" bandRow="1">
                <a:tableStyleId>{5C22544A-7EE6-4342-B048-85BDC9FD1C3A}</a:tableStyleId>
              </a:tblPr>
              <a:tblGrid>
                <a:gridCol w="2395728"/>
                <a:gridCol w="1188720"/>
                <a:gridCol w="1828800"/>
                <a:gridCol w="1097280"/>
                <a:gridCol w="1371600"/>
              </a:tblGrid>
              <a:tr h="274320">
                <a:tc>
                  <a:txBody>
                    <a:bodyPr/>
                    <a:lstStyle/>
                    <a:p>
                      <a:pPr algn="l"/>
                      <a:r>
                        <a:rPr sz="1300">
                          <a:latin typeface="Calibri"/>
                        </a:rPr>
                        <a:t>Method</a:t>
                      </a:r>
                    </a:p>
                  </a:txBody>
                  <a:tcPr/>
                </a:tc>
                <a:tc>
                  <a:txBody>
                    <a:bodyPr/>
                    <a:lstStyle/>
                    <a:p>
                      <a:pPr algn="ctr"/>
                      <a:r>
                        <a:rPr sz="1300">
                          <a:latin typeface="Calibri"/>
                        </a:rPr>
                        <a:t>Retraining</a:t>
                      </a:r>
                    </a:p>
                  </a:txBody>
                  <a:tcPr/>
                </a:tc>
                <a:tc>
                  <a:txBody>
                    <a:bodyPr/>
                    <a:lstStyle/>
                    <a:p>
                      <a:pPr algn="ctr"/>
                      <a:r>
                        <a:rPr sz="1300">
                          <a:latin typeface="Calibri"/>
                        </a:rPr>
                        <a:t>Inference cost</a:t>
                      </a:r>
                    </a:p>
                  </a:txBody>
                  <a:tcPr/>
                </a:tc>
                <a:tc>
                  <a:txBody>
                    <a:bodyPr/>
                    <a:lstStyle/>
                    <a:p>
                      <a:pPr algn="ctr"/>
                      <a:r>
                        <a:rPr sz="1300">
                          <a:latin typeface="Calibri"/>
                        </a:rPr>
                        <a:t>Certified</a:t>
                      </a:r>
                    </a:p>
                  </a:txBody>
                  <a:tcPr/>
                </a:tc>
                <a:tc>
                  <a:txBody>
                    <a:bodyPr/>
                    <a:lstStyle/>
                    <a:p>
                      <a:pPr algn="ctr"/>
                      <a:r>
                        <a:rPr sz="1300">
                          <a:latin typeface="Calibri"/>
                        </a:rPr>
                        <a:t>SNR-adaptive</a:t>
                      </a:r>
                    </a:p>
                  </a:txBody>
                  <a:tcPr/>
                </a:tc>
              </a:tr>
              <a:tr h="274320">
                <a:tc>
                  <a:txBody>
                    <a:bodyPr/>
                    <a:lstStyle/>
                    <a:p>
                      <a:pPr algn="l"/>
                      <a:r>
                        <a:rPr sz="1300">
                          <a:latin typeface="Calibri"/>
                        </a:rPr>
                        <a:t>SafeAMC (adv. training)</a:t>
                      </a:r>
                    </a:p>
                  </a:txBody>
                  <a:tcPr/>
                </a:tc>
                <a:tc>
                  <a:txBody>
                    <a:bodyPr/>
                    <a:lstStyle/>
                    <a:p>
                      <a:pPr algn="ctr"/>
                      <a:r>
                        <a:rPr sz="1300">
                          <a:latin typeface="Calibri"/>
                        </a:rPr>
                        <a:t>Yes</a:t>
                      </a:r>
                    </a:p>
                  </a:txBody>
                  <a:tcPr/>
                </a:tc>
                <a:tc>
                  <a:txBody>
                    <a:bodyPr/>
                    <a:lstStyle/>
                    <a:p>
                      <a:pPr algn="ctr"/>
                      <a:r>
                        <a:rPr sz="1300">
                          <a:latin typeface="Calibri"/>
                        </a:rPr>
                        <a:t>1×</a:t>
                      </a:r>
                    </a:p>
                  </a:txBody>
                  <a:tcPr/>
                </a:tc>
                <a:tc>
                  <a:txBody>
                    <a:bodyPr/>
                    <a:lstStyle/>
                    <a:p>
                      <a:pPr algn="ctr"/>
                      <a:r>
                        <a:rPr sz="1300">
                          <a:latin typeface="Calibri"/>
                        </a:rPr>
                        <a:t>No</a:t>
                      </a:r>
                    </a:p>
                  </a:txBody>
                  <a:tcPr/>
                </a:tc>
                <a:tc>
                  <a:txBody>
                    <a:bodyPr/>
                    <a:lstStyle/>
                    <a:p>
                      <a:pPr algn="ctr"/>
                      <a:r>
                        <a:rPr sz="1300">
                          <a:latin typeface="Calibri"/>
                        </a:rPr>
                        <a:t>No</a:t>
                      </a:r>
                    </a:p>
                  </a:txBody>
                  <a:tcPr/>
                </a:tc>
              </a:tr>
              <a:tr h="274320">
                <a:tc>
                  <a:txBody>
                    <a:bodyPr/>
                    <a:lstStyle/>
                    <a:p>
                      <a:pPr algn="l"/>
                      <a:r>
                        <a:rPr sz="1300">
                          <a:latin typeface="Calibri"/>
                        </a:rPr>
                        <a:t>MDPD (input mapping)</a:t>
                      </a:r>
                    </a:p>
                  </a:txBody>
                  <a:tcPr/>
                </a:tc>
                <a:tc>
                  <a:txBody>
                    <a:bodyPr/>
                    <a:lstStyle/>
                    <a:p>
                      <a:pPr algn="ctr"/>
                      <a:r>
                        <a:rPr sz="1300">
                          <a:latin typeface="Calibri"/>
                        </a:rPr>
                        <a:t>No</a:t>
                      </a:r>
                    </a:p>
                  </a:txBody>
                  <a:tcPr/>
                </a:tc>
                <a:tc>
                  <a:txBody>
                    <a:bodyPr/>
                    <a:lstStyle/>
                    <a:p>
                      <a:pPr algn="ctr"/>
                      <a:r>
                        <a:rPr sz="1300">
                          <a:latin typeface="Calibri"/>
                        </a:rPr>
                        <a:t>1× + mapping</a:t>
                      </a:r>
                    </a:p>
                  </a:txBody>
                  <a:tcPr/>
                </a:tc>
                <a:tc>
                  <a:txBody>
                    <a:bodyPr/>
                    <a:lstStyle/>
                    <a:p>
                      <a:pPr algn="ctr"/>
                      <a:r>
                        <a:rPr sz="1300">
                          <a:latin typeface="Calibri"/>
                        </a:rPr>
                        <a:t>No</a:t>
                      </a:r>
                    </a:p>
                  </a:txBody>
                  <a:tcPr/>
                </a:tc>
                <a:tc>
                  <a:txBody>
                    <a:bodyPr/>
                    <a:lstStyle/>
                    <a:p>
                      <a:pPr algn="ctr"/>
                      <a:r>
                        <a:rPr sz="1300">
                          <a:latin typeface="Calibri"/>
                        </a:rPr>
                        <a:t>No</a:t>
                      </a:r>
                    </a:p>
                  </a:txBody>
                  <a:tcPr/>
                </a:tc>
              </a:tr>
              <a:tr h="274320">
                <a:tc>
                  <a:txBody>
                    <a:bodyPr/>
                    <a:lstStyle/>
                    <a:p>
                      <a:pPr algn="l"/>
                      <a:r>
                        <a:rPr sz="1300">
                          <a:latin typeface="Calibri"/>
                        </a:rPr>
                        <a:t>FRS (filter + smoothing)</a:t>
                      </a:r>
                    </a:p>
                  </a:txBody>
                  <a:tcPr/>
                </a:tc>
                <a:tc>
                  <a:txBody>
                    <a:bodyPr/>
                    <a:lstStyle/>
                    <a:p>
                      <a:pPr algn="ctr"/>
                      <a:r>
                        <a:rPr sz="1300">
                          <a:latin typeface="Calibri"/>
                        </a:rPr>
                        <a:t>No</a:t>
                      </a:r>
                    </a:p>
                  </a:txBody>
                  <a:tcPr/>
                </a:tc>
                <a:tc>
                  <a:txBody>
                    <a:bodyPr/>
                    <a:lstStyle/>
                    <a:p>
                      <a:pPr algn="ctr"/>
                      <a:r>
                        <a:rPr sz="1300">
                          <a:latin typeface="Calibri"/>
                        </a:rPr>
                        <a:t>N× noisy samples</a:t>
                      </a:r>
                    </a:p>
                  </a:txBody>
                  <a:tcPr/>
                </a:tc>
                <a:tc>
                  <a:txBody>
                    <a:bodyPr/>
                    <a:lstStyle/>
                    <a:p>
                      <a:pPr algn="ctr"/>
                      <a:r>
                        <a:rPr sz="1300">
                          <a:latin typeface="Calibri"/>
                        </a:rPr>
                        <a:t>Yes</a:t>
                      </a:r>
                    </a:p>
                  </a:txBody>
                  <a:tcPr/>
                </a:tc>
                <a:tc>
                  <a:txBody>
                    <a:bodyPr/>
                    <a:lstStyle/>
                    <a:p>
                      <a:pPr algn="ctr"/>
                      <a:r>
                        <a:rPr sz="1300">
                          <a:latin typeface="Calibri"/>
                        </a:rPr>
                        <a:t>No</a:t>
                      </a:r>
                    </a:p>
                  </a:txBody>
                  <a:tcPr/>
                </a:tc>
              </a:tr>
              <a:tr h="274320">
                <a:tc>
                  <a:txBody>
                    <a:bodyPr/>
                    <a:lstStyle/>
                    <a:p>
                      <a:pPr algn="l"/>
                      <a:r>
                        <a:rPr sz="1300">
                          <a:latin typeface="Calibri"/>
                        </a:rPr>
                        <a:t>Adaptive-FFT-K (ours)</a:t>
                      </a:r>
                    </a:p>
                  </a:txBody>
                  <a:tcPr/>
                </a:tc>
                <a:tc>
                  <a:txBody>
                    <a:bodyPr/>
                    <a:lstStyle/>
                    <a:p>
                      <a:pPr algn="ctr"/>
                      <a:r>
                        <a:rPr sz="1300">
                          <a:latin typeface="Calibri"/>
                        </a:rPr>
                        <a:t>No</a:t>
                      </a:r>
                    </a:p>
                  </a:txBody>
                  <a:tcPr/>
                </a:tc>
                <a:tc>
                  <a:txBody>
                    <a:bodyPr/>
                    <a:lstStyle/>
                    <a:p>
                      <a:pPr algn="ctr"/>
                      <a:r>
                        <a:rPr sz="1300">
                          <a:latin typeface="Calibri"/>
                        </a:rPr>
                        <a:t>1 FFT + 1 IFFT</a:t>
                      </a:r>
                    </a:p>
                  </a:txBody>
                  <a:tcPr/>
                </a:tc>
                <a:tc>
                  <a:txBody>
                    <a:bodyPr/>
                    <a:lstStyle/>
                    <a:p>
                      <a:pPr algn="ctr"/>
                      <a:r>
                        <a:rPr sz="1300">
                          <a:latin typeface="Calibri"/>
                        </a:rPr>
                        <a:t>No</a:t>
                      </a:r>
                    </a:p>
                  </a:txBody>
                  <a:tcPr/>
                </a:tc>
                <a:tc>
                  <a:txBody>
                    <a:bodyPr/>
                    <a:lstStyle/>
                    <a:p>
                      <a:pPr algn="ctr"/>
                      <a:r>
                        <a:rPr sz="1300">
                          <a:latin typeface="Calibri"/>
                        </a:rPr>
                        <a:t>Yes</a:t>
                      </a:r>
                    </a:p>
                  </a:txBody>
                  <a:tcPr/>
                </a:tc>
              </a:tr>
            </a:tbl>
          </a:graphicData>
        </a:graphic>
      </p:graphicFrame>
      <p:sp>
        <p:nvSpPr>
          <p:cNvPr id="395" name="TextBox 394"/>
          <p:cNvSpPr txBox="1"/>
          <p:nvPr/>
        </p:nvSpPr>
        <p:spPr>
          <a:xfrm>
            <a:off x="630936" y="3154680"/>
            <a:ext cx="7882127" cy="1280160"/>
          </a:xfrm>
          <a:prstGeom prst="rect">
            <a:avLst/>
          </a:prstGeom>
          <a:noFill/>
        </p:spPr>
        <p:txBody>
          <a:bodyPr wrap="square">
            <a:spAutoFit/>
          </a:bodyPr>
          <a:lstStyle/>
          <a:p>
            <a:pPr>
              <a:spcAft>
                <a:spcPts val="600"/>
              </a:spcAft>
            </a:pPr>
            <a:r>
              <a:rPr sz="1400" b="0">
                <a:solidFill>
                  <a:srgbClr val="595959"/>
                </a:solidFill>
                <a:latin typeface="Calibri"/>
              </a:rPr>
              <a:t>• Gap: a training-free, single-pass defense whose filtering strength adapts to SNR and to the signal’s own spectrum.</a:t>
            </a:r>
          </a:p>
          <a:p>
            <a:pPr>
              <a:spcAft>
                <a:spcPts val="600"/>
              </a:spcAft>
            </a:pPr>
            <a:r>
              <a:rPr sz="1400" b="0">
                <a:solidFill>
                  <a:srgbClr val="595959"/>
                </a:solidFill>
                <a:latin typeface="Calibri"/>
              </a:rPr>
              <a:t>• Trade-off we accept: no certified guarantee (FRS) in exchange for 1-pass cost.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28650" y="579653"/>
            <a:ext cx="7886700" cy="994200"/>
          </a:xfrm>
        </p:spPr>
        <p:txBody>
          <a:bodyPr/>
          <a:lstStyle/>
          <a:p>
            <a:r>
              <a:t>Evaluation: Setup</a:t>
            </a:r>
          </a:p>
        </p:txBody>
      </p:sp>
      <p:sp>
        <p:nvSpPr>
          <p:cNvPr id="393" name="Google Shape;393;p3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394" name="TextBox 393"/>
          <p:cNvSpPr txBox="1"/>
          <p:nvPr/>
        </p:nvSpPr>
        <p:spPr>
          <a:xfrm>
            <a:off x="630936" y="1325880"/>
            <a:ext cx="3840480" cy="3291840"/>
          </a:xfrm>
          <a:prstGeom prst="rect">
            <a:avLst/>
          </a:prstGeom>
          <a:noFill/>
        </p:spPr>
        <p:txBody>
          <a:bodyPr wrap="square">
            <a:spAutoFit/>
          </a:bodyPr>
          <a:lstStyle/>
          <a:p>
            <a:pPr>
              <a:spcAft>
                <a:spcPts val="600"/>
              </a:spcAft>
            </a:pPr>
            <a:r>
              <a:rPr sz="1500" b="1">
                <a:solidFill>
                  <a:srgbClr val="212121"/>
                </a:solidFill>
                <a:latin typeface="Calibri"/>
              </a:rPr>
              <a:t>Data and model</a:t>
            </a:r>
          </a:p>
          <a:p>
            <a:pPr>
              <a:spcAft>
                <a:spcPts val="600"/>
              </a:spcAft>
            </a:pPr>
            <a:r>
              <a:rPr sz="1500" b="0">
                <a:solidFill>
                  <a:srgbClr val="212121"/>
                </a:solidFill>
                <a:latin typeface="Calibri"/>
              </a:rPr>
              <a:t>RML2016.10a: 11 modulations, 128 I/Q samples per frame</a:t>
            </a:r>
          </a:p>
          <a:p>
            <a:pPr>
              <a:spcAft>
                <a:spcPts val="600"/>
              </a:spcAft>
            </a:pPr>
            <a:r>
              <a:rPr sz="1500" b="0">
                <a:solidFill>
                  <a:srgbClr val="212121"/>
                </a:solidFill>
                <a:latin typeface="Calibri"/>
              </a:rPr>
              <a:t>Classifier: AWN</a:t>
            </a:r>
          </a:p>
          <a:p>
            <a:pPr>
              <a:spcAft>
                <a:spcPts val="600"/>
              </a:spcAft>
            </a:pPr>
            <a:r>
              <a:rPr sz="1500" b="0">
                <a:solidFill>
                  <a:srgbClr val="212121"/>
                </a:solidFill>
                <a:latin typeface="Calibri"/>
              </a:rPr>
              <a:t>Reported accuracy: weighted average over SNR 0–18 dB unless stated</a:t>
            </a:r>
          </a:p>
          <a:p>
            <a:pPr>
              <a:spcAft>
                <a:spcPts val="600"/>
              </a:spcAft>
            </a:pPr>
            <a:r>
              <a:rPr sz="1500" b="1">
                <a:solidFill>
                  <a:srgbClr val="212121"/>
                </a:solidFill>
                <a:latin typeface="Calibri"/>
              </a:rPr>
              <a:t>Attacks (white-box on AMC)</a:t>
            </a:r>
          </a:p>
          <a:p>
            <a:pPr>
              <a:spcAft>
                <a:spcPts val="600"/>
              </a:spcAft>
            </a:pPr>
            <a:r>
              <a:rPr sz="1500" b="0">
                <a:solidFill>
                  <a:srgbClr val="212121"/>
                </a:solidFill>
                <a:latin typeface="Calibri"/>
              </a:rPr>
              <a:t>FGSM, PGD, CW (L2), EAD-L1, EAD-EN</a:t>
            </a:r>
          </a:p>
        </p:txBody>
      </p:sp>
      <p:sp>
        <p:nvSpPr>
          <p:cNvPr id="395" name="TextBox 394"/>
          <p:cNvSpPr txBox="1"/>
          <p:nvPr/>
        </p:nvSpPr>
        <p:spPr>
          <a:xfrm>
            <a:off x="4663440" y="1325880"/>
            <a:ext cx="3840480" cy="3291840"/>
          </a:xfrm>
          <a:prstGeom prst="rect">
            <a:avLst/>
          </a:prstGeom>
          <a:noFill/>
        </p:spPr>
        <p:txBody>
          <a:bodyPr wrap="square">
            <a:spAutoFit/>
          </a:bodyPr>
          <a:lstStyle/>
          <a:p>
            <a:pPr>
              <a:spcAft>
                <a:spcPts val="600"/>
              </a:spcAft>
            </a:pPr>
            <a:r>
              <a:rPr sz="1500" b="1">
                <a:solidFill>
                  <a:srgbClr val="212121"/>
                </a:solidFill>
                <a:latin typeface="Calibri"/>
              </a:rPr>
              <a:t>Defense hyper-parameters</a:t>
            </a:r>
          </a:p>
          <a:p>
            <a:pPr>
              <a:spcAft>
                <a:spcPts val="600"/>
              </a:spcAft>
            </a:pPr>
            <a:r>
              <a:rPr sz="1500" b="0">
                <a:solidFill>
                  <a:srgbClr val="212121"/>
                </a:solidFill>
                <a:latin typeface="Calibri"/>
              </a:rPr>
              <a:t>Knee threshold γ = 5% of the largest bin</a:t>
            </a:r>
          </a:p>
          <a:p>
            <a:pPr>
              <a:spcAft>
                <a:spcPts val="600"/>
              </a:spcAft>
            </a:pPr>
            <a:r>
              <a:rPr sz="1500" b="0">
                <a:solidFill>
                  <a:srgbClr val="212121"/>
                </a:solidFill>
                <a:latin typeface="Calibri"/>
              </a:rPr>
              <a:t>Routing: SF &gt; 0.4 → 32-level quantization</a:t>
            </a:r>
          </a:p>
          <a:p>
            <a:pPr>
              <a:spcAft>
                <a:spcPts val="600"/>
              </a:spcAft>
            </a:pPr>
            <a:r>
              <a:rPr sz="1500" b="0">
                <a:solidFill>
                  <a:srgbClr val="212121"/>
                </a:solidFill>
                <a:latin typeface="Calibri"/>
              </a:rPr>
              <a:t>SNR estimate = energy of top-10 bins / remaining bins</a:t>
            </a:r>
          </a:p>
          <a:p>
            <a:pPr>
              <a:spcAft>
                <a:spcPts val="600"/>
              </a:spcAft>
            </a:pPr>
            <a:r>
              <a:rPr sz="1500" b="0">
                <a:solidFill>
                  <a:srgbClr val="212121"/>
                </a:solidFill>
                <a:latin typeface="Calibri"/>
              </a:rPr>
              <a:t>K_max: 35 (est. SNR ≤ 3) → 20 (est. SNR ≥ 10), linear in between</a:t>
            </a:r>
          </a:p>
          <a:p>
            <a:pPr>
              <a:spcAft>
                <a:spcPts val="600"/>
              </a:spcAft>
            </a:pPr>
            <a:r>
              <a:rPr sz="1500" b="0">
                <a:solidFill>
                  <a:srgbClr val="212121"/>
                </a:solidFill>
                <a:latin typeface="Calibri"/>
              </a:rPr>
              <a:t>K = min(knee, K_max); keep Top-K bins, IFFT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28650" y="579653"/>
            <a:ext cx="7886700" cy="994200"/>
          </a:xfrm>
        </p:spPr>
        <p:txBody>
          <a:bodyPr/>
          <a:lstStyle/>
          <a:p>
            <a:r>
              <a:t>Evaluation: Ablation of K Selection</a:t>
            </a:r>
          </a:p>
        </p:txBody>
      </p:sp>
      <p:sp>
        <p:nvSpPr>
          <p:cNvPr id="393" name="Google Shape;393;p3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graphicFrame>
        <p:nvGraphicFramePr>
          <p:cNvPr id="394" name="Table 393"/>
          <p:cNvGraphicFramePr>
            <a:graphicFrameLocks noGrp="1"/>
          </p:cNvGraphicFramePr>
          <p:nvPr/>
        </p:nvGraphicFramePr>
        <p:xfrm>
          <a:off x="630936" y="1508760"/>
          <a:ext cx="7882128" cy="1645919"/>
        </p:xfrm>
        <a:graphic>
          <a:graphicData uri="http://schemas.openxmlformats.org/drawingml/2006/table">
            <a:tbl>
              <a:tblPr firstRow="1" bandRow="1">
                <a:tableStyleId>{5C22544A-7EE6-4342-B048-85BDC9FD1C3A}</a:tableStyleId>
              </a:tblPr>
              <a:tblGrid>
                <a:gridCol w="1371600"/>
                <a:gridCol w="1371600"/>
                <a:gridCol w="1737360"/>
                <a:gridCol w="2029968"/>
                <a:gridCol w="1371600"/>
              </a:tblGrid>
              <a:tr h="274319">
                <a:tc>
                  <a:txBody>
                    <a:bodyPr/>
                    <a:lstStyle/>
                    <a:p>
                      <a:pPr algn="l"/>
                      <a:r>
                        <a:rPr sz="1300">
                          <a:latin typeface="Calibri"/>
                        </a:rPr>
                        <a:t>Attack</a:t>
                      </a:r>
                    </a:p>
                  </a:txBody>
                  <a:tcPr/>
                </a:tc>
                <a:tc>
                  <a:txBody>
                    <a:bodyPr/>
                    <a:lstStyle/>
                    <a:p>
                      <a:pPr algn="ctr"/>
                      <a:r>
                        <a:rPr sz="1300">
                          <a:latin typeface="Calibri"/>
                        </a:rPr>
                        <a:t>No defense</a:t>
                      </a:r>
                    </a:p>
                  </a:txBody>
                  <a:tcPr/>
                </a:tc>
                <a:tc>
                  <a:txBody>
                    <a:bodyPr/>
                    <a:lstStyle/>
                    <a:p>
                      <a:pPr algn="ctr"/>
                      <a:r>
                        <a:rPr sz="1300">
                          <a:latin typeface="Calibri"/>
                        </a:rPr>
                        <a:t>Knee-only K (v1)</a:t>
                      </a:r>
                    </a:p>
                  </a:txBody>
                  <a:tcPr/>
                </a:tc>
                <a:tc>
                  <a:txBody>
                    <a:bodyPr/>
                    <a:lstStyle/>
                    <a:p>
                      <a:pPr algn="ctr"/>
                      <a:r>
                        <a:rPr sz="1300">
                          <a:latin typeface="Calibri"/>
                        </a:rPr>
                        <a:t>SNR-bounded K (ours)</a:t>
                      </a:r>
                    </a:p>
                  </a:txBody>
                  <a:tcPr/>
                </a:tc>
                <a:tc>
                  <a:txBody>
                    <a:bodyPr/>
                    <a:lstStyle/>
                    <a:p>
                      <a:pPr algn="ctr"/>
                      <a:r>
                        <a:rPr sz="1300">
                          <a:latin typeface="Calibri"/>
                        </a:rPr>
                        <a:t>Δ vs v1</a:t>
                      </a:r>
                    </a:p>
                  </a:txBody>
                  <a:tcPr/>
                </a:tc>
              </a:tr>
              <a:tr h="274319">
                <a:tc>
                  <a:txBody>
                    <a:bodyPr/>
                    <a:lstStyle/>
                    <a:p>
                      <a:pPr algn="l"/>
                      <a:r>
                        <a:rPr sz="1300">
                          <a:latin typeface="Calibri"/>
                        </a:rPr>
                        <a:t>CW</a:t>
                      </a:r>
                    </a:p>
                  </a:txBody>
                  <a:tcPr/>
                </a:tc>
                <a:tc>
                  <a:txBody>
                    <a:bodyPr/>
                    <a:lstStyle/>
                    <a:p>
                      <a:pPr algn="ctr"/>
                      <a:r>
                        <a:rPr sz="1300">
                          <a:latin typeface="Calibri"/>
                        </a:rPr>
                        <a:t>35.4</a:t>
                      </a:r>
                    </a:p>
                  </a:txBody>
                  <a:tcPr/>
                </a:tc>
                <a:tc>
                  <a:txBody>
                    <a:bodyPr/>
                    <a:lstStyle/>
                    <a:p>
                      <a:pPr algn="ctr"/>
                      <a:r>
                        <a:rPr sz="1300">
                          <a:latin typeface="Calibri"/>
                        </a:rPr>
                        <a:t>66.6</a:t>
                      </a:r>
                    </a:p>
                  </a:txBody>
                  <a:tcPr/>
                </a:tc>
                <a:tc>
                  <a:txBody>
                    <a:bodyPr/>
                    <a:lstStyle/>
                    <a:p>
                      <a:pPr algn="ctr"/>
                      <a:r>
                        <a:rPr sz="1300" b="1">
                          <a:latin typeface="Calibri"/>
                        </a:rPr>
                        <a:t>71.3</a:t>
                      </a:r>
                    </a:p>
                  </a:txBody>
                  <a:tcPr/>
                </a:tc>
                <a:tc>
                  <a:txBody>
                    <a:bodyPr/>
                    <a:lstStyle/>
                    <a:p>
                      <a:pPr algn="ctr"/>
                      <a:r>
                        <a:rPr sz="1300">
                          <a:latin typeface="Calibri"/>
                        </a:rPr>
                        <a:t>+4.7</a:t>
                      </a:r>
                    </a:p>
                  </a:txBody>
                  <a:tcPr/>
                </a:tc>
              </a:tr>
              <a:tr h="274319">
                <a:tc>
                  <a:txBody>
                    <a:bodyPr/>
                    <a:lstStyle/>
                    <a:p>
                      <a:pPr algn="l"/>
                      <a:r>
                        <a:rPr sz="1300">
                          <a:latin typeface="Calibri"/>
                        </a:rPr>
                        <a:t>EAD-L1</a:t>
                      </a:r>
                    </a:p>
                  </a:txBody>
                  <a:tcPr/>
                </a:tc>
                <a:tc>
                  <a:txBody>
                    <a:bodyPr/>
                    <a:lstStyle/>
                    <a:p>
                      <a:pPr algn="ctr"/>
                      <a:r>
                        <a:rPr sz="1300">
                          <a:latin typeface="Calibri"/>
                        </a:rPr>
                        <a:t>6.6</a:t>
                      </a:r>
                    </a:p>
                  </a:txBody>
                  <a:tcPr/>
                </a:tc>
                <a:tc>
                  <a:txBody>
                    <a:bodyPr/>
                    <a:lstStyle/>
                    <a:p>
                      <a:pPr algn="ctr"/>
                      <a:r>
                        <a:rPr sz="1300">
                          <a:latin typeface="Calibri"/>
                        </a:rPr>
                        <a:t>66.2</a:t>
                      </a:r>
                    </a:p>
                  </a:txBody>
                  <a:tcPr/>
                </a:tc>
                <a:tc>
                  <a:txBody>
                    <a:bodyPr/>
                    <a:lstStyle/>
                    <a:p>
                      <a:pPr algn="ctr"/>
                      <a:r>
                        <a:rPr sz="1300" b="1">
                          <a:latin typeface="Calibri"/>
                        </a:rPr>
                        <a:t>70.8</a:t>
                      </a:r>
                    </a:p>
                  </a:txBody>
                  <a:tcPr/>
                </a:tc>
                <a:tc>
                  <a:txBody>
                    <a:bodyPr/>
                    <a:lstStyle/>
                    <a:p>
                      <a:pPr algn="ctr"/>
                      <a:r>
                        <a:rPr sz="1300">
                          <a:latin typeface="Calibri"/>
                        </a:rPr>
                        <a:t>+4.6</a:t>
                      </a:r>
                    </a:p>
                  </a:txBody>
                  <a:tcPr/>
                </a:tc>
              </a:tr>
              <a:tr h="274319">
                <a:tc>
                  <a:txBody>
                    <a:bodyPr/>
                    <a:lstStyle/>
                    <a:p>
                      <a:pPr algn="l"/>
                      <a:r>
                        <a:rPr sz="1300">
                          <a:latin typeface="Calibri"/>
                        </a:rPr>
                        <a:t>EAD-EN</a:t>
                      </a:r>
                    </a:p>
                  </a:txBody>
                  <a:tcPr/>
                </a:tc>
                <a:tc>
                  <a:txBody>
                    <a:bodyPr/>
                    <a:lstStyle/>
                    <a:p>
                      <a:pPr algn="ctr"/>
                      <a:r>
                        <a:rPr sz="1300">
                          <a:latin typeface="Calibri"/>
                        </a:rPr>
                        <a:t>3.4</a:t>
                      </a:r>
                    </a:p>
                  </a:txBody>
                  <a:tcPr/>
                </a:tc>
                <a:tc>
                  <a:txBody>
                    <a:bodyPr/>
                    <a:lstStyle/>
                    <a:p>
                      <a:pPr algn="ctr"/>
                      <a:r>
                        <a:rPr sz="1300">
                          <a:latin typeface="Calibri"/>
                        </a:rPr>
                        <a:t>62.2</a:t>
                      </a:r>
                    </a:p>
                  </a:txBody>
                  <a:tcPr/>
                </a:tc>
                <a:tc>
                  <a:txBody>
                    <a:bodyPr/>
                    <a:lstStyle/>
                    <a:p>
                      <a:pPr algn="ctr"/>
                      <a:r>
                        <a:rPr sz="1300" b="1">
                          <a:latin typeface="Calibri"/>
                        </a:rPr>
                        <a:t>67.5</a:t>
                      </a:r>
                    </a:p>
                  </a:txBody>
                  <a:tcPr/>
                </a:tc>
                <a:tc>
                  <a:txBody>
                    <a:bodyPr/>
                    <a:lstStyle/>
                    <a:p>
                      <a:pPr algn="ctr"/>
                      <a:r>
                        <a:rPr sz="1300">
                          <a:latin typeface="Calibri"/>
                        </a:rPr>
                        <a:t>+5.3</a:t>
                      </a:r>
                    </a:p>
                  </a:txBody>
                  <a:tcPr/>
                </a:tc>
              </a:tr>
              <a:tr h="274319">
                <a:tc>
                  <a:txBody>
                    <a:bodyPr/>
                    <a:lstStyle/>
                    <a:p>
                      <a:pPr algn="l"/>
                      <a:r>
                        <a:rPr sz="1300">
                          <a:latin typeface="Calibri"/>
                        </a:rPr>
                        <a:t>FGSM</a:t>
                      </a:r>
                    </a:p>
                  </a:txBody>
                  <a:tcPr/>
                </a:tc>
                <a:tc>
                  <a:txBody>
                    <a:bodyPr/>
                    <a:lstStyle/>
                    <a:p>
                      <a:pPr algn="ctr"/>
                      <a:r>
                        <a:rPr sz="1300">
                          <a:latin typeface="Calibri"/>
                        </a:rPr>
                        <a:t>48.1</a:t>
                      </a:r>
                    </a:p>
                  </a:txBody>
                  <a:tcPr/>
                </a:tc>
                <a:tc>
                  <a:txBody>
                    <a:bodyPr/>
                    <a:lstStyle/>
                    <a:p>
                      <a:pPr algn="ctr"/>
                      <a:r>
                        <a:rPr sz="1300">
                          <a:latin typeface="Calibri"/>
                        </a:rPr>
                        <a:t>52.2</a:t>
                      </a:r>
                    </a:p>
                  </a:txBody>
                  <a:tcPr/>
                </a:tc>
                <a:tc>
                  <a:txBody>
                    <a:bodyPr/>
                    <a:lstStyle/>
                    <a:p>
                      <a:pPr algn="ctr"/>
                      <a:r>
                        <a:rPr sz="1300" b="1">
                          <a:latin typeface="Calibri"/>
                        </a:rPr>
                        <a:t>52.0</a:t>
                      </a:r>
                    </a:p>
                  </a:txBody>
                  <a:tcPr/>
                </a:tc>
                <a:tc>
                  <a:txBody>
                    <a:bodyPr/>
                    <a:lstStyle/>
                    <a:p>
                      <a:pPr algn="ctr"/>
                      <a:r>
                        <a:rPr sz="1300">
                          <a:latin typeface="Calibri"/>
                        </a:rPr>
                        <a:t>−0.2</a:t>
                      </a:r>
                    </a:p>
                  </a:txBody>
                  <a:tcPr/>
                </a:tc>
              </a:tr>
              <a:tr h="274324">
                <a:tc>
                  <a:txBody>
                    <a:bodyPr/>
                    <a:lstStyle/>
                    <a:p>
                      <a:pPr algn="l"/>
                      <a:r>
                        <a:rPr sz="1300">
                          <a:latin typeface="Calibri"/>
                        </a:rPr>
                        <a:t>PGD</a:t>
                      </a:r>
                    </a:p>
                  </a:txBody>
                  <a:tcPr/>
                </a:tc>
                <a:tc>
                  <a:txBody>
                    <a:bodyPr/>
                    <a:lstStyle/>
                    <a:p>
                      <a:pPr algn="ctr"/>
                      <a:r>
                        <a:rPr sz="1300">
                          <a:latin typeface="Calibri"/>
                        </a:rPr>
                        <a:t>32.6</a:t>
                      </a:r>
                    </a:p>
                  </a:txBody>
                  <a:tcPr/>
                </a:tc>
                <a:tc>
                  <a:txBody>
                    <a:bodyPr/>
                    <a:lstStyle/>
                    <a:p>
                      <a:pPr algn="ctr"/>
                      <a:r>
                        <a:rPr sz="1300">
                          <a:latin typeface="Calibri"/>
                        </a:rPr>
                        <a:t>41.8</a:t>
                      </a:r>
                    </a:p>
                  </a:txBody>
                  <a:tcPr/>
                </a:tc>
                <a:tc>
                  <a:txBody>
                    <a:bodyPr/>
                    <a:lstStyle/>
                    <a:p>
                      <a:pPr algn="ctr"/>
                      <a:r>
                        <a:rPr sz="1300" b="1">
                          <a:latin typeface="Calibri"/>
                        </a:rPr>
                        <a:t>43.4</a:t>
                      </a:r>
                    </a:p>
                  </a:txBody>
                  <a:tcPr/>
                </a:tc>
                <a:tc>
                  <a:txBody>
                    <a:bodyPr/>
                    <a:lstStyle/>
                    <a:p>
                      <a:pPr algn="ctr"/>
                      <a:r>
                        <a:rPr sz="1300">
                          <a:latin typeface="Calibri"/>
                        </a:rPr>
                        <a:t>+1.6</a:t>
                      </a:r>
                    </a:p>
                  </a:txBody>
                  <a:tcPr/>
                </a:tc>
              </a:tr>
            </a:tbl>
          </a:graphicData>
        </a:graphic>
      </p:graphicFrame>
      <p:sp>
        <p:nvSpPr>
          <p:cNvPr id="395" name="TextBox 394"/>
          <p:cNvSpPr txBox="1"/>
          <p:nvPr/>
        </p:nvSpPr>
        <p:spPr>
          <a:xfrm>
            <a:off x="630936" y="3383280"/>
            <a:ext cx="7882127" cy="1463040"/>
          </a:xfrm>
          <a:prstGeom prst="rect">
            <a:avLst/>
          </a:prstGeom>
          <a:noFill/>
        </p:spPr>
        <p:txBody>
          <a:bodyPr wrap="square">
            <a:spAutoFit/>
          </a:bodyPr>
          <a:lstStyle/>
          <a:p>
            <a:pPr>
              <a:spcAft>
                <a:spcPts val="600"/>
              </a:spcAft>
            </a:pPr>
            <a:r>
              <a:rPr sz="1300" b="0">
                <a:solidFill>
                  <a:srgbClr val="595959"/>
                </a:solidFill>
                <a:latin typeface="Calibri"/>
              </a:rPr>
              <a:t>• Accuracy (%), weighted over SNR 0–18 dB. Same FFT/IFFT cost for both variants.</a:t>
            </a:r>
          </a:p>
          <a:p>
            <a:pPr>
              <a:spcAft>
                <a:spcPts val="600"/>
              </a:spcAft>
            </a:pPr>
            <a:r>
              <a:rPr sz="1300" b="0">
                <a:solidFill>
                  <a:srgbClr val="595959"/>
                </a:solidFill>
                <a:latin typeface="Calibri"/>
              </a:rPr>
              <a:t>• Gains concentrate on optimization attacks (CW, EAD), which inflate the spectral tail and push the knee right; FGSM spreads energy broadly, so K selection matters less.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28650" y="579653"/>
            <a:ext cx="7886700" cy="994200"/>
          </a:xfrm>
        </p:spPr>
        <p:txBody>
          <a:bodyPr/>
          <a:lstStyle/>
          <a:p>
            <a:r>
              <a:t>Evaluation: CW Accuracy vs. SNR</a:t>
            </a:r>
          </a:p>
        </p:txBody>
      </p:sp>
      <p:sp>
        <p:nvSpPr>
          <p:cNvPr id="393" name="Google Shape;393;p3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graphicFrame>
        <p:nvGraphicFramePr>
          <p:cNvPr id="394" name="Chart 393"/>
          <p:cNvGraphicFramePr>
            <a:graphicFrameLocks noGrp="1"/>
          </p:cNvGraphicFramePr>
          <p:nvPr/>
        </p:nvGraphicFramePr>
        <p:xfrm>
          <a:off x="630936" y="1280160"/>
          <a:ext cx="5577840" cy="3474720"/>
        </p:xfrm>
        <a:graphic>
          <a:graphicData uri="http://schemas.openxmlformats.org/drawingml/2006/chart">
            <c:chart xmlns:c="http://schemas.openxmlformats.org/drawingml/2006/chart" r:id="rId2"/>
          </a:graphicData>
        </a:graphic>
      </p:graphicFrame>
      <p:sp>
        <p:nvSpPr>
          <p:cNvPr id="395" name="TextBox 394"/>
          <p:cNvSpPr txBox="1"/>
          <p:nvPr/>
        </p:nvSpPr>
        <p:spPr>
          <a:xfrm>
            <a:off x="6400800" y="1463040"/>
            <a:ext cx="2194560" cy="3108960"/>
          </a:xfrm>
          <a:prstGeom prst="rect">
            <a:avLst/>
          </a:prstGeom>
          <a:noFill/>
        </p:spPr>
        <p:txBody>
          <a:bodyPr wrap="square">
            <a:spAutoFit/>
          </a:bodyPr>
          <a:lstStyle/>
          <a:p>
            <a:pPr>
              <a:spcAft>
                <a:spcPts val="600"/>
              </a:spcAft>
            </a:pPr>
            <a:r>
              <a:rPr sz="1200" b="1">
                <a:solidFill>
                  <a:srgbClr val="595959"/>
                </a:solidFill>
                <a:latin typeface="Calibri"/>
              </a:rPr>
              <a:t>+10.8 pp</a:t>
            </a:r>
          </a:p>
          <a:p>
            <a:pPr>
              <a:spcAft>
                <a:spcPts val="600"/>
              </a:spcAft>
            </a:pPr>
            <a:r>
              <a:rPr sz="1200" b="0">
                <a:solidFill>
                  <a:srgbClr val="595959"/>
                </a:solidFill>
                <a:latin typeface="Calibri"/>
              </a:rPr>
              <a:t>at 0 dB over knee-only K</a:t>
            </a:r>
          </a:p>
          <a:p>
            <a:pPr>
              <a:spcAft>
                <a:spcPts val="600"/>
              </a:spcAft>
            </a:pPr>
            <a:r>
              <a:rPr sz="1200" b="0">
                <a:solidFill>
                  <a:srgbClr val="595959"/>
                </a:solidFill>
                <a:latin typeface="Calibri"/>
              </a:rPr>
              <a:t/>
            </a:r>
          </a:p>
          <a:p>
            <a:pPr>
              <a:spcAft>
                <a:spcPts val="600"/>
              </a:spcAft>
            </a:pPr>
            <a:r>
              <a:rPr sz="1200" b="0">
                <a:solidFill>
                  <a:srgbClr val="595959"/>
                </a:solidFill>
                <a:latin typeface="Calibri"/>
              </a:rPr>
              <a:t>At low SNR the knee averages 91 bins (almost no filtering); the SNR bound caps it at ~33.</a:t>
            </a:r>
          </a:p>
          <a:p>
            <a:pPr>
              <a:spcAft>
                <a:spcPts val="600"/>
              </a:spcAft>
            </a:pPr>
            <a:r>
              <a:rPr sz="1200" b="0">
                <a:solidFill>
                  <a:srgbClr val="595959"/>
                </a:solidFill>
                <a:latin typeface="Calibri"/>
              </a:rPr>
              <a:t/>
            </a:r>
          </a:p>
          <a:p>
            <a:pPr>
              <a:spcAft>
                <a:spcPts val="600"/>
              </a:spcAft>
            </a:pPr>
            <a:r>
              <a:rPr sz="1200" b="0">
                <a:solidFill>
                  <a:srgbClr val="595959"/>
                </a:solidFill>
                <a:latin typeface="Calibri"/>
              </a:rPr>
              <a:t>Ours is better at every SNR.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28650" y="579653"/>
            <a:ext cx="7886700" cy="994200"/>
          </a:xfrm>
        </p:spPr>
        <p:txBody>
          <a:bodyPr/>
          <a:lstStyle/>
          <a:p>
            <a:r>
              <a:t>Limitations and Future Work</a:t>
            </a:r>
          </a:p>
        </p:txBody>
      </p:sp>
      <p:sp>
        <p:nvSpPr>
          <p:cNvPr id="393" name="Google Shape;393;p3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394" name="TextBox 393"/>
          <p:cNvSpPr txBox="1"/>
          <p:nvPr/>
        </p:nvSpPr>
        <p:spPr>
          <a:xfrm>
            <a:off x="630936" y="1325880"/>
            <a:ext cx="7882127" cy="3383280"/>
          </a:xfrm>
          <a:prstGeom prst="rect">
            <a:avLst/>
          </a:prstGeom>
          <a:noFill/>
        </p:spPr>
        <p:txBody>
          <a:bodyPr wrap="square">
            <a:spAutoFit/>
          </a:bodyPr>
          <a:lstStyle/>
          <a:p>
            <a:pPr>
              <a:spcAft>
                <a:spcPts val="600"/>
              </a:spcAft>
            </a:pPr>
            <a:r>
              <a:rPr sz="1500" b="1">
                <a:solidFill>
                  <a:srgbClr val="212121"/>
                </a:solidFill>
                <a:latin typeface="Calibri"/>
              </a:rPr>
              <a:t>Known costs</a:t>
            </a:r>
          </a:p>
          <a:p>
            <a:pPr>
              <a:spcAft>
                <a:spcPts val="600"/>
              </a:spcAft>
            </a:pPr>
            <a:r>
              <a:rPr sz="1500" b="0">
                <a:solidFill>
                  <a:srgbClr val="212121"/>
                </a:solidFill>
                <a:latin typeface="Calibri"/>
              </a:rPr>
              <a:t>Capping K at 20 costs wideband modulations 4–10 pp (BPSK, QPSK, 8PSK, CPFSK); spectral flatness cannot separate them from narrowband ones.</a:t>
            </a:r>
          </a:p>
          <a:p>
            <a:pPr>
              <a:spcAft>
                <a:spcPts val="600"/>
              </a:spcAft>
            </a:pPr>
            <a:r>
              <a:rPr sz="1500" b="0">
                <a:solidFill>
                  <a:srgbClr val="212121"/>
                </a:solidFill>
                <a:latin typeface="Calibri"/>
              </a:rPr>
              <a:t>Small gains on FGSM / PGD (48.1→52.0, 32.6→43.4).</a:t>
            </a:r>
          </a:p>
          <a:p>
            <a:pPr>
              <a:spcAft>
                <a:spcPts val="600"/>
              </a:spcAft>
            </a:pPr>
            <a:r>
              <a:rPr sz="1500" b="1">
                <a:solidFill>
                  <a:srgbClr val="212121"/>
                </a:solidFill>
                <a:latin typeface="Calibri"/>
              </a:rPr>
              <a:t>Open threats</a:t>
            </a:r>
          </a:p>
          <a:p>
            <a:pPr>
              <a:spcAft>
                <a:spcPts val="600"/>
              </a:spcAft>
            </a:pPr>
            <a:r>
              <a:rPr sz="1500" b="0">
                <a:solidFill>
                  <a:srgbClr val="212121"/>
                </a:solidFill>
                <a:latin typeface="Calibri"/>
              </a:rPr>
              <a:t>Adaptive attacks aware of the defense (BPDA / EOT through Top-K) are not yet evaluated.</a:t>
            </a:r>
          </a:p>
          <a:p>
            <a:pPr>
              <a:spcAft>
                <a:spcPts val="600"/>
              </a:spcAft>
            </a:pPr>
            <a:r>
              <a:rPr sz="1500" b="0">
                <a:solidFill>
                  <a:srgbClr val="212121"/>
                </a:solidFill>
                <a:latin typeface="Calibri"/>
              </a:rPr>
              <a:t>The SNR estimator is itself an attack surface: an attacker could bias it to loosen K_max.</a:t>
            </a:r>
          </a:p>
          <a:p>
            <a:pPr>
              <a:spcAft>
                <a:spcPts val="600"/>
              </a:spcAft>
            </a:pPr>
            <a:r>
              <a:rPr sz="1500" b="1">
                <a:solidFill>
                  <a:srgbClr val="212121"/>
                </a:solidFill>
                <a:latin typeface="Calibri"/>
              </a:rPr>
              <a:t>Next steps</a:t>
            </a:r>
          </a:p>
          <a:p>
            <a:pPr>
              <a:spcAft>
                <a:spcPts val="600"/>
              </a:spcAft>
            </a:pPr>
            <a:r>
              <a:rPr sz="1500" b="0">
                <a:solidFill>
                  <a:srgbClr val="212121"/>
                </a:solidFill>
                <a:latin typeface="Calibri"/>
              </a:rPr>
              <a:t>Adaptive-attack evaluation, RML2018.01a, over-the-air SDR validation.</a:t>
            </a:r>
          </a:p>
        </p:txBody>
      </p:sp>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